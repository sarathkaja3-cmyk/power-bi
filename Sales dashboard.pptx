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34CB-DD62-0945-B70A-1DDC4AC5B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CEA70-E890-E324-ACC3-4C12003CB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8FC1F-3024-ACE1-0DD9-0F38606B2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520B5-9101-454A-9567-8FF0384B5DC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30BD5-D28D-B15A-8A68-74CFCDDA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B1621-88C6-D460-C22B-A3D9EAEE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D28-EB02-40FB-BC74-9F9912EB4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80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B4E9-CEAC-9FD4-EFE1-2333EC24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CA726-C7C7-FF75-4E8B-5F7125BBB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A46BB-3D9E-CE80-A450-F13F963E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520B5-9101-454A-9567-8FF0384B5DC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51740-8A68-F346-54E7-5A1E5044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F2EB2-509D-9FE2-D264-417AC578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D28-EB02-40FB-BC74-9F9912EB4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14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4CA8-FE42-E902-16BF-BA82998F3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6C283-5B60-6EAE-9B68-229DF452B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802F5-92AC-3907-09FC-2250AE35A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520B5-9101-454A-9567-8FF0384B5DC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120E6-D349-2009-8BED-986CC3DA2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0FD0D-8948-9555-8898-07D9FF611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D28-EB02-40FB-BC74-9F9912EB4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52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6948-F885-A1A0-7A8F-A25C74E5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37A80-8FBF-F0F6-94EB-DF8D897E0D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9B622-832F-54D2-A0F6-9003DBE01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39B37-CC97-147A-BED1-27B9818F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520B5-9101-454A-9567-8FF0384B5DC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45E16-C224-DFE2-E872-1B58C67BA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8ABB9-63BD-DCA1-175F-90E80B5CF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D28-EB02-40FB-BC74-9F9912EB4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7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DFBB2-4155-91F1-4E41-44496880C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8C238-68DF-75DA-6F3F-07A0BB747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8197D-3137-6F9D-A691-C4E21FA8A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E3BB71-096A-0B1F-A09E-D732B5437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5C11AA-7A8A-DF7D-C65F-E1EB5EC7C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5DEF0-F91A-F262-E5FC-60571822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520B5-9101-454A-9567-8FF0384B5DC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6E4F4B-F431-E4A7-BCC2-6F1203B3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1A32E-D310-CBAD-45B0-3242A895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D28-EB02-40FB-BC74-9F9912EB4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8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E4365-6BF5-9271-7CA5-4B48A8C8E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20A590-0772-9C07-13A7-A942D5C85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520B5-9101-454A-9567-8FF0384B5DC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E8BF4C-2DBF-4E1E-901C-C08D9B0DE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9096D-437F-6595-A3C4-2732AFF3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D28-EB02-40FB-BC74-9F9912EB4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31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39A780-9BCB-41FC-37EB-978A6706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520B5-9101-454A-9567-8FF0384B5DC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C9B90-CEAE-2084-8E3C-03AFF0329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00CD6-F2EE-7DC4-60C5-3FD359B1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D28-EB02-40FB-BC74-9F9912EB4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190C1-EC8C-0AA4-B5BD-6EAFB0C7C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70430-E8B0-ED48-E235-9FCEE05B3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C67D8-941D-5255-1293-92EB902F2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A91F9-4962-8C44-CE20-96062FDDF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520B5-9101-454A-9567-8FF0384B5DC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66B55-6407-E4DB-8ADB-6CBF5F91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DBF31-7667-25E2-EA74-DF4E4518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D28-EB02-40FB-BC74-9F9912EB4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1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FC12-26C8-9773-85EF-B8F61B70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9E87D3-E362-1235-972A-AA6A4DB66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739FD-276D-AE69-8C7B-EF22D626C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5FA37-D926-5157-A0DC-02869DF8E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520B5-9101-454A-9567-8FF0384B5DC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1F2F6-34EA-6622-DF38-E22CC691C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9D07A-2741-1BFC-3C42-2E90A650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D28-EB02-40FB-BC74-9F9912EB4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892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BAFF8-13E8-DD18-FF27-B807F8773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B54D2-88FC-9BB3-91D2-B4C7F43F3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6BAFF-3E75-0D54-B342-7113668D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520B5-9101-454A-9567-8FF0384B5DC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0308E-68EE-9971-858F-574CE7C9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F4C0E-3972-005F-5B5A-F5B0F3B6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D28-EB02-40FB-BC74-9F9912EB4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2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766FFE-BB9F-3A2E-4007-4011E9C2B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F59C2-E288-60E3-0200-A9498E248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A7C20-A475-521E-BCE2-B6A63563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520B5-9101-454A-9567-8FF0384B5DC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6BFB9-6BE4-FC85-0858-7B51E5BCA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90232-EB79-6BA1-D7E3-9E78A7C7A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D28-EB02-40FB-BC74-9F9912EB4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DD2F-5492-B8F0-8EF8-0C9E2B87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E645B-7E8F-ED56-F094-9F773464A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EED2B-39E7-0F98-A717-374A4D794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520B5-9101-454A-9567-8FF0384B5DC6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C39C1-B7D8-6A16-A4F8-9B6EAC140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3A32F-86F9-DC02-0050-B04EF45EA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3DD28-EB02-40FB-BC74-9F9912EB4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0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CE58-AE4F-F597-1A02-99D838EA02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Sales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3A675B-0311-ECE9-24B3-C14A493B40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Rakhee</a:t>
            </a:r>
          </a:p>
        </p:txBody>
      </p:sp>
    </p:spTree>
    <p:extLst>
      <p:ext uri="{BB962C8B-B14F-4D97-AF65-F5344CB8AC3E}">
        <p14:creationId xmlns:p14="http://schemas.microsoft.com/office/powerpoint/2010/main" val="49160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A6C022-6A90-FA43-37AA-EBBB7A46B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335914"/>
            <a:ext cx="11380470" cy="627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5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48EE7-5AE7-1ACB-380D-CDAB57ACA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58BFA-511E-E7F0-6F50-864883CBC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KPI Cards </a:t>
            </a:r>
          </a:p>
          <a:p>
            <a:r>
              <a:rPr lang="en-US" dirty="0"/>
              <a:t>Donut Chart </a:t>
            </a:r>
          </a:p>
          <a:p>
            <a:r>
              <a:rPr lang="en-US" dirty="0"/>
              <a:t>Column Chart </a:t>
            </a:r>
          </a:p>
          <a:p>
            <a:r>
              <a:rPr lang="en-US" dirty="0"/>
              <a:t>Bar Chart </a:t>
            </a:r>
          </a:p>
          <a:p>
            <a:r>
              <a:rPr lang="en-US" dirty="0"/>
              <a:t>Pie Charts </a:t>
            </a:r>
          </a:p>
          <a:p>
            <a:r>
              <a:rPr lang="en-US" dirty="0" err="1"/>
              <a:t>Treemap</a:t>
            </a:r>
            <a:r>
              <a:rPr lang="en-US" dirty="0"/>
              <a:t> </a:t>
            </a:r>
          </a:p>
          <a:p>
            <a:r>
              <a:rPr lang="en-US" dirty="0"/>
              <a:t>Line Chart </a:t>
            </a:r>
          </a:p>
          <a:p>
            <a:r>
              <a:rPr lang="en-US" dirty="0"/>
              <a:t>Slicers</a:t>
            </a:r>
          </a:p>
        </p:txBody>
      </p:sp>
    </p:spTree>
    <p:extLst>
      <p:ext uri="{BB962C8B-B14F-4D97-AF65-F5344CB8AC3E}">
        <p14:creationId xmlns:p14="http://schemas.microsoft.com/office/powerpoint/2010/main" val="3531364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961F-58F7-66F0-AE9A-5425C9E2E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69EBF-81D5-A661-ADFF-0CD7CE8D4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52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Total Sales? </a:t>
            </a:r>
          </a:p>
          <a:p>
            <a:r>
              <a:rPr lang="en-US" dirty="0"/>
              <a:t>Total Profit? </a:t>
            </a:r>
          </a:p>
          <a:p>
            <a:r>
              <a:rPr lang="en-US" dirty="0"/>
              <a:t>Profit Percentage? </a:t>
            </a:r>
          </a:p>
          <a:p>
            <a:r>
              <a:rPr lang="en-US" dirty="0"/>
              <a:t>Units Sold? </a:t>
            </a:r>
          </a:p>
          <a:p>
            <a:r>
              <a:rPr lang="en-US" dirty="0"/>
              <a:t>Best Selling Product? </a:t>
            </a:r>
          </a:p>
          <a:p>
            <a:r>
              <a:rPr lang="en-US" dirty="0"/>
              <a:t>Top Country? </a:t>
            </a:r>
          </a:p>
          <a:p>
            <a:r>
              <a:rPr lang="en-US" dirty="0"/>
              <a:t>Monthly Sales Trend? </a:t>
            </a:r>
          </a:p>
          <a:p>
            <a:r>
              <a:rPr lang="en-US" dirty="0"/>
              <a:t>Customer Performance? </a:t>
            </a:r>
          </a:p>
          <a:p>
            <a:r>
              <a:rPr lang="en-US" dirty="0"/>
              <a:t>Segment Contribution? </a:t>
            </a:r>
          </a:p>
          <a:p>
            <a:r>
              <a:rPr lang="en-US" dirty="0"/>
              <a:t>Product Contribution?</a:t>
            </a:r>
          </a:p>
        </p:txBody>
      </p:sp>
    </p:spTree>
    <p:extLst>
      <p:ext uri="{BB962C8B-B14F-4D97-AF65-F5344CB8AC3E}">
        <p14:creationId xmlns:p14="http://schemas.microsoft.com/office/powerpoint/2010/main" val="4774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D7514-9666-08BA-5C27-591A858D2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EE8C9-F8E3-3577-FDBB-BE0E3373C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 Query Steps</a:t>
            </a:r>
          </a:p>
          <a:p>
            <a:r>
              <a:rPr lang="en-US" dirty="0"/>
              <a:t>Remove Null Values </a:t>
            </a:r>
          </a:p>
          <a:p>
            <a:r>
              <a:rPr lang="en-US" dirty="0"/>
              <a:t>Change Data Types </a:t>
            </a:r>
          </a:p>
          <a:p>
            <a:r>
              <a:rPr lang="en-US" dirty="0"/>
              <a:t>Remove Duplicates </a:t>
            </a:r>
          </a:p>
          <a:p>
            <a:r>
              <a:rPr lang="en-US" dirty="0"/>
              <a:t>Rename Columns </a:t>
            </a:r>
          </a:p>
          <a:p>
            <a:r>
              <a:rPr lang="en-US" dirty="0"/>
              <a:t>Create Date Table </a:t>
            </a:r>
          </a:p>
          <a:p>
            <a:r>
              <a:rPr lang="en-US" dirty="0"/>
              <a:t>Split Columns </a:t>
            </a:r>
          </a:p>
          <a:p>
            <a:r>
              <a:rPr lang="en-US" dirty="0"/>
              <a:t>Merge 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68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B8B0B-34D0-8EEA-D5C5-3165EF2B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Date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AB976-052D-3CAF-73D0-E6D3E1DA6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Calendar = CALENDAR(MIN(Sales[Date]),</a:t>
            </a:r>
          </a:p>
          <a:p>
            <a:pPr marL="0" indent="0">
              <a:buNone/>
            </a:pPr>
            <a:r>
              <a:rPr lang="en-US" dirty="0"/>
              <a:t>MAX(Sales[Date])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Calendar = CALENDARAUTO()</a:t>
            </a:r>
          </a:p>
        </p:txBody>
      </p:sp>
    </p:spTree>
    <p:extLst>
      <p:ext uri="{BB962C8B-B14F-4D97-AF65-F5344CB8AC3E}">
        <p14:creationId xmlns:p14="http://schemas.microsoft.com/office/powerpoint/2010/main" val="252647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209A-BFE9-4E56-19D2-3626F2EF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90" y="49212"/>
            <a:ext cx="10515600" cy="1325563"/>
          </a:xfrm>
        </p:spPr>
        <p:txBody>
          <a:bodyPr/>
          <a:lstStyle/>
          <a:p>
            <a:r>
              <a:rPr lang="en-US" dirty="0"/>
              <a:t>Create Calculated Columns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CB2CE7-928A-1918-7555-F3925BB43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649458"/>
              </p:ext>
            </p:extLst>
          </p:nvPr>
        </p:nvGraphicFramePr>
        <p:xfrm>
          <a:off x="483870" y="1242378"/>
          <a:ext cx="112928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179">
                  <a:extLst>
                    <a:ext uri="{9D8B030D-6E8A-4147-A177-3AD203B41FA5}">
                      <a16:colId xmlns:a16="http://schemas.microsoft.com/office/drawing/2014/main" val="180465297"/>
                    </a:ext>
                  </a:extLst>
                </a:gridCol>
                <a:gridCol w="8716661">
                  <a:extLst>
                    <a:ext uri="{9D8B030D-6E8A-4147-A177-3AD203B41FA5}">
                      <a16:colId xmlns:a16="http://schemas.microsoft.com/office/drawing/2014/main" val="4245354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824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Year=YEAR(Calendar[Date])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217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Quarter = "Q" &amp; QUARTER(Calendar[Date])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52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Month Number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Month Number = MONTH(Calendar[Date])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99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Month = FORMAT(Calendar[Date], "MMMM")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434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Month Short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Month Short = FORMAT(Calendar[Date], "MMM")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087761"/>
                  </a:ext>
                </a:extLst>
              </a:tr>
              <a:tr h="477202">
                <a:tc>
                  <a:txBody>
                    <a:bodyPr/>
                    <a:lstStyle/>
                    <a:p>
                      <a:r>
                        <a:rPr lang="en-US" sz="2400" dirty="0"/>
                        <a:t>Year Month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Year Month =</a:t>
                      </a:r>
                    </a:p>
                    <a:p>
                      <a:r>
                        <a:rPr lang="en-US" sz="2400" dirty="0"/>
                        <a:t>FORMAT(Calendar[Date], "MMM </a:t>
                      </a:r>
                      <a:r>
                        <a:rPr lang="en-US" sz="2400" dirty="0" err="1"/>
                        <a:t>yyyy</a:t>
                      </a:r>
                      <a:r>
                        <a:rPr lang="en-US" sz="2400" dirty="0"/>
                        <a:t>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82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Week Number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Week Number = WEEKNUM(Calendar[Date],2)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84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Day = DAY(Calendar[Date])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48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Month Sort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Month Sort = YEAR(Calendar[Date])*100 +</a:t>
                      </a:r>
                    </a:p>
                    <a:p>
                      <a:r>
                        <a:rPr lang="en-US" sz="2400" dirty="0"/>
                        <a:t>MONTH(Calendar[Date])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8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477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96471-F10C-14B4-D538-320E0DDE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DAX Measures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9798C-A26E-0882-CDF9-F69F077C2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06100" cy="4351338"/>
          </a:xfrm>
        </p:spPr>
        <p:txBody>
          <a:bodyPr>
            <a:normAutofit/>
          </a:bodyPr>
          <a:lstStyle/>
          <a:p>
            <a:r>
              <a:rPr lang="en-US" dirty="0"/>
              <a:t>Total Sales = SUM(Sales[Sales])</a:t>
            </a:r>
          </a:p>
          <a:p>
            <a:r>
              <a:rPr lang="en-US" dirty="0"/>
              <a:t>Total Profit = SUM(Sales[Profit])</a:t>
            </a:r>
          </a:p>
          <a:p>
            <a:r>
              <a:rPr lang="en-US" dirty="0"/>
              <a:t>Units Sold = SUM(Sales[Quantity])</a:t>
            </a:r>
          </a:p>
          <a:p>
            <a:r>
              <a:rPr lang="en-US" dirty="0"/>
              <a:t>Profit % = DIVIDE([Total Profit],[Total Sales])</a:t>
            </a:r>
          </a:p>
          <a:p>
            <a:r>
              <a:rPr lang="en-US" dirty="0"/>
              <a:t>Top Product Sales = MAXX(VALUES(Product[Product]),[Total Sales])</a:t>
            </a:r>
          </a:p>
          <a:p>
            <a:r>
              <a:rPr lang="en-US" dirty="0"/>
              <a:t>Rank Product = RANKX(ALL(Product[Product]),[Total Sales])</a:t>
            </a:r>
          </a:p>
          <a:p>
            <a:r>
              <a:rPr lang="en-US" dirty="0"/>
              <a:t>Top Country = TOPN(1,VALUES(Country[Country]),[Total Sales])</a:t>
            </a:r>
          </a:p>
        </p:txBody>
      </p:sp>
    </p:spTree>
    <p:extLst>
      <p:ext uri="{BB962C8B-B14F-4D97-AF65-F5344CB8AC3E}">
        <p14:creationId xmlns:p14="http://schemas.microsoft.com/office/powerpoint/2010/main" val="562940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F28A8-94C0-D983-BDBE-8B09E1E56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KPI Cards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A820F4-EF87-A160-BFB2-692E72AF8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577826"/>
              </p:ext>
            </p:extLst>
          </p:nvPr>
        </p:nvGraphicFramePr>
        <p:xfrm>
          <a:off x="4032514" y="593827"/>
          <a:ext cx="7188199" cy="6097066"/>
        </p:xfrm>
        <a:graphic>
          <a:graphicData uri="http://schemas.openxmlformats.org/drawingml/2006/table">
            <a:tbl>
              <a:tblPr/>
              <a:tblGrid>
                <a:gridCol w="3075456">
                  <a:extLst>
                    <a:ext uri="{9D8B030D-6E8A-4147-A177-3AD203B41FA5}">
                      <a16:colId xmlns:a16="http://schemas.microsoft.com/office/drawing/2014/main" val="2915079131"/>
                    </a:ext>
                  </a:extLst>
                </a:gridCol>
                <a:gridCol w="4112743">
                  <a:extLst>
                    <a:ext uri="{9D8B030D-6E8A-4147-A177-3AD203B41FA5}">
                      <a16:colId xmlns:a16="http://schemas.microsoft.com/office/drawing/2014/main" val="2213450650"/>
                    </a:ext>
                  </a:extLst>
                </a:gridCol>
              </a:tblGrid>
              <a:tr h="390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Setting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Value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711258"/>
                  </a:ext>
                </a:extLst>
              </a:tr>
              <a:tr h="390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Visual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Card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951770"/>
                  </a:ext>
                </a:extLst>
              </a:tr>
              <a:tr h="390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Field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ourier New" panose="02070309020205020404" pitchFamily="49" charset="0"/>
                        </a:rPr>
                        <a:t>Total Sales</a:t>
                      </a:r>
                      <a:endParaRPr lang="en-US" sz="2800"/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006804"/>
                  </a:ext>
                </a:extLst>
              </a:tr>
              <a:tr h="390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Measure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ourier New" panose="02070309020205020404" pitchFamily="49" charset="0"/>
                        </a:rPr>
                        <a:t>SUM(Sales[Sales])</a:t>
                      </a:r>
                      <a:endParaRPr lang="en-US" sz="2800"/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913812"/>
                  </a:ext>
                </a:extLst>
              </a:tr>
              <a:tr h="390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Callout </a:t>
                      </a:r>
                      <a:r>
                        <a:rPr lang="en-US" sz="2800" dirty="0">
                          <a:sym typeface="Wingdings" panose="05000000000000000000" pitchFamily="2" charset="2"/>
                        </a:rPr>
                        <a:t> value </a:t>
                      </a:r>
                      <a:r>
                        <a:rPr lang="en-US" sz="2800" dirty="0"/>
                        <a:t>Display Units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Millions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913266"/>
                  </a:ext>
                </a:extLst>
              </a:tr>
              <a:tr h="390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Decimal Places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2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967788"/>
                  </a:ext>
                </a:extLst>
              </a:tr>
              <a:tr h="390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Title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TOTAL SALES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853110"/>
                  </a:ext>
                </a:extLst>
              </a:tr>
              <a:tr h="390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Background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White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797159"/>
                  </a:ext>
                </a:extLst>
              </a:tr>
              <a:tr h="390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Border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On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201824"/>
                  </a:ext>
                </a:extLst>
              </a:tr>
              <a:tr h="390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Font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Segoe UI / Poppins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47133"/>
                  </a:ext>
                </a:extLst>
              </a:tr>
              <a:tr h="390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Callout Font Size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32–40</a:t>
                      </a:r>
                    </a:p>
                  </a:txBody>
                  <a:tcPr marL="88767" marR="88767" marT="44383" marB="443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921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342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89FF0E-2C6B-1C79-8DDC-2C19F5E8E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199326"/>
              </p:ext>
            </p:extLst>
          </p:nvPr>
        </p:nvGraphicFramePr>
        <p:xfrm>
          <a:off x="838200" y="2148840"/>
          <a:ext cx="10515600" cy="362712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3317978368"/>
                    </a:ext>
                  </a:extLst>
                </a:gridCol>
                <a:gridCol w="7924800">
                  <a:extLst>
                    <a:ext uri="{9D8B030D-6E8A-4147-A177-3AD203B41FA5}">
                      <a16:colId xmlns:a16="http://schemas.microsoft.com/office/drawing/2014/main" val="1233508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Visual 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766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Visual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Line Chart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92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X-Axis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Calendar[Year Month]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215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Y-Axis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Total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94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Legend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771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Tooltip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Total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019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Filters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Year, Month (optional)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89212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A61FB1A-4304-7A96-F523-5317B25DB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222" y="144671"/>
            <a:ext cx="4810796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00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3A4048-094A-B2D1-D937-C90B77D02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2" y="45295"/>
            <a:ext cx="2619741" cy="148610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E738DB-E7BD-C66E-1395-C69142B00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343166"/>
              </p:ext>
            </p:extLst>
          </p:nvPr>
        </p:nvGraphicFramePr>
        <p:xfrm>
          <a:off x="3049270" y="113876"/>
          <a:ext cx="8883650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962">
                  <a:extLst>
                    <a:ext uri="{9D8B030D-6E8A-4147-A177-3AD203B41FA5}">
                      <a16:colId xmlns:a16="http://schemas.microsoft.com/office/drawing/2014/main" val="210298034"/>
                    </a:ext>
                  </a:extLst>
                </a:gridCol>
                <a:gridCol w="4958688">
                  <a:extLst>
                    <a:ext uri="{9D8B030D-6E8A-4147-A177-3AD203B41FA5}">
                      <a16:colId xmlns:a16="http://schemas.microsoft.com/office/drawing/2014/main" val="2695237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Step 1: Create Total Sales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Total Sales = SUM(Sales[Sales])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554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Step 2: Create Product Rank Measure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Product Rank = RANKX(</a:t>
                      </a:r>
                    </a:p>
                    <a:p>
                      <a:r>
                        <a:rPr lang="en-US" sz="1800" b="1" dirty="0"/>
                        <a:t>    ALL(Product[Product]),</a:t>
                      </a:r>
                    </a:p>
                    <a:p>
                      <a:r>
                        <a:rPr lang="en-US" sz="1800" b="1" dirty="0"/>
                        <a:t>    [Total Sales], </a:t>
                      </a:r>
                    </a:p>
                    <a:p>
                      <a:r>
                        <a:rPr lang="en-US" sz="1800" b="1" dirty="0"/>
                        <a:t>    ,  DESC,  DENSE 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743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Step 3: Create Top Product Name Measure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 Product = CALCULATE(</a:t>
                      </a:r>
                    </a:p>
                    <a:p>
                      <a:r>
                        <a:rPr lang="en-US" dirty="0"/>
                        <a:t>    SELECTEDVALUE(Product[Product]),</a:t>
                      </a:r>
                    </a:p>
                    <a:p>
                      <a:r>
                        <a:rPr lang="en-US" dirty="0"/>
                        <a:t>    TOPN(</a:t>
                      </a:r>
                    </a:p>
                    <a:p>
                      <a:r>
                        <a:rPr lang="en-US" dirty="0"/>
                        <a:t>        1,  ALL(Product[Product]),</a:t>
                      </a:r>
                    </a:p>
                    <a:p>
                      <a:r>
                        <a:rPr lang="en-US" dirty="0"/>
                        <a:t>        [Total Sales],</a:t>
                      </a:r>
                    </a:p>
                    <a:p>
                      <a:r>
                        <a:rPr lang="en-US" dirty="0"/>
                        <a:t>        DESC</a:t>
                      </a:r>
                    </a:p>
                    <a:p>
                      <a:r>
                        <a:rPr lang="en-US" dirty="0"/>
                        <a:t>    )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Step 4: Create Top Product Sales Measure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 Product Sales =</a:t>
                      </a:r>
                    </a:p>
                    <a:p>
                      <a:r>
                        <a:rPr lang="en-US" dirty="0"/>
                        <a:t>MAXX(TOPN(1,</a:t>
                      </a:r>
                    </a:p>
                    <a:p>
                      <a:r>
                        <a:rPr lang="en-US" dirty="0"/>
                        <a:t>        VALUES(Product[Product]),</a:t>
                      </a:r>
                    </a:p>
                    <a:p>
                      <a:r>
                        <a:rPr lang="en-US" dirty="0"/>
                        <a:t>        [Total Sales],</a:t>
                      </a:r>
                    </a:p>
                    <a:p>
                      <a:r>
                        <a:rPr lang="en-US" dirty="0"/>
                        <a:t>        DESC</a:t>
                      </a:r>
                    </a:p>
                    <a:p>
                      <a:r>
                        <a:rPr lang="en-US" dirty="0"/>
                        <a:t>    ),</a:t>
                      </a:r>
                    </a:p>
                    <a:p>
                      <a:r>
                        <a:rPr lang="en-US" dirty="0"/>
                        <a:t>    [Total Sales]</a:t>
                      </a:r>
                    </a:p>
                    <a:p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80757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8A236FA-5504-121F-A39E-ECDBD15B8185}"/>
              </a:ext>
            </a:extLst>
          </p:cNvPr>
          <p:cNvSpPr txBox="1"/>
          <p:nvPr/>
        </p:nvSpPr>
        <p:spPr>
          <a:xfrm>
            <a:off x="318" y="2078474"/>
            <a:ext cx="24799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Insert a Multi-row Card – add Top Product and Top Product Sales</a:t>
            </a:r>
          </a:p>
          <a:p>
            <a:endParaRPr lang="en-US" dirty="0"/>
          </a:p>
          <a:p>
            <a:r>
              <a:rPr lang="en-US" dirty="0"/>
              <a:t>Format the card as per requirement</a:t>
            </a:r>
          </a:p>
        </p:txBody>
      </p:sp>
    </p:spTree>
    <p:extLst>
      <p:ext uri="{BB962C8B-B14F-4D97-AF65-F5344CB8AC3E}">
        <p14:creationId xmlns:p14="http://schemas.microsoft.com/office/powerpoint/2010/main" val="4060918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01FE4-8E80-3DDB-084A-20680A0A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Treemap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781FD-E6CF-2AF4-CCEC-9268A59D0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538" y="1690688"/>
            <a:ext cx="4248743" cy="131463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5A4715-9DDA-FA15-15C2-1C7207FBE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852675"/>
              </p:ext>
            </p:extLst>
          </p:nvPr>
        </p:nvGraphicFramePr>
        <p:xfrm>
          <a:off x="5341619" y="1690688"/>
          <a:ext cx="5665470" cy="1097280"/>
        </p:xfrm>
        <a:graphic>
          <a:graphicData uri="http://schemas.openxmlformats.org/drawingml/2006/table">
            <a:tbl>
              <a:tblPr/>
              <a:tblGrid>
                <a:gridCol w="2832735">
                  <a:extLst>
                    <a:ext uri="{9D8B030D-6E8A-4147-A177-3AD203B41FA5}">
                      <a16:colId xmlns:a16="http://schemas.microsoft.com/office/drawing/2014/main" val="235824418"/>
                    </a:ext>
                  </a:extLst>
                </a:gridCol>
                <a:gridCol w="2832735">
                  <a:extLst>
                    <a:ext uri="{9D8B030D-6E8A-4147-A177-3AD203B41FA5}">
                      <a16:colId xmlns:a16="http://schemas.microsoft.com/office/drawing/2014/main" val="17098856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Treemap 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178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Segment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202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Total Sales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8358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C9CD1F1-92E2-FD07-619A-F856C627EA26}"/>
              </a:ext>
            </a:extLst>
          </p:cNvPr>
          <p:cNvSpPr txBox="1"/>
          <p:nvPr/>
        </p:nvSpPr>
        <p:spPr>
          <a:xfrm>
            <a:off x="838200" y="3429000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Format the Visual</a:t>
            </a:r>
          </a:p>
          <a:p>
            <a:pPr>
              <a:buNone/>
            </a:pPr>
            <a:r>
              <a:rPr lang="en-US" b="1" dirty="0"/>
              <a:t>Title</a:t>
            </a:r>
          </a:p>
          <a:p>
            <a:pPr>
              <a:buNone/>
            </a:pPr>
            <a:r>
              <a:rPr lang="en-US" b="1" dirty="0"/>
              <a:t>Format → General → Title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Title:</a:t>
            </a:r>
            <a:r>
              <a:rPr lang="en-US" dirty="0"/>
              <a:t> Sales Breakup by Segment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Font Size: </a:t>
            </a:r>
            <a:r>
              <a:rPr lang="en-US" b="1" dirty="0"/>
              <a:t>18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Font Family: Segoe UI / Poppins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Bold: </a:t>
            </a:r>
            <a:r>
              <a:rPr lang="en-US" b="1" dirty="0"/>
              <a:t>On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Alignment: </a:t>
            </a:r>
            <a:r>
              <a:rPr lang="en-US" b="1" dirty="0"/>
              <a:t>Center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C6FB74-1722-78BD-377C-7E2D295A7444}"/>
              </a:ext>
            </a:extLst>
          </p:cNvPr>
          <p:cNvSpPr txBox="1"/>
          <p:nvPr/>
        </p:nvSpPr>
        <p:spPr>
          <a:xfrm>
            <a:off x="4672013" y="3453721"/>
            <a:ext cx="60979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 Labels</a:t>
            </a:r>
          </a:p>
          <a:p>
            <a:pPr>
              <a:buNone/>
            </a:pPr>
            <a:r>
              <a:rPr lang="en-US" b="1" dirty="0"/>
              <a:t>Format → Data Labels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Units: </a:t>
            </a:r>
            <a:r>
              <a:rPr lang="en-US" b="1" dirty="0"/>
              <a:t>Millions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Decimal Places: </a:t>
            </a:r>
            <a:r>
              <a:rPr lang="en-US" b="1" dirty="0"/>
              <a:t>2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Font Size: </a:t>
            </a:r>
            <a:r>
              <a:rPr lang="en-US" b="1" dirty="0"/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485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924B7E-F891-1CAD-29F2-C43B89648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228700"/>
              </p:ext>
            </p:extLst>
          </p:nvPr>
        </p:nvGraphicFramePr>
        <p:xfrm>
          <a:off x="228600" y="595375"/>
          <a:ext cx="11658600" cy="4219452"/>
        </p:xfrm>
        <a:graphic>
          <a:graphicData uri="http://schemas.openxmlformats.org/drawingml/2006/table">
            <a:tbl>
              <a:tblPr/>
              <a:tblGrid>
                <a:gridCol w="3333081">
                  <a:extLst>
                    <a:ext uri="{9D8B030D-6E8A-4147-A177-3AD203B41FA5}">
                      <a16:colId xmlns:a16="http://schemas.microsoft.com/office/drawing/2014/main" val="486048393"/>
                    </a:ext>
                  </a:extLst>
                </a:gridCol>
                <a:gridCol w="8325519">
                  <a:extLst>
                    <a:ext uri="{9D8B030D-6E8A-4147-A177-3AD203B41FA5}">
                      <a16:colId xmlns:a16="http://schemas.microsoft.com/office/drawing/2014/main" val="3001289591"/>
                    </a:ext>
                  </a:extLst>
                </a:gridCol>
              </a:tblGrid>
              <a:tr h="703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100" b="0" i="0" u="none" strike="noStrike">
                          <a:effectLst/>
                          <a:latin typeface="Arial" panose="020B0604020202020204" pitchFamily="34" charset="0"/>
                        </a:rPr>
                        <a:t>Property</a:t>
                      </a:r>
                    </a:p>
                  </a:txBody>
                  <a:tcPr marL="159828" marR="159828" marT="79914" marB="7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100" b="0" i="0" u="none" strike="noStrike">
                          <a:effectLst/>
                          <a:latin typeface="Arial" panose="020B0604020202020204" pitchFamily="34" charset="0"/>
                        </a:rPr>
                        <a:t>Value</a:t>
                      </a:r>
                    </a:p>
                  </a:txBody>
                  <a:tcPr marL="159828" marR="159828" marT="79914" marB="7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950881"/>
                  </a:ext>
                </a:extLst>
              </a:tr>
              <a:tr h="703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100" b="0" i="0" u="none" strike="noStrike">
                          <a:effectLst/>
                          <a:latin typeface="Arial" panose="020B0604020202020204" pitchFamily="34" charset="0"/>
                        </a:rPr>
                        <a:t>Visual</a:t>
                      </a:r>
                    </a:p>
                  </a:txBody>
                  <a:tcPr marL="159828" marR="159828" marT="79914" marB="7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100" b="0" i="0" u="none" strike="noStrike">
                          <a:effectLst/>
                          <a:latin typeface="Arial" panose="020B0604020202020204" pitchFamily="34" charset="0"/>
                        </a:rPr>
                        <a:t>Treemap</a:t>
                      </a:r>
                    </a:p>
                  </a:txBody>
                  <a:tcPr marL="159828" marR="159828" marT="79914" marB="7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856580"/>
                  </a:ext>
                </a:extLst>
              </a:tr>
              <a:tr h="703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100" b="0" i="0" u="none" strike="noStrike">
                          <a:effectLst/>
                          <a:latin typeface="Arial" panose="020B0604020202020204" pitchFamily="34" charset="0"/>
                        </a:rPr>
                        <a:t>Group</a:t>
                      </a:r>
                    </a:p>
                  </a:txBody>
                  <a:tcPr marL="159828" marR="159828" marT="79914" marB="7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100" b="0" i="0" u="none" strike="noStrike">
                          <a:effectLst/>
                          <a:latin typeface="Arial" panose="020B0604020202020204" pitchFamily="34" charset="0"/>
                        </a:rPr>
                        <a:t>Segment</a:t>
                      </a:r>
                    </a:p>
                  </a:txBody>
                  <a:tcPr marL="159828" marR="159828" marT="79914" marB="7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705614"/>
                  </a:ext>
                </a:extLst>
              </a:tr>
              <a:tr h="703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100" b="0" i="0" u="none" strike="noStrike">
                          <a:effectLst/>
                          <a:latin typeface="Arial" panose="020B0604020202020204" pitchFamily="34" charset="0"/>
                        </a:rPr>
                        <a:t>Values</a:t>
                      </a:r>
                    </a:p>
                  </a:txBody>
                  <a:tcPr marL="159828" marR="159828" marT="79914" marB="7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100" b="0" i="0" u="none" strike="noStrike">
                          <a:effectLst/>
                          <a:latin typeface="Arial" panose="020B0604020202020204" pitchFamily="34" charset="0"/>
                        </a:rPr>
                        <a:t>Total Sales</a:t>
                      </a:r>
                    </a:p>
                  </a:txBody>
                  <a:tcPr marL="159828" marR="159828" marT="79914" marB="7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425113"/>
                  </a:ext>
                </a:extLst>
              </a:tr>
              <a:tr h="703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100" b="0" i="0" u="none" strike="noStrike">
                          <a:effectLst/>
                          <a:latin typeface="Arial" panose="020B0604020202020204" pitchFamily="34" charset="0"/>
                        </a:rPr>
                        <a:t>Tooltips</a:t>
                      </a:r>
                    </a:p>
                  </a:txBody>
                  <a:tcPr marL="159828" marR="159828" marT="79914" marB="7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100" b="0" i="0" u="none" strike="noStrike">
                          <a:effectLst/>
                          <a:latin typeface="Arial" panose="020B0604020202020204" pitchFamily="34" charset="0"/>
                        </a:rPr>
                        <a:t>Profit, Profit %, Units Sold</a:t>
                      </a:r>
                    </a:p>
                  </a:txBody>
                  <a:tcPr marL="159828" marR="159828" marT="79914" marB="7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163254"/>
                  </a:ext>
                </a:extLst>
              </a:tr>
              <a:tr h="703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100" b="0" i="0" u="none" strike="noStrike">
                          <a:effectLst/>
                          <a:latin typeface="Arial" panose="020B0604020202020204" pitchFamily="34" charset="0"/>
                        </a:rPr>
                        <a:t>Sort</a:t>
                      </a:r>
                    </a:p>
                  </a:txBody>
                  <a:tcPr marL="159828" marR="159828" marT="79914" marB="7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100" b="0" i="0" u="none" strike="noStrike">
                          <a:effectLst/>
                          <a:latin typeface="Arial" panose="020B0604020202020204" pitchFamily="34" charset="0"/>
                        </a:rPr>
                        <a:t>Total Sales (Descending)</a:t>
                      </a:r>
                    </a:p>
                  </a:txBody>
                  <a:tcPr marL="159828" marR="159828" marT="79914" marB="7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152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580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605</Words>
  <Application>Microsoft Office PowerPoint</Application>
  <PresentationFormat>Widescreen</PresentationFormat>
  <Paragraphs>167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Wingdings</vt:lpstr>
      <vt:lpstr>Office Theme</vt:lpstr>
      <vt:lpstr>Sales dashboard</vt:lpstr>
      <vt:lpstr>PowerPoint Presentation</vt:lpstr>
      <vt:lpstr>Components </vt:lpstr>
      <vt:lpstr>Business Questions</vt:lpstr>
      <vt:lpstr>Data Cleaning</vt:lpstr>
      <vt:lpstr>Create Date Table</vt:lpstr>
      <vt:lpstr>Create Calculated Columns</vt:lpstr>
      <vt:lpstr>DAX Measures </vt:lpstr>
      <vt:lpstr>KPI Cards</vt:lpstr>
      <vt:lpstr>PowerPoint Presentation</vt:lpstr>
      <vt:lpstr>PowerPoint Presentation</vt:lpstr>
      <vt:lpstr>Treemap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rakhee chhibber</dc:creator>
  <cp:lastModifiedBy>rakhee chhibber</cp:lastModifiedBy>
  <cp:revision>4</cp:revision>
  <dcterms:created xsi:type="dcterms:W3CDTF">2026-08-02T15:46:13Z</dcterms:created>
  <dcterms:modified xsi:type="dcterms:W3CDTF">2026-08-03T16:19:16Z</dcterms:modified>
</cp:coreProperties>
</file>