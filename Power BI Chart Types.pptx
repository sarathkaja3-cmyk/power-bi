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7C7D-1459-1585-1242-804DF9E3A6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D908B5-CA3F-5B75-E7B9-6B996F1E2D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23CD1F-0F00-5B90-2D7E-5F3F0D9B53E3}"/>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05F5CC1C-E125-D465-5240-02C9F733C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2AE258-0112-0A9C-75C5-9967F9CD08F9}"/>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823180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0D7E6-3EFA-37C8-9793-35AE243C94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D05E7C-5409-D664-E542-E301A936CA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301C1-37EF-D793-BCD9-DBBC298BE174}"/>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97CD8BE6-EFE9-CCDE-7F9C-B2EFFE657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DAD89-5BF8-E634-5133-5805B6876931}"/>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641620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B292-600D-9FE8-00E1-C38C749BED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07DF4A-5ECA-1DDB-B8E3-91E1E1D7C1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8461D2-922B-046A-5635-110D733F70B7}"/>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0DBE3B9B-09DA-ADB3-D2F5-E3FF612B8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EF234-E11A-CDE3-2C87-9912EBB21DF7}"/>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01044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C4A2-A282-595A-A22A-42197BCD40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533C1C-06D0-0F03-BF2B-16566160EE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596BAF-F4FE-7320-B0B5-26606F9D52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731108-0BEF-4B54-E117-274653843E6C}"/>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6" name="Footer Placeholder 5">
            <a:extLst>
              <a:ext uri="{FF2B5EF4-FFF2-40B4-BE49-F238E27FC236}">
                <a16:creationId xmlns:a16="http://schemas.microsoft.com/office/drawing/2014/main" id="{A0221BA1-65CA-BB77-EE2E-BA81357EA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4EE392-38F2-A355-FF29-7DBCEEEAFD4A}"/>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127487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2ABEB-E9F2-D210-B80F-10AA4EC439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58FF57-DE12-0CFD-9809-AF8471476F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A3B7FC-367F-B85C-AF64-AF730DF835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F4EC22-E978-DE13-945C-F97C7F135E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1B505A-1558-A2E9-954D-E9BF64CCC8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CDD19E-6C42-F1FC-743E-1E4148D1BB95}"/>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8" name="Footer Placeholder 7">
            <a:extLst>
              <a:ext uri="{FF2B5EF4-FFF2-40B4-BE49-F238E27FC236}">
                <a16:creationId xmlns:a16="http://schemas.microsoft.com/office/drawing/2014/main" id="{61FCD254-2AA9-BFC6-7E6F-2B94D1C0F7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2C2B91-198A-6D69-911A-92A0AAE9844F}"/>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214970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9B67A-537A-C38C-3CF4-2396669ABA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432302-BC8A-21CA-08A1-C8082A4B6369}"/>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4" name="Footer Placeholder 3">
            <a:extLst>
              <a:ext uri="{FF2B5EF4-FFF2-40B4-BE49-F238E27FC236}">
                <a16:creationId xmlns:a16="http://schemas.microsoft.com/office/drawing/2014/main" id="{D8F7C1C8-BA1F-05B7-9C8C-8F043A57EF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E74058-76F1-3908-9522-48814A730948}"/>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4294592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3D078-03F5-8828-D475-F8955330BB9B}"/>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3" name="Footer Placeholder 2">
            <a:extLst>
              <a:ext uri="{FF2B5EF4-FFF2-40B4-BE49-F238E27FC236}">
                <a16:creationId xmlns:a16="http://schemas.microsoft.com/office/drawing/2014/main" id="{4C00E096-65FC-1664-B2C6-B5343BF77D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B81490-28E5-87A1-62B6-51D9DF38138B}"/>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688133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0CE6-59B2-3F7E-E0D3-53279ACEC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C2708C-7E4D-338D-F2CB-ADD81B2BDB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1360E5-1795-83B6-FDA3-F4AD8F7F2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DD1F78-63BE-AB5F-2432-6824BD05A9E0}"/>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6" name="Footer Placeholder 5">
            <a:extLst>
              <a:ext uri="{FF2B5EF4-FFF2-40B4-BE49-F238E27FC236}">
                <a16:creationId xmlns:a16="http://schemas.microsoft.com/office/drawing/2014/main" id="{A72B7D9A-47DB-7164-A2A8-6361AFD39D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6C943-D0FC-059E-36F1-6CEA83089684}"/>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936998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857FA-43B0-27FC-87B5-C71316D2F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B60EB1-6701-F379-815D-F75BB10079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C944D8-EC11-34B4-110D-607961232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1DAF4-526A-9521-ECBD-BF8583536F08}"/>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6" name="Footer Placeholder 5">
            <a:extLst>
              <a:ext uri="{FF2B5EF4-FFF2-40B4-BE49-F238E27FC236}">
                <a16:creationId xmlns:a16="http://schemas.microsoft.com/office/drawing/2014/main" id="{275E0FAD-34AB-877B-56AA-C6D05C5B2D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8057A-50B7-7A6D-3B67-AFB6E91705C9}"/>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214529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FBC5-6BF0-88D1-6D33-0D9BD2CB13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B40F19-8D24-45B1-B22A-5BA35CD0FA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1BF885-9716-93C4-9E5C-987C23934E57}"/>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89ED8AE0-76D3-0B86-811C-A24A807EA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9B2A2-EAA8-3CCA-7E67-7445C122AD59}"/>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954018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C18FF2-41D6-A2CD-012C-64A1E62505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517BB1-9183-92BC-8C23-72B3AB97B3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2EE7D-36F3-AC8A-1BB9-9AA8970E28E5}"/>
              </a:ext>
            </a:extLst>
          </p:cNvPr>
          <p:cNvSpPr>
            <a:spLocks noGrp="1"/>
          </p:cNvSpPr>
          <p:nvPr>
            <p:ph type="dt" sz="half" idx="10"/>
          </p:nvPr>
        </p:nvSpPr>
        <p:spPr/>
        <p:txBody>
          <a:body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DFD6D273-27AD-89D3-9C85-251F696C9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2C2B4-B3E6-283B-A209-57474CC525B0}"/>
              </a:ext>
            </a:extLst>
          </p:cNvPr>
          <p:cNvSpPr>
            <a:spLocks noGrp="1"/>
          </p:cNvSpPr>
          <p:nvPr>
            <p:ph type="sldNum" sz="quarter" idx="12"/>
          </p:nvPr>
        </p:nvSpPr>
        <p:spPr/>
        <p:txBody>
          <a:bodyPr/>
          <a:lstStyle/>
          <a:p>
            <a:fld id="{88566C65-FB95-4C01-B0D2-2E709B3B7E7A}" type="slidenum">
              <a:rPr lang="en-US" smtClean="0"/>
              <a:t>‹#›</a:t>
            </a:fld>
            <a:endParaRPr lang="en-US"/>
          </a:p>
        </p:txBody>
      </p:sp>
    </p:spTree>
    <p:extLst>
      <p:ext uri="{BB962C8B-B14F-4D97-AF65-F5344CB8AC3E}">
        <p14:creationId xmlns:p14="http://schemas.microsoft.com/office/powerpoint/2010/main" val="382382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AB228-1A27-2175-D1E5-2A69C1C464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E56BCF-8A79-5848-331A-5549EB1EE9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5DA98-AE3C-1E58-51BB-948224898F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D4FEB0-1C57-4DE3-9605-1DC3A63423E2}" type="datetimeFigureOut">
              <a:rPr lang="en-US" smtClean="0"/>
              <a:t>5/17/2026</a:t>
            </a:fld>
            <a:endParaRPr lang="en-US"/>
          </a:p>
        </p:txBody>
      </p:sp>
      <p:sp>
        <p:nvSpPr>
          <p:cNvPr id="5" name="Footer Placeholder 4">
            <a:extLst>
              <a:ext uri="{FF2B5EF4-FFF2-40B4-BE49-F238E27FC236}">
                <a16:creationId xmlns:a16="http://schemas.microsoft.com/office/drawing/2014/main" id="{EFDD617E-0D8F-B0D8-5301-975313153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31CF39-D020-2654-38CD-062A7AEBFC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566C65-FB95-4C01-B0D2-2E709B3B7E7A}" type="slidenum">
              <a:rPr lang="en-US" smtClean="0"/>
              <a:t>‹#›</a:t>
            </a:fld>
            <a:endParaRPr lang="en-US"/>
          </a:p>
        </p:txBody>
      </p:sp>
    </p:spTree>
    <p:extLst>
      <p:ext uri="{BB962C8B-B14F-4D97-AF65-F5344CB8AC3E}">
        <p14:creationId xmlns:p14="http://schemas.microsoft.com/office/powerpoint/2010/main" val="953025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C27EAF67-E0C1-8B8C-3CAF-AD7656BF92EC}"/>
              </a:ext>
            </a:extLst>
          </p:cNvPr>
          <p:cNvPicPr>
            <a:picLocks noChangeAspect="1"/>
          </p:cNvPicPr>
          <p:nvPr/>
        </p:nvPicPr>
        <p:blipFill>
          <a:blip r:embed="rId2">
            <a:alphaModFix amt="50000"/>
          </a:blip>
          <a:srcRect t="3981" b="6019"/>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D5F97BD-CDC5-C4F3-12A3-13310CA6543D}"/>
              </a:ext>
            </a:extLst>
          </p:cNvPr>
          <p:cNvSpPr>
            <a:spLocks noGrp="1"/>
          </p:cNvSpPr>
          <p:nvPr>
            <p:ph type="ctrTitle"/>
          </p:nvPr>
        </p:nvSpPr>
        <p:spPr>
          <a:xfrm>
            <a:off x="1524000" y="1122362"/>
            <a:ext cx="9144000" cy="2900518"/>
          </a:xfrm>
        </p:spPr>
        <p:txBody>
          <a:bodyPr>
            <a:normAutofit/>
          </a:bodyPr>
          <a:lstStyle/>
          <a:p>
            <a:r>
              <a:rPr lang="en-US" b="1">
                <a:solidFill>
                  <a:srgbClr val="FFFFFF"/>
                </a:solidFill>
              </a:rPr>
              <a:t>Power BI Chart Types: Choosing the Right Visuals for Your Data</a:t>
            </a:r>
            <a:endParaRPr lang="en-US">
              <a:solidFill>
                <a:srgbClr val="FFFFFF"/>
              </a:solidFill>
            </a:endParaRPr>
          </a:p>
        </p:txBody>
      </p:sp>
      <p:sp>
        <p:nvSpPr>
          <p:cNvPr id="3" name="Subtitle 2">
            <a:extLst>
              <a:ext uri="{FF2B5EF4-FFF2-40B4-BE49-F238E27FC236}">
                <a16:creationId xmlns:a16="http://schemas.microsoft.com/office/drawing/2014/main" id="{49A2E789-D9B3-70EF-ECF9-3D7AFE39B2E7}"/>
              </a:ext>
            </a:extLst>
          </p:cNvPr>
          <p:cNvSpPr>
            <a:spLocks noGrp="1"/>
          </p:cNvSpPr>
          <p:nvPr>
            <p:ph type="subTitle" idx="1"/>
          </p:nvPr>
        </p:nvSpPr>
        <p:spPr>
          <a:xfrm>
            <a:off x="1524000" y="4159404"/>
            <a:ext cx="9144000" cy="1098395"/>
          </a:xfrm>
        </p:spPr>
        <p:txBody>
          <a:bodyPr>
            <a:normAutofit/>
          </a:bodyPr>
          <a:lstStyle/>
          <a:p>
            <a:r>
              <a:rPr lang="en-US" dirty="0">
                <a:solidFill>
                  <a:srgbClr val="FFFFFF"/>
                </a:solidFill>
              </a:rPr>
              <a:t>Dr. Rakhee Chhibber</a:t>
            </a:r>
          </a:p>
        </p:txBody>
      </p:sp>
    </p:spTree>
    <p:extLst>
      <p:ext uri="{BB962C8B-B14F-4D97-AF65-F5344CB8AC3E}">
        <p14:creationId xmlns:p14="http://schemas.microsoft.com/office/powerpoint/2010/main" val="51183202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07F6-2AF8-8755-25CD-EE26BD7AABCC}"/>
              </a:ext>
            </a:extLst>
          </p:cNvPr>
          <p:cNvSpPr>
            <a:spLocks noGrp="1"/>
          </p:cNvSpPr>
          <p:nvPr>
            <p:ph type="title"/>
          </p:nvPr>
        </p:nvSpPr>
        <p:spPr/>
        <p:txBody>
          <a:bodyPr>
            <a:normAutofit/>
          </a:bodyPr>
          <a:lstStyle/>
          <a:p>
            <a:r>
              <a:rPr lang="en-US" dirty="0"/>
              <a:t>Questions to ask before selecting a graph</a:t>
            </a:r>
          </a:p>
        </p:txBody>
      </p:sp>
      <p:sp>
        <p:nvSpPr>
          <p:cNvPr id="3" name="Content Placeholder 2">
            <a:extLst>
              <a:ext uri="{FF2B5EF4-FFF2-40B4-BE49-F238E27FC236}">
                <a16:creationId xmlns:a16="http://schemas.microsoft.com/office/drawing/2014/main" id="{70308375-3616-2335-BF2C-98C8EBDCA926}"/>
              </a:ext>
            </a:extLst>
          </p:cNvPr>
          <p:cNvSpPr>
            <a:spLocks noGrp="1"/>
          </p:cNvSpPr>
          <p:nvPr>
            <p:ph idx="1"/>
          </p:nvPr>
        </p:nvSpPr>
        <p:spPr/>
        <p:txBody>
          <a:bodyPr/>
          <a:lstStyle/>
          <a:p>
            <a:r>
              <a:rPr lang="en-US" dirty="0"/>
              <a:t>What’s the target audience for my report? Will they be familiar with these visuals?</a:t>
            </a:r>
          </a:p>
          <a:p>
            <a:r>
              <a:rPr lang="en-US" dirty="0"/>
              <a:t>Is this visual suited for the specific data? Will it portray it accurately? Does it work with the data at all?</a:t>
            </a:r>
          </a:p>
          <a:p>
            <a:r>
              <a:rPr lang="en-US" dirty="0"/>
              <a:t>What do I want to tell with this visual? Does it provide meaningful insights to the user?</a:t>
            </a:r>
          </a:p>
          <a:p>
            <a:endParaRPr lang="en-US" dirty="0"/>
          </a:p>
        </p:txBody>
      </p:sp>
    </p:spTree>
    <p:extLst>
      <p:ext uri="{BB962C8B-B14F-4D97-AF65-F5344CB8AC3E}">
        <p14:creationId xmlns:p14="http://schemas.microsoft.com/office/powerpoint/2010/main" val="466329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A8ED22-B977-AB9D-B555-92757FED585A}"/>
              </a:ext>
            </a:extLst>
          </p:cNvPr>
          <p:cNvSpPr>
            <a:spLocks noGrp="1"/>
          </p:cNvSpPr>
          <p:nvPr>
            <p:ph type="title"/>
          </p:nvPr>
        </p:nvSpPr>
        <p:spPr>
          <a:xfrm>
            <a:off x="1137033" y="670559"/>
            <a:ext cx="4683321" cy="2148841"/>
          </a:xfrm>
        </p:spPr>
        <p:txBody>
          <a:bodyPr anchor="t">
            <a:normAutofit/>
          </a:bodyPr>
          <a:lstStyle/>
          <a:p>
            <a:r>
              <a:rPr lang="en-US" dirty="0"/>
              <a:t>Types of Charts </a:t>
            </a:r>
          </a:p>
        </p:txBody>
      </p:sp>
      <p:pic>
        <p:nvPicPr>
          <p:cNvPr id="5" name="Picture 4">
            <a:extLst>
              <a:ext uri="{FF2B5EF4-FFF2-40B4-BE49-F238E27FC236}">
                <a16:creationId xmlns:a16="http://schemas.microsoft.com/office/drawing/2014/main" id="{695325A9-724E-90F6-1AB7-F3F8FB79991A}"/>
              </a:ext>
            </a:extLst>
          </p:cNvPr>
          <p:cNvPicPr>
            <a:picLocks noChangeAspect="1"/>
          </p:cNvPicPr>
          <p:nvPr/>
        </p:nvPicPr>
        <p:blipFill>
          <a:blip r:embed="rId2"/>
          <a:srcRect l="8593" r="28261" b="2"/>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a:extLst>
              <a:ext uri="{FF2B5EF4-FFF2-40B4-BE49-F238E27FC236}">
                <a16:creationId xmlns:a16="http://schemas.microsoft.com/office/drawing/2014/main" id="{0F32F713-B730-12DE-04DF-B971B767A3E1}"/>
              </a:ext>
            </a:extLst>
          </p:cNvPr>
          <p:cNvSpPr>
            <a:spLocks noGrp="1"/>
          </p:cNvSpPr>
          <p:nvPr>
            <p:ph idx="1"/>
          </p:nvPr>
        </p:nvSpPr>
        <p:spPr>
          <a:xfrm>
            <a:off x="6797004" y="670559"/>
            <a:ext cx="4555782" cy="5445076"/>
          </a:xfrm>
        </p:spPr>
        <p:txBody>
          <a:bodyPr anchor="t">
            <a:normAutofit/>
          </a:bodyPr>
          <a:lstStyle/>
          <a:p>
            <a:r>
              <a:rPr lang="en-US" sz="2400" dirty="0"/>
              <a:t>Donut Chart</a:t>
            </a:r>
          </a:p>
          <a:p>
            <a:r>
              <a:rPr lang="en-US" sz="2400" dirty="0"/>
              <a:t>Column Chart</a:t>
            </a:r>
          </a:p>
          <a:p>
            <a:r>
              <a:rPr lang="en-US" sz="2400" dirty="0"/>
              <a:t>Bar Chart</a:t>
            </a:r>
          </a:p>
          <a:p>
            <a:r>
              <a:rPr lang="en-US" sz="2400" dirty="0"/>
              <a:t>Line Chart</a:t>
            </a:r>
          </a:p>
          <a:p>
            <a:r>
              <a:rPr lang="en-US" sz="2400" dirty="0"/>
              <a:t>Area Chart</a:t>
            </a:r>
          </a:p>
          <a:p>
            <a:r>
              <a:rPr lang="en-US" sz="2400" dirty="0"/>
              <a:t>Combo Chart</a:t>
            </a:r>
          </a:p>
          <a:p>
            <a:r>
              <a:rPr lang="en-US" sz="2400" dirty="0"/>
              <a:t>Time Series Chart</a:t>
            </a:r>
          </a:p>
          <a:p>
            <a:r>
              <a:rPr lang="en-US" sz="2400" dirty="0"/>
              <a:t>Waterfall Chart</a:t>
            </a:r>
          </a:p>
          <a:p>
            <a:r>
              <a:rPr lang="en-US" sz="2400" dirty="0"/>
              <a:t>Scatter Chart</a:t>
            </a:r>
          </a:p>
          <a:p>
            <a:r>
              <a:rPr lang="en-US" sz="2400" dirty="0"/>
              <a:t>Map Chart</a:t>
            </a:r>
          </a:p>
          <a:p>
            <a:r>
              <a:rPr lang="en-US" sz="2400" dirty="0"/>
              <a:t>Network Chart</a:t>
            </a:r>
          </a:p>
          <a:p>
            <a:endParaRPr lang="en-US" sz="2400" dirty="0"/>
          </a:p>
        </p:txBody>
      </p:sp>
    </p:spTree>
    <p:extLst>
      <p:ext uri="{BB962C8B-B14F-4D97-AF65-F5344CB8AC3E}">
        <p14:creationId xmlns:p14="http://schemas.microsoft.com/office/powerpoint/2010/main" val="2484398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8CF3D-A312-9B6B-9B1B-55142D7AFED8}"/>
              </a:ext>
            </a:extLst>
          </p:cNvPr>
          <p:cNvSpPr>
            <a:spLocks noGrp="1"/>
          </p:cNvSpPr>
          <p:nvPr>
            <p:ph type="title"/>
          </p:nvPr>
        </p:nvSpPr>
        <p:spPr/>
        <p:txBody>
          <a:bodyPr/>
          <a:lstStyle/>
          <a:p>
            <a:r>
              <a:rPr lang="en-US" b="1" dirty="0"/>
              <a:t>Power BI Pie chart</a:t>
            </a:r>
            <a:endParaRPr lang="en-US" dirty="0"/>
          </a:p>
        </p:txBody>
      </p:sp>
      <p:sp>
        <p:nvSpPr>
          <p:cNvPr id="3" name="Content Placeholder 2">
            <a:extLst>
              <a:ext uri="{FF2B5EF4-FFF2-40B4-BE49-F238E27FC236}">
                <a16:creationId xmlns:a16="http://schemas.microsoft.com/office/drawing/2014/main" id="{207CBB98-2F6C-35CD-D3DC-2256DDBF5383}"/>
              </a:ext>
            </a:extLst>
          </p:cNvPr>
          <p:cNvSpPr>
            <a:spLocks noGrp="1"/>
          </p:cNvSpPr>
          <p:nvPr>
            <p:ph idx="1"/>
          </p:nvPr>
        </p:nvSpPr>
        <p:spPr>
          <a:xfrm>
            <a:off x="838200" y="1825625"/>
            <a:ext cx="5257800" cy="4351338"/>
          </a:xfrm>
        </p:spPr>
        <p:txBody>
          <a:bodyPr>
            <a:normAutofit fontScale="85000" lnSpcReduction="20000"/>
          </a:bodyPr>
          <a:lstStyle/>
          <a:p>
            <a:r>
              <a:rPr lang="en-US" dirty="0"/>
              <a:t>Pie charts are suited for numerical values in category-based data. </a:t>
            </a:r>
          </a:p>
          <a:p>
            <a:r>
              <a:rPr lang="en-US" dirty="0"/>
              <a:t>It’s best used to provide a quick overview of how the total value can be separated into subcategories. </a:t>
            </a:r>
          </a:p>
          <a:p>
            <a:r>
              <a:rPr lang="en-US"/>
              <a:t>For </a:t>
            </a:r>
            <a:r>
              <a:rPr lang="en-US" dirty="0"/>
              <a:t>example, if you want to visualize voting data, where out of 1523 people 843 voted “Yes”, 520 voted “No”, and the remaining 160 abstained, the pie chart will show each of these values as appropriately sized slices. Their size will be determined by the percentage of each value compared to the total which must always be 100%.</a:t>
            </a:r>
          </a:p>
        </p:txBody>
      </p:sp>
      <p:pic>
        <p:nvPicPr>
          <p:cNvPr id="6" name="Picture 5">
            <a:extLst>
              <a:ext uri="{FF2B5EF4-FFF2-40B4-BE49-F238E27FC236}">
                <a16:creationId xmlns:a16="http://schemas.microsoft.com/office/drawing/2014/main" id="{119D78FF-482D-B709-1FB0-560834B0F343}"/>
              </a:ext>
            </a:extLst>
          </p:cNvPr>
          <p:cNvPicPr>
            <a:picLocks noChangeAspect="1"/>
          </p:cNvPicPr>
          <p:nvPr/>
        </p:nvPicPr>
        <p:blipFill>
          <a:blip r:embed="rId2"/>
          <a:stretch>
            <a:fillRect/>
          </a:stretch>
        </p:blipFill>
        <p:spPr>
          <a:xfrm>
            <a:off x="7018020" y="2021757"/>
            <a:ext cx="5104440" cy="3225966"/>
          </a:xfrm>
          <a:prstGeom prst="rect">
            <a:avLst/>
          </a:prstGeom>
        </p:spPr>
      </p:pic>
    </p:spTree>
    <p:extLst>
      <p:ext uri="{BB962C8B-B14F-4D97-AF65-F5344CB8AC3E}">
        <p14:creationId xmlns:p14="http://schemas.microsoft.com/office/powerpoint/2010/main" val="169539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372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209</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 BI Chart Types: Choosing the Right Visuals for Your Data</vt:lpstr>
      <vt:lpstr>Questions to ask before selecting a graph</vt:lpstr>
      <vt:lpstr>Types of Charts </vt:lpstr>
      <vt:lpstr>Power BI Pie chart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1</cp:revision>
  <dcterms:created xsi:type="dcterms:W3CDTF">2026-05-17T09:33:58Z</dcterms:created>
  <dcterms:modified xsi:type="dcterms:W3CDTF">2026-05-17T09:46:16Z</dcterms:modified>
</cp:coreProperties>
</file>