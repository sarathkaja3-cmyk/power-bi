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7" r:id="rId7"/>
    <p:sldId id="263" r:id="rId8"/>
    <p:sldId id="264" r:id="rId9"/>
    <p:sldId id="265" r:id="rId10"/>
    <p:sldId id="266" r:id="rId11"/>
    <p:sldId id="260" r:id="rId12"/>
    <p:sldId id="261"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2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CE5C5-01CD-7F21-0A9F-C0E81A899F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CC4F05A-515F-E9C7-9979-FF29ADD8E8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B18AE3-71FB-E09A-6041-6B692D945094}"/>
              </a:ext>
            </a:extLst>
          </p:cNvPr>
          <p:cNvSpPr>
            <a:spLocks noGrp="1"/>
          </p:cNvSpPr>
          <p:nvPr>
            <p:ph type="dt" sz="half" idx="10"/>
          </p:nvPr>
        </p:nvSpPr>
        <p:spPr/>
        <p:txBody>
          <a:bodyPr/>
          <a:lstStyle/>
          <a:p>
            <a:fld id="{F738960F-3E3A-4BEA-A900-FEF89CCA83A6}" type="datetimeFigureOut">
              <a:rPr lang="en-US" smtClean="0"/>
              <a:t>5/22/2026</a:t>
            </a:fld>
            <a:endParaRPr lang="en-US"/>
          </a:p>
        </p:txBody>
      </p:sp>
      <p:sp>
        <p:nvSpPr>
          <p:cNvPr id="5" name="Footer Placeholder 4">
            <a:extLst>
              <a:ext uri="{FF2B5EF4-FFF2-40B4-BE49-F238E27FC236}">
                <a16:creationId xmlns:a16="http://schemas.microsoft.com/office/drawing/2014/main" id="{A9168A35-1F70-7D46-88B4-2730C132F2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0672B1-FA0D-7402-5430-3C5F3F36CC14}"/>
              </a:ext>
            </a:extLst>
          </p:cNvPr>
          <p:cNvSpPr>
            <a:spLocks noGrp="1"/>
          </p:cNvSpPr>
          <p:nvPr>
            <p:ph type="sldNum" sz="quarter" idx="12"/>
          </p:nvPr>
        </p:nvSpPr>
        <p:spPr/>
        <p:txBody>
          <a:bodyPr/>
          <a:lstStyle/>
          <a:p>
            <a:fld id="{A451CCBB-E548-4629-8F26-A56B1E55751C}" type="slidenum">
              <a:rPr lang="en-US" smtClean="0"/>
              <a:t>‹#›</a:t>
            </a:fld>
            <a:endParaRPr lang="en-US"/>
          </a:p>
        </p:txBody>
      </p:sp>
    </p:spTree>
    <p:extLst>
      <p:ext uri="{BB962C8B-B14F-4D97-AF65-F5344CB8AC3E}">
        <p14:creationId xmlns:p14="http://schemas.microsoft.com/office/powerpoint/2010/main" val="1376287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3D425-B0E1-C88E-B696-FEB0CF1100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A4C7F3-8631-71D5-E4A0-F692F295DE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5ABBF5-0632-41DC-6961-3EA2BBDFB4D6}"/>
              </a:ext>
            </a:extLst>
          </p:cNvPr>
          <p:cNvSpPr>
            <a:spLocks noGrp="1"/>
          </p:cNvSpPr>
          <p:nvPr>
            <p:ph type="dt" sz="half" idx="10"/>
          </p:nvPr>
        </p:nvSpPr>
        <p:spPr/>
        <p:txBody>
          <a:bodyPr/>
          <a:lstStyle/>
          <a:p>
            <a:fld id="{F738960F-3E3A-4BEA-A900-FEF89CCA83A6}" type="datetimeFigureOut">
              <a:rPr lang="en-US" smtClean="0"/>
              <a:t>5/22/2026</a:t>
            </a:fld>
            <a:endParaRPr lang="en-US"/>
          </a:p>
        </p:txBody>
      </p:sp>
      <p:sp>
        <p:nvSpPr>
          <p:cNvPr id="5" name="Footer Placeholder 4">
            <a:extLst>
              <a:ext uri="{FF2B5EF4-FFF2-40B4-BE49-F238E27FC236}">
                <a16:creationId xmlns:a16="http://schemas.microsoft.com/office/drawing/2014/main" id="{D7B0025F-0806-64C6-6860-DF2C4ADCCC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C8B15D-A005-EF28-775D-81BC9294F33D}"/>
              </a:ext>
            </a:extLst>
          </p:cNvPr>
          <p:cNvSpPr>
            <a:spLocks noGrp="1"/>
          </p:cNvSpPr>
          <p:nvPr>
            <p:ph type="sldNum" sz="quarter" idx="12"/>
          </p:nvPr>
        </p:nvSpPr>
        <p:spPr/>
        <p:txBody>
          <a:bodyPr/>
          <a:lstStyle/>
          <a:p>
            <a:fld id="{A451CCBB-E548-4629-8F26-A56B1E55751C}" type="slidenum">
              <a:rPr lang="en-US" smtClean="0"/>
              <a:t>‹#›</a:t>
            </a:fld>
            <a:endParaRPr lang="en-US"/>
          </a:p>
        </p:txBody>
      </p:sp>
    </p:spTree>
    <p:extLst>
      <p:ext uri="{BB962C8B-B14F-4D97-AF65-F5344CB8AC3E}">
        <p14:creationId xmlns:p14="http://schemas.microsoft.com/office/powerpoint/2010/main" val="4212098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86ED5-7D58-FC5E-FB9E-FAEFB4BF9C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E66A8D-C0AA-18FA-705A-67B945A940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E3F048-A454-5F61-1662-6BF4C9420580}"/>
              </a:ext>
            </a:extLst>
          </p:cNvPr>
          <p:cNvSpPr>
            <a:spLocks noGrp="1"/>
          </p:cNvSpPr>
          <p:nvPr>
            <p:ph type="dt" sz="half" idx="10"/>
          </p:nvPr>
        </p:nvSpPr>
        <p:spPr/>
        <p:txBody>
          <a:bodyPr/>
          <a:lstStyle/>
          <a:p>
            <a:fld id="{F738960F-3E3A-4BEA-A900-FEF89CCA83A6}" type="datetimeFigureOut">
              <a:rPr lang="en-US" smtClean="0"/>
              <a:t>5/22/2026</a:t>
            </a:fld>
            <a:endParaRPr lang="en-US"/>
          </a:p>
        </p:txBody>
      </p:sp>
      <p:sp>
        <p:nvSpPr>
          <p:cNvPr id="5" name="Footer Placeholder 4">
            <a:extLst>
              <a:ext uri="{FF2B5EF4-FFF2-40B4-BE49-F238E27FC236}">
                <a16:creationId xmlns:a16="http://schemas.microsoft.com/office/drawing/2014/main" id="{D85B3495-405C-B773-6E94-D14E11B77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1107E7-8C2E-6B35-083F-AA0A4CE649A1}"/>
              </a:ext>
            </a:extLst>
          </p:cNvPr>
          <p:cNvSpPr>
            <a:spLocks noGrp="1"/>
          </p:cNvSpPr>
          <p:nvPr>
            <p:ph type="sldNum" sz="quarter" idx="12"/>
          </p:nvPr>
        </p:nvSpPr>
        <p:spPr/>
        <p:txBody>
          <a:bodyPr/>
          <a:lstStyle/>
          <a:p>
            <a:fld id="{A451CCBB-E548-4629-8F26-A56B1E55751C}" type="slidenum">
              <a:rPr lang="en-US" smtClean="0"/>
              <a:t>‹#›</a:t>
            </a:fld>
            <a:endParaRPr lang="en-US"/>
          </a:p>
        </p:txBody>
      </p:sp>
    </p:spTree>
    <p:extLst>
      <p:ext uri="{BB962C8B-B14F-4D97-AF65-F5344CB8AC3E}">
        <p14:creationId xmlns:p14="http://schemas.microsoft.com/office/powerpoint/2010/main" val="536591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0B28E-8531-76C7-A051-65876B6839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430532-23BD-9427-6ECC-6145AFEF66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61D24C3-7EE8-821B-7B98-12F1651092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6AADC3-AD19-58E1-01D5-FB75AD08451E}"/>
              </a:ext>
            </a:extLst>
          </p:cNvPr>
          <p:cNvSpPr>
            <a:spLocks noGrp="1"/>
          </p:cNvSpPr>
          <p:nvPr>
            <p:ph type="dt" sz="half" idx="10"/>
          </p:nvPr>
        </p:nvSpPr>
        <p:spPr/>
        <p:txBody>
          <a:bodyPr/>
          <a:lstStyle/>
          <a:p>
            <a:fld id="{F738960F-3E3A-4BEA-A900-FEF89CCA83A6}" type="datetimeFigureOut">
              <a:rPr lang="en-US" smtClean="0"/>
              <a:t>5/22/2026</a:t>
            </a:fld>
            <a:endParaRPr lang="en-US"/>
          </a:p>
        </p:txBody>
      </p:sp>
      <p:sp>
        <p:nvSpPr>
          <p:cNvPr id="6" name="Footer Placeholder 5">
            <a:extLst>
              <a:ext uri="{FF2B5EF4-FFF2-40B4-BE49-F238E27FC236}">
                <a16:creationId xmlns:a16="http://schemas.microsoft.com/office/drawing/2014/main" id="{CBF00C21-C7CF-FC20-B39F-055209872B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493F72-D9A5-EB97-E338-66AFAFD35A36}"/>
              </a:ext>
            </a:extLst>
          </p:cNvPr>
          <p:cNvSpPr>
            <a:spLocks noGrp="1"/>
          </p:cNvSpPr>
          <p:nvPr>
            <p:ph type="sldNum" sz="quarter" idx="12"/>
          </p:nvPr>
        </p:nvSpPr>
        <p:spPr/>
        <p:txBody>
          <a:bodyPr/>
          <a:lstStyle/>
          <a:p>
            <a:fld id="{A451CCBB-E548-4629-8F26-A56B1E55751C}" type="slidenum">
              <a:rPr lang="en-US" smtClean="0"/>
              <a:t>‹#›</a:t>
            </a:fld>
            <a:endParaRPr lang="en-US"/>
          </a:p>
        </p:txBody>
      </p:sp>
    </p:spTree>
    <p:extLst>
      <p:ext uri="{BB962C8B-B14F-4D97-AF65-F5344CB8AC3E}">
        <p14:creationId xmlns:p14="http://schemas.microsoft.com/office/powerpoint/2010/main" val="2340539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C1607-56EB-FEFC-B3FC-9BBC4E9366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EBC68C-A6ED-A923-DF48-17153D6E5E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367719-681D-88A0-52E6-61690C3FCF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BFAF3B-B6E6-F2CA-567B-AA6BFF3050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750E70-B160-16BC-30CF-BD369CF38B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A8DB69-8A9D-9566-195C-97E7E25F0F32}"/>
              </a:ext>
            </a:extLst>
          </p:cNvPr>
          <p:cNvSpPr>
            <a:spLocks noGrp="1"/>
          </p:cNvSpPr>
          <p:nvPr>
            <p:ph type="dt" sz="half" idx="10"/>
          </p:nvPr>
        </p:nvSpPr>
        <p:spPr/>
        <p:txBody>
          <a:bodyPr/>
          <a:lstStyle/>
          <a:p>
            <a:fld id="{F738960F-3E3A-4BEA-A900-FEF89CCA83A6}" type="datetimeFigureOut">
              <a:rPr lang="en-US" smtClean="0"/>
              <a:t>5/22/2026</a:t>
            </a:fld>
            <a:endParaRPr lang="en-US"/>
          </a:p>
        </p:txBody>
      </p:sp>
      <p:sp>
        <p:nvSpPr>
          <p:cNvPr id="8" name="Footer Placeholder 7">
            <a:extLst>
              <a:ext uri="{FF2B5EF4-FFF2-40B4-BE49-F238E27FC236}">
                <a16:creationId xmlns:a16="http://schemas.microsoft.com/office/drawing/2014/main" id="{205142F1-5B1E-555A-BCF5-B252BCA4CD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B9BE383-AD76-6B92-D3C7-42AA657955E6}"/>
              </a:ext>
            </a:extLst>
          </p:cNvPr>
          <p:cNvSpPr>
            <a:spLocks noGrp="1"/>
          </p:cNvSpPr>
          <p:nvPr>
            <p:ph type="sldNum" sz="quarter" idx="12"/>
          </p:nvPr>
        </p:nvSpPr>
        <p:spPr/>
        <p:txBody>
          <a:bodyPr/>
          <a:lstStyle/>
          <a:p>
            <a:fld id="{A451CCBB-E548-4629-8F26-A56B1E55751C}" type="slidenum">
              <a:rPr lang="en-US" smtClean="0"/>
              <a:t>‹#›</a:t>
            </a:fld>
            <a:endParaRPr lang="en-US"/>
          </a:p>
        </p:txBody>
      </p:sp>
    </p:spTree>
    <p:extLst>
      <p:ext uri="{BB962C8B-B14F-4D97-AF65-F5344CB8AC3E}">
        <p14:creationId xmlns:p14="http://schemas.microsoft.com/office/powerpoint/2010/main" val="3455421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42F81-FB31-85F2-43D9-66352702B1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1CC771-7834-7B64-E9B0-57D59D3553F2}"/>
              </a:ext>
            </a:extLst>
          </p:cNvPr>
          <p:cNvSpPr>
            <a:spLocks noGrp="1"/>
          </p:cNvSpPr>
          <p:nvPr>
            <p:ph type="dt" sz="half" idx="10"/>
          </p:nvPr>
        </p:nvSpPr>
        <p:spPr/>
        <p:txBody>
          <a:bodyPr/>
          <a:lstStyle/>
          <a:p>
            <a:fld id="{F738960F-3E3A-4BEA-A900-FEF89CCA83A6}" type="datetimeFigureOut">
              <a:rPr lang="en-US" smtClean="0"/>
              <a:t>5/22/2026</a:t>
            </a:fld>
            <a:endParaRPr lang="en-US"/>
          </a:p>
        </p:txBody>
      </p:sp>
      <p:sp>
        <p:nvSpPr>
          <p:cNvPr id="4" name="Footer Placeholder 3">
            <a:extLst>
              <a:ext uri="{FF2B5EF4-FFF2-40B4-BE49-F238E27FC236}">
                <a16:creationId xmlns:a16="http://schemas.microsoft.com/office/drawing/2014/main" id="{8B5CCF7D-7FA0-44F4-AF9C-2AB44C1FEC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C61872-CDD7-6DA7-3904-64A361F992BD}"/>
              </a:ext>
            </a:extLst>
          </p:cNvPr>
          <p:cNvSpPr>
            <a:spLocks noGrp="1"/>
          </p:cNvSpPr>
          <p:nvPr>
            <p:ph type="sldNum" sz="quarter" idx="12"/>
          </p:nvPr>
        </p:nvSpPr>
        <p:spPr/>
        <p:txBody>
          <a:bodyPr/>
          <a:lstStyle/>
          <a:p>
            <a:fld id="{A451CCBB-E548-4629-8F26-A56B1E55751C}" type="slidenum">
              <a:rPr lang="en-US" smtClean="0"/>
              <a:t>‹#›</a:t>
            </a:fld>
            <a:endParaRPr lang="en-US"/>
          </a:p>
        </p:txBody>
      </p:sp>
    </p:spTree>
    <p:extLst>
      <p:ext uri="{BB962C8B-B14F-4D97-AF65-F5344CB8AC3E}">
        <p14:creationId xmlns:p14="http://schemas.microsoft.com/office/powerpoint/2010/main" val="2321468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0A3CC2-8302-4EBB-49FE-CA5472F82F10}"/>
              </a:ext>
            </a:extLst>
          </p:cNvPr>
          <p:cNvSpPr>
            <a:spLocks noGrp="1"/>
          </p:cNvSpPr>
          <p:nvPr>
            <p:ph type="dt" sz="half" idx="10"/>
          </p:nvPr>
        </p:nvSpPr>
        <p:spPr/>
        <p:txBody>
          <a:bodyPr/>
          <a:lstStyle/>
          <a:p>
            <a:fld id="{F738960F-3E3A-4BEA-A900-FEF89CCA83A6}" type="datetimeFigureOut">
              <a:rPr lang="en-US" smtClean="0"/>
              <a:t>5/22/2026</a:t>
            </a:fld>
            <a:endParaRPr lang="en-US"/>
          </a:p>
        </p:txBody>
      </p:sp>
      <p:sp>
        <p:nvSpPr>
          <p:cNvPr id="3" name="Footer Placeholder 2">
            <a:extLst>
              <a:ext uri="{FF2B5EF4-FFF2-40B4-BE49-F238E27FC236}">
                <a16:creationId xmlns:a16="http://schemas.microsoft.com/office/drawing/2014/main" id="{444722F5-3C1D-74E1-776E-65A36C173A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281DA3-A925-28B4-80A5-B3EE6EF9C991}"/>
              </a:ext>
            </a:extLst>
          </p:cNvPr>
          <p:cNvSpPr>
            <a:spLocks noGrp="1"/>
          </p:cNvSpPr>
          <p:nvPr>
            <p:ph type="sldNum" sz="quarter" idx="12"/>
          </p:nvPr>
        </p:nvSpPr>
        <p:spPr/>
        <p:txBody>
          <a:bodyPr/>
          <a:lstStyle/>
          <a:p>
            <a:fld id="{A451CCBB-E548-4629-8F26-A56B1E55751C}" type="slidenum">
              <a:rPr lang="en-US" smtClean="0"/>
              <a:t>‹#›</a:t>
            </a:fld>
            <a:endParaRPr lang="en-US"/>
          </a:p>
        </p:txBody>
      </p:sp>
    </p:spTree>
    <p:extLst>
      <p:ext uri="{BB962C8B-B14F-4D97-AF65-F5344CB8AC3E}">
        <p14:creationId xmlns:p14="http://schemas.microsoft.com/office/powerpoint/2010/main" val="3844843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DC90A-3E48-27F6-4966-BBB8D1F04C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24F75E-5A30-0A8F-B4AA-0915EFB72D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8DDBC4-FA90-D398-E6D0-DE08DAA416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D72F5B-69EF-8CA2-BA2B-8C4AC536BB00}"/>
              </a:ext>
            </a:extLst>
          </p:cNvPr>
          <p:cNvSpPr>
            <a:spLocks noGrp="1"/>
          </p:cNvSpPr>
          <p:nvPr>
            <p:ph type="dt" sz="half" idx="10"/>
          </p:nvPr>
        </p:nvSpPr>
        <p:spPr/>
        <p:txBody>
          <a:bodyPr/>
          <a:lstStyle/>
          <a:p>
            <a:fld id="{F738960F-3E3A-4BEA-A900-FEF89CCA83A6}" type="datetimeFigureOut">
              <a:rPr lang="en-US" smtClean="0"/>
              <a:t>5/22/2026</a:t>
            </a:fld>
            <a:endParaRPr lang="en-US"/>
          </a:p>
        </p:txBody>
      </p:sp>
      <p:sp>
        <p:nvSpPr>
          <p:cNvPr id="6" name="Footer Placeholder 5">
            <a:extLst>
              <a:ext uri="{FF2B5EF4-FFF2-40B4-BE49-F238E27FC236}">
                <a16:creationId xmlns:a16="http://schemas.microsoft.com/office/drawing/2014/main" id="{D33075F0-3DA7-EF03-9DCB-0E6986C6F6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440C04-1468-DC6D-B183-E62F307DB54C}"/>
              </a:ext>
            </a:extLst>
          </p:cNvPr>
          <p:cNvSpPr>
            <a:spLocks noGrp="1"/>
          </p:cNvSpPr>
          <p:nvPr>
            <p:ph type="sldNum" sz="quarter" idx="12"/>
          </p:nvPr>
        </p:nvSpPr>
        <p:spPr/>
        <p:txBody>
          <a:bodyPr/>
          <a:lstStyle/>
          <a:p>
            <a:fld id="{A451CCBB-E548-4629-8F26-A56B1E55751C}" type="slidenum">
              <a:rPr lang="en-US" smtClean="0"/>
              <a:t>‹#›</a:t>
            </a:fld>
            <a:endParaRPr lang="en-US"/>
          </a:p>
        </p:txBody>
      </p:sp>
    </p:spTree>
    <p:extLst>
      <p:ext uri="{BB962C8B-B14F-4D97-AF65-F5344CB8AC3E}">
        <p14:creationId xmlns:p14="http://schemas.microsoft.com/office/powerpoint/2010/main" val="1428353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C2BB8-4D94-15BF-31C8-FC64CFFD0B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90A01D-F2A6-73D9-986E-BB55605A57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A3082C-0063-4BEF-2855-01CB1B3820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277E5C-2F44-4C44-C559-BC15E79EBF01}"/>
              </a:ext>
            </a:extLst>
          </p:cNvPr>
          <p:cNvSpPr>
            <a:spLocks noGrp="1"/>
          </p:cNvSpPr>
          <p:nvPr>
            <p:ph type="dt" sz="half" idx="10"/>
          </p:nvPr>
        </p:nvSpPr>
        <p:spPr/>
        <p:txBody>
          <a:bodyPr/>
          <a:lstStyle/>
          <a:p>
            <a:fld id="{F738960F-3E3A-4BEA-A900-FEF89CCA83A6}" type="datetimeFigureOut">
              <a:rPr lang="en-US" smtClean="0"/>
              <a:t>5/22/2026</a:t>
            </a:fld>
            <a:endParaRPr lang="en-US"/>
          </a:p>
        </p:txBody>
      </p:sp>
      <p:sp>
        <p:nvSpPr>
          <p:cNvPr id="6" name="Footer Placeholder 5">
            <a:extLst>
              <a:ext uri="{FF2B5EF4-FFF2-40B4-BE49-F238E27FC236}">
                <a16:creationId xmlns:a16="http://schemas.microsoft.com/office/drawing/2014/main" id="{9250A6DB-C75F-D32C-B133-D7C6FC29E6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C48F66-9C36-1440-BCEF-E033B5D06EAA}"/>
              </a:ext>
            </a:extLst>
          </p:cNvPr>
          <p:cNvSpPr>
            <a:spLocks noGrp="1"/>
          </p:cNvSpPr>
          <p:nvPr>
            <p:ph type="sldNum" sz="quarter" idx="12"/>
          </p:nvPr>
        </p:nvSpPr>
        <p:spPr/>
        <p:txBody>
          <a:bodyPr/>
          <a:lstStyle/>
          <a:p>
            <a:fld id="{A451CCBB-E548-4629-8F26-A56B1E55751C}" type="slidenum">
              <a:rPr lang="en-US" smtClean="0"/>
              <a:t>‹#›</a:t>
            </a:fld>
            <a:endParaRPr lang="en-US"/>
          </a:p>
        </p:txBody>
      </p:sp>
    </p:spTree>
    <p:extLst>
      <p:ext uri="{BB962C8B-B14F-4D97-AF65-F5344CB8AC3E}">
        <p14:creationId xmlns:p14="http://schemas.microsoft.com/office/powerpoint/2010/main" val="3772986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AF269-B644-8E10-B886-3ED11C717B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8BC83E-035C-4725-7B38-B34DA761D4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6F18E8-612C-1CAF-61C5-719CAFC3924D}"/>
              </a:ext>
            </a:extLst>
          </p:cNvPr>
          <p:cNvSpPr>
            <a:spLocks noGrp="1"/>
          </p:cNvSpPr>
          <p:nvPr>
            <p:ph type="dt" sz="half" idx="10"/>
          </p:nvPr>
        </p:nvSpPr>
        <p:spPr/>
        <p:txBody>
          <a:bodyPr/>
          <a:lstStyle/>
          <a:p>
            <a:fld id="{F738960F-3E3A-4BEA-A900-FEF89CCA83A6}" type="datetimeFigureOut">
              <a:rPr lang="en-US" smtClean="0"/>
              <a:t>5/22/2026</a:t>
            </a:fld>
            <a:endParaRPr lang="en-US"/>
          </a:p>
        </p:txBody>
      </p:sp>
      <p:sp>
        <p:nvSpPr>
          <p:cNvPr id="5" name="Footer Placeholder 4">
            <a:extLst>
              <a:ext uri="{FF2B5EF4-FFF2-40B4-BE49-F238E27FC236}">
                <a16:creationId xmlns:a16="http://schemas.microsoft.com/office/drawing/2014/main" id="{1C95E78C-85E1-B0ED-53BA-79C4AE3879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36F0BA-DF40-7FA2-4DEA-410812064FA5}"/>
              </a:ext>
            </a:extLst>
          </p:cNvPr>
          <p:cNvSpPr>
            <a:spLocks noGrp="1"/>
          </p:cNvSpPr>
          <p:nvPr>
            <p:ph type="sldNum" sz="quarter" idx="12"/>
          </p:nvPr>
        </p:nvSpPr>
        <p:spPr/>
        <p:txBody>
          <a:bodyPr/>
          <a:lstStyle/>
          <a:p>
            <a:fld id="{A451CCBB-E548-4629-8F26-A56B1E55751C}" type="slidenum">
              <a:rPr lang="en-US" smtClean="0"/>
              <a:t>‹#›</a:t>
            </a:fld>
            <a:endParaRPr lang="en-US"/>
          </a:p>
        </p:txBody>
      </p:sp>
    </p:spTree>
    <p:extLst>
      <p:ext uri="{BB962C8B-B14F-4D97-AF65-F5344CB8AC3E}">
        <p14:creationId xmlns:p14="http://schemas.microsoft.com/office/powerpoint/2010/main" val="3909052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01FED5-C8A5-B716-4209-972D7855D0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3EDF3E-AC8C-D137-C9B4-5553FA7327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1EF84-8EDC-6A4F-B8F4-493060D09558}"/>
              </a:ext>
            </a:extLst>
          </p:cNvPr>
          <p:cNvSpPr>
            <a:spLocks noGrp="1"/>
          </p:cNvSpPr>
          <p:nvPr>
            <p:ph type="dt" sz="half" idx="10"/>
          </p:nvPr>
        </p:nvSpPr>
        <p:spPr/>
        <p:txBody>
          <a:bodyPr/>
          <a:lstStyle/>
          <a:p>
            <a:fld id="{F738960F-3E3A-4BEA-A900-FEF89CCA83A6}" type="datetimeFigureOut">
              <a:rPr lang="en-US" smtClean="0"/>
              <a:t>5/22/2026</a:t>
            </a:fld>
            <a:endParaRPr lang="en-US"/>
          </a:p>
        </p:txBody>
      </p:sp>
      <p:sp>
        <p:nvSpPr>
          <p:cNvPr id="5" name="Footer Placeholder 4">
            <a:extLst>
              <a:ext uri="{FF2B5EF4-FFF2-40B4-BE49-F238E27FC236}">
                <a16:creationId xmlns:a16="http://schemas.microsoft.com/office/drawing/2014/main" id="{5CB6C62B-6DC3-CE9C-6FEE-0DFD798675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8D96D1-C798-3A34-9072-2B93DA91DD52}"/>
              </a:ext>
            </a:extLst>
          </p:cNvPr>
          <p:cNvSpPr>
            <a:spLocks noGrp="1"/>
          </p:cNvSpPr>
          <p:nvPr>
            <p:ph type="sldNum" sz="quarter" idx="12"/>
          </p:nvPr>
        </p:nvSpPr>
        <p:spPr/>
        <p:txBody>
          <a:bodyPr/>
          <a:lstStyle/>
          <a:p>
            <a:fld id="{A451CCBB-E548-4629-8F26-A56B1E55751C}" type="slidenum">
              <a:rPr lang="en-US" smtClean="0"/>
              <a:t>‹#›</a:t>
            </a:fld>
            <a:endParaRPr lang="en-US"/>
          </a:p>
        </p:txBody>
      </p:sp>
    </p:spTree>
    <p:extLst>
      <p:ext uri="{BB962C8B-B14F-4D97-AF65-F5344CB8AC3E}">
        <p14:creationId xmlns:p14="http://schemas.microsoft.com/office/powerpoint/2010/main" val="3324872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72ECA6-2DE1-4AB3-A0C8-0C9C366192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57E66E-9D96-6709-D549-B87F1C8D4E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505F97-33AF-CE95-2E1A-37CE06DDFE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738960F-3E3A-4BEA-A900-FEF89CCA83A6}" type="datetimeFigureOut">
              <a:rPr lang="en-US" smtClean="0"/>
              <a:t>5/22/2026</a:t>
            </a:fld>
            <a:endParaRPr lang="en-US"/>
          </a:p>
        </p:txBody>
      </p:sp>
      <p:sp>
        <p:nvSpPr>
          <p:cNvPr id="5" name="Footer Placeholder 4">
            <a:extLst>
              <a:ext uri="{FF2B5EF4-FFF2-40B4-BE49-F238E27FC236}">
                <a16:creationId xmlns:a16="http://schemas.microsoft.com/office/drawing/2014/main" id="{44A514B8-2E31-62E1-A18C-441A139C39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F24FF26-E355-5821-A2BF-7EC73A7EE9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451CCBB-E548-4629-8F26-A56B1E55751C}" type="slidenum">
              <a:rPr lang="en-US" smtClean="0"/>
              <a:t>‹#›</a:t>
            </a:fld>
            <a:endParaRPr lang="en-US"/>
          </a:p>
        </p:txBody>
      </p:sp>
    </p:spTree>
    <p:extLst>
      <p:ext uri="{BB962C8B-B14F-4D97-AF65-F5344CB8AC3E}">
        <p14:creationId xmlns:p14="http://schemas.microsoft.com/office/powerpoint/2010/main" val="1861465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learn.microsoft.com/en-us/power-bi/guidance/star-schema"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16F42E0-28DF-4093-AFC5-CA01F54C88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ideo 4" descr="Electronic System">
            <a:extLst>
              <a:ext uri="{FF2B5EF4-FFF2-40B4-BE49-F238E27FC236}">
                <a16:creationId xmlns:a16="http://schemas.microsoft.com/office/drawing/2014/main" id="{426D6B12-A5B3-8F5F-3706-DC7DDFC6E3B0}"/>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84" r="1" b="1"/>
          <a:stretch>
            <a:fillRect/>
          </a:stretch>
        </p:blipFill>
        <p:spPr>
          <a:xfrm>
            <a:off x="3" y="-22"/>
            <a:ext cx="12191997" cy="6858022"/>
          </a:xfrm>
          <a:prstGeom prst="rect">
            <a:avLst/>
          </a:prstGeom>
        </p:spPr>
      </p:pic>
      <p:sp>
        <p:nvSpPr>
          <p:cNvPr id="11" name="Rectangle 10">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06190"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37374"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F630F3-8269-9F04-F048-40BA3D4E9E92}"/>
              </a:ext>
            </a:extLst>
          </p:cNvPr>
          <p:cNvSpPr>
            <a:spLocks noGrp="1"/>
          </p:cNvSpPr>
          <p:nvPr>
            <p:ph type="ctrTitle"/>
          </p:nvPr>
        </p:nvSpPr>
        <p:spPr>
          <a:xfrm>
            <a:off x="6096006" y="728897"/>
            <a:ext cx="5452529" cy="3728614"/>
          </a:xfrm>
        </p:spPr>
        <p:txBody>
          <a:bodyPr anchor="t">
            <a:normAutofit/>
          </a:bodyPr>
          <a:lstStyle/>
          <a:p>
            <a:pPr algn="r"/>
            <a:r>
              <a:rPr lang="en-US" sz="5200">
                <a:solidFill>
                  <a:srgbClr val="FFFFFF"/>
                </a:solidFill>
              </a:rPr>
              <a:t>Data Modelling</a:t>
            </a:r>
          </a:p>
        </p:txBody>
      </p:sp>
      <p:sp>
        <p:nvSpPr>
          <p:cNvPr id="3" name="Subtitle 2">
            <a:extLst>
              <a:ext uri="{FF2B5EF4-FFF2-40B4-BE49-F238E27FC236}">
                <a16:creationId xmlns:a16="http://schemas.microsoft.com/office/drawing/2014/main" id="{4FED850B-8D32-39FA-21AF-95B0D81EE420}"/>
              </a:ext>
            </a:extLst>
          </p:cNvPr>
          <p:cNvSpPr>
            <a:spLocks noGrp="1"/>
          </p:cNvSpPr>
          <p:nvPr>
            <p:ph type="subTitle" idx="1"/>
          </p:nvPr>
        </p:nvSpPr>
        <p:spPr>
          <a:xfrm>
            <a:off x="6099055" y="4629217"/>
            <a:ext cx="5449479" cy="1499873"/>
          </a:xfrm>
        </p:spPr>
        <p:txBody>
          <a:bodyPr anchor="b">
            <a:normAutofit/>
          </a:bodyPr>
          <a:lstStyle/>
          <a:p>
            <a:pPr algn="r"/>
            <a:r>
              <a:rPr lang="en-US">
                <a:solidFill>
                  <a:srgbClr val="FFFFFF"/>
                </a:solidFill>
              </a:rPr>
              <a:t>Dr. Rakhee Chhibber</a:t>
            </a:r>
          </a:p>
        </p:txBody>
      </p:sp>
    </p:spTree>
    <p:extLst>
      <p:ext uri="{BB962C8B-B14F-4D97-AF65-F5344CB8AC3E}">
        <p14:creationId xmlns:p14="http://schemas.microsoft.com/office/powerpoint/2010/main" val="109438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0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40787D-B426-C7D4-7289-E5DA66411060}"/>
              </a:ext>
            </a:extLst>
          </p:cNvPr>
          <p:cNvSpPr>
            <a:spLocks noGrp="1"/>
          </p:cNvSpPr>
          <p:nvPr>
            <p:ph type="title"/>
          </p:nvPr>
        </p:nvSpPr>
        <p:spPr>
          <a:xfrm>
            <a:off x="1043631" y="809898"/>
            <a:ext cx="9942716" cy="1554480"/>
          </a:xfrm>
        </p:spPr>
        <p:txBody>
          <a:bodyPr anchor="ctr">
            <a:normAutofit/>
          </a:bodyPr>
          <a:lstStyle/>
          <a:p>
            <a:r>
              <a:rPr lang="en-US" sz="4800"/>
              <a:t>Agenda</a:t>
            </a:r>
          </a:p>
        </p:txBody>
      </p:sp>
      <p:sp>
        <p:nvSpPr>
          <p:cNvPr id="3" name="Content Placeholder 2">
            <a:extLst>
              <a:ext uri="{FF2B5EF4-FFF2-40B4-BE49-F238E27FC236}">
                <a16:creationId xmlns:a16="http://schemas.microsoft.com/office/drawing/2014/main" id="{2ACC204F-B393-E9DC-6145-BEBB39D0CDB6}"/>
              </a:ext>
            </a:extLst>
          </p:cNvPr>
          <p:cNvSpPr>
            <a:spLocks noGrp="1"/>
          </p:cNvSpPr>
          <p:nvPr>
            <p:ph idx="1"/>
          </p:nvPr>
        </p:nvSpPr>
        <p:spPr>
          <a:xfrm>
            <a:off x="1045028" y="3017522"/>
            <a:ext cx="9941319" cy="3124658"/>
          </a:xfrm>
        </p:spPr>
        <p:txBody>
          <a:bodyPr anchor="ctr">
            <a:normAutofit/>
          </a:bodyPr>
          <a:lstStyle/>
          <a:p>
            <a:pPr marL="0" indent="0">
              <a:buNone/>
            </a:pPr>
            <a:br>
              <a:rPr lang="en-US" sz="2400"/>
            </a:br>
            <a:r>
              <a:rPr lang="en-US" sz="2400"/>
              <a:t>• Concepts: Tables, relationships, keys – ER Diagrams</a:t>
            </a:r>
            <a:br>
              <a:rPr lang="en-US" sz="2400"/>
            </a:br>
            <a:r>
              <a:rPr lang="en-US" sz="2400"/>
              <a:t>• Star schema vs. flat tables</a:t>
            </a:r>
            <a:br>
              <a:rPr lang="en-US" sz="2400"/>
            </a:br>
            <a:r>
              <a:rPr lang="en-US" sz="2400"/>
              <a:t>• Creating relationships</a:t>
            </a:r>
            <a:br>
              <a:rPr lang="en-US" sz="2400"/>
            </a:br>
            <a:r>
              <a:rPr lang="en-US" sz="2400"/>
              <a:t>• Cardinality and cross-filter direction</a:t>
            </a:r>
            <a:br>
              <a:rPr lang="en-US" sz="2400"/>
            </a:br>
            <a:r>
              <a:rPr lang="en-US" sz="2400"/>
              <a:t>• Calculated columns vs. measures</a:t>
            </a:r>
            <a:br>
              <a:rPr lang="en-US" sz="2400"/>
            </a:br>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0403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B1EEE0-3251-FDCE-148B-2998B9ED05F4}"/>
              </a:ext>
            </a:extLst>
          </p:cNvPr>
          <p:cNvSpPr>
            <a:spLocks noGrp="1"/>
          </p:cNvSpPr>
          <p:nvPr>
            <p:ph type="title"/>
          </p:nvPr>
        </p:nvSpPr>
        <p:spPr>
          <a:xfrm>
            <a:off x="761803" y="350196"/>
            <a:ext cx="4646904" cy="1624520"/>
          </a:xfrm>
        </p:spPr>
        <p:txBody>
          <a:bodyPr anchor="ctr">
            <a:normAutofit/>
          </a:bodyPr>
          <a:lstStyle/>
          <a:p>
            <a:r>
              <a:rPr lang="en-US" sz="4000"/>
              <a:t>Introduction	</a:t>
            </a:r>
          </a:p>
        </p:txBody>
      </p:sp>
      <p:sp>
        <p:nvSpPr>
          <p:cNvPr id="3" name="Content Placeholder 2">
            <a:extLst>
              <a:ext uri="{FF2B5EF4-FFF2-40B4-BE49-F238E27FC236}">
                <a16:creationId xmlns:a16="http://schemas.microsoft.com/office/drawing/2014/main" id="{69CA4678-1D66-554F-639D-704B83DDBAA1}"/>
              </a:ext>
            </a:extLst>
          </p:cNvPr>
          <p:cNvSpPr>
            <a:spLocks noGrp="1"/>
          </p:cNvSpPr>
          <p:nvPr>
            <p:ph idx="1"/>
          </p:nvPr>
        </p:nvSpPr>
        <p:spPr>
          <a:xfrm>
            <a:off x="761802" y="2743200"/>
            <a:ext cx="4646905" cy="3613149"/>
          </a:xfrm>
        </p:spPr>
        <p:txBody>
          <a:bodyPr anchor="ctr">
            <a:normAutofit/>
          </a:bodyPr>
          <a:lstStyle/>
          <a:p>
            <a:r>
              <a:rPr lang="en-US" sz="2000"/>
              <a:t>Data modeling is the process of defining how data is stored, connected, and analyzed to answer business questions accurately. </a:t>
            </a:r>
          </a:p>
          <a:p>
            <a:r>
              <a:rPr lang="en-US" sz="2000"/>
              <a:t>Data modeling is the process of creating visual representations of the connections between data structures, with information about the individual attributes contained within those data structures.</a:t>
            </a:r>
            <a:br>
              <a:rPr lang="en-US" sz="2000"/>
            </a:br>
            <a:endParaRPr lang="en-US" sz="2000"/>
          </a:p>
        </p:txBody>
      </p:sp>
      <p:pic>
        <p:nvPicPr>
          <p:cNvPr id="5" name="Picture 4" descr="An abstract design with lines and financial symbols">
            <a:extLst>
              <a:ext uri="{FF2B5EF4-FFF2-40B4-BE49-F238E27FC236}">
                <a16:creationId xmlns:a16="http://schemas.microsoft.com/office/drawing/2014/main" id="{A3023E01-E57F-5E5C-B29A-E1E325B70695}"/>
              </a:ext>
            </a:extLst>
          </p:cNvPr>
          <p:cNvPicPr>
            <a:picLocks noChangeAspect="1"/>
          </p:cNvPicPr>
          <p:nvPr/>
        </p:nvPicPr>
        <p:blipFill>
          <a:blip r:embed="rId2"/>
          <a:srcRect l="19966" r="20857"/>
          <a:stretch>
            <a:fillRect/>
          </a:stretch>
        </p:blipFill>
        <p:spPr>
          <a:xfrm>
            <a:off x="6096000" y="1"/>
            <a:ext cx="6102825" cy="6858000"/>
          </a:xfrm>
          <a:prstGeom prst="rect">
            <a:avLst/>
          </a:prstGeom>
        </p:spPr>
      </p:pic>
    </p:spTree>
    <p:extLst>
      <p:ext uri="{BB962C8B-B14F-4D97-AF65-F5344CB8AC3E}">
        <p14:creationId xmlns:p14="http://schemas.microsoft.com/office/powerpoint/2010/main" val="4150286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268E5-4BCC-25C5-9ABE-463121FC5D62}"/>
              </a:ext>
            </a:extLst>
          </p:cNvPr>
          <p:cNvSpPr>
            <a:spLocks noGrp="1"/>
          </p:cNvSpPr>
          <p:nvPr>
            <p:ph type="title"/>
          </p:nvPr>
        </p:nvSpPr>
        <p:spPr/>
        <p:txBody>
          <a:bodyPr/>
          <a:lstStyle/>
          <a:p>
            <a:r>
              <a:rPr lang="en-US" b="1"/>
              <a:t>Core Concepts: Tables, Keys, and ER Diagrams</a:t>
            </a:r>
            <a:endParaRPr lang="en-US" dirty="0"/>
          </a:p>
        </p:txBody>
      </p:sp>
      <p:sp>
        <p:nvSpPr>
          <p:cNvPr id="3" name="Content Placeholder 2">
            <a:extLst>
              <a:ext uri="{FF2B5EF4-FFF2-40B4-BE49-F238E27FC236}">
                <a16:creationId xmlns:a16="http://schemas.microsoft.com/office/drawing/2014/main" id="{F15FEB17-1DED-A06B-6888-763DD0C86714}"/>
              </a:ext>
            </a:extLst>
          </p:cNvPr>
          <p:cNvSpPr>
            <a:spLocks noGrp="1"/>
          </p:cNvSpPr>
          <p:nvPr>
            <p:ph idx="1"/>
          </p:nvPr>
        </p:nvSpPr>
        <p:spPr/>
        <p:txBody>
          <a:bodyPr/>
          <a:lstStyle/>
          <a:p>
            <a:r>
              <a:rPr lang="en-US" b="1"/>
              <a:t>Tables &amp; Entities</a:t>
            </a:r>
            <a:r>
              <a:rPr lang="en-US"/>
              <a:t>: Represent real-world "things" (e.g., Students, Orders) and their details, known as attributes.</a:t>
            </a:r>
          </a:p>
          <a:p>
            <a:r>
              <a:rPr lang="en-US" b="1"/>
              <a:t>Keys</a:t>
            </a:r>
            <a:r>
              <a:rPr lang="en-US"/>
              <a:t>:</a:t>
            </a:r>
          </a:p>
          <a:p>
            <a:pPr lvl="1"/>
            <a:r>
              <a:rPr lang="en-US" b="1"/>
              <a:t>Primary Key (PK)</a:t>
            </a:r>
            <a:r>
              <a:rPr lang="en-US"/>
              <a:t>: A unique identifier for every row in a table.</a:t>
            </a:r>
          </a:p>
          <a:p>
            <a:pPr lvl="1"/>
            <a:r>
              <a:rPr lang="en-US" b="1"/>
              <a:t>Foreign Key (FK)</a:t>
            </a:r>
            <a:r>
              <a:rPr lang="en-US"/>
              <a:t>: A column that links to a PK in another table to establish a relationship.</a:t>
            </a:r>
          </a:p>
          <a:p>
            <a:r>
              <a:rPr lang="en-US" b="1"/>
              <a:t>ER Diagrams</a:t>
            </a:r>
            <a:r>
              <a:rPr lang="en-US"/>
              <a:t>: Visual maps showing how these entities relate to one another using arrows and link. </a:t>
            </a:r>
            <a:endParaRPr lang="en-US" dirty="0"/>
          </a:p>
        </p:txBody>
      </p:sp>
    </p:spTree>
    <p:extLst>
      <p:ext uri="{BB962C8B-B14F-4D97-AF65-F5344CB8AC3E}">
        <p14:creationId xmlns:p14="http://schemas.microsoft.com/office/powerpoint/2010/main" val="3466219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4FA933-FDBB-1BEB-96B2-B8EA6F78F99E}"/>
              </a:ext>
            </a:extLst>
          </p:cNvPr>
          <p:cNvSpPr>
            <a:spLocks noGrp="1"/>
          </p:cNvSpPr>
          <p:nvPr>
            <p:ph type="title"/>
          </p:nvPr>
        </p:nvSpPr>
        <p:spPr>
          <a:xfrm>
            <a:off x="411480" y="991443"/>
            <a:ext cx="4443154" cy="1087819"/>
          </a:xfrm>
        </p:spPr>
        <p:txBody>
          <a:bodyPr anchor="b">
            <a:normAutofit/>
          </a:bodyPr>
          <a:lstStyle/>
          <a:p>
            <a:r>
              <a:rPr lang="en-US" sz="3400"/>
              <a:t>Star Schema</a:t>
            </a:r>
          </a:p>
        </p:txBody>
      </p:sp>
      <p:sp>
        <p:nvSpPr>
          <p:cNvPr id="2057" name="Rectangle 2056">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59" name="Rectangle 2058">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A33CED5-A4E8-16DE-BED6-32272D0B9D2D}"/>
              </a:ext>
            </a:extLst>
          </p:cNvPr>
          <p:cNvSpPr>
            <a:spLocks noGrp="1"/>
          </p:cNvSpPr>
          <p:nvPr>
            <p:ph idx="1"/>
          </p:nvPr>
        </p:nvSpPr>
        <p:spPr>
          <a:xfrm>
            <a:off x="411480" y="2684095"/>
            <a:ext cx="4443154" cy="3492868"/>
          </a:xfrm>
        </p:spPr>
        <p:txBody>
          <a:bodyPr>
            <a:normAutofit/>
          </a:bodyPr>
          <a:lstStyle/>
          <a:p>
            <a:pPr marL="0" indent="0">
              <a:buNone/>
            </a:pPr>
            <a:r>
              <a:rPr lang="en-US" sz="2400" dirty="0"/>
              <a:t>A star schema is made up of a central fact table with multiple dimension tables branching off of this fact table, much like the appearance of a star. Ideally, it is good practice to have only one fact table in a data model</a:t>
            </a:r>
          </a:p>
        </p:txBody>
      </p:sp>
      <p:pic>
        <p:nvPicPr>
          <p:cNvPr id="2050" name="Picture 2" descr="Power BI Star Schema Screenshot 1">
            <a:extLst>
              <a:ext uri="{FF2B5EF4-FFF2-40B4-BE49-F238E27FC236}">
                <a16:creationId xmlns:a16="http://schemas.microsoft.com/office/drawing/2014/main" id="{7F733FBA-45D2-84D5-6B27-9FE1B6B35FD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00600" y="397078"/>
            <a:ext cx="7063740" cy="5862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4902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3DAD86CA-8235-409B-982B-5E7A033E2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9F234FBA-3501-47B4-AE0C-AA4AFBC8F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07" name="Rectangle 4106">
            <a:extLst>
              <a:ext uri="{FF2B5EF4-FFF2-40B4-BE49-F238E27FC236}">
                <a16:creationId xmlns:a16="http://schemas.microsoft.com/office/drawing/2014/main" id="{B5EF893B-0491-416E-9D33-BADE96007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id="{D5299A0F-733E-17CC-5FB9-B70B701B50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5910" b="19979"/>
          <a:stretch>
            <a:fillRect/>
          </a:stretch>
        </p:blipFill>
        <p:spPr bwMode="auto">
          <a:xfrm>
            <a:off x="838200" y="754148"/>
            <a:ext cx="10515600" cy="4995575"/>
          </a:xfrm>
          <a:prstGeom prst="rect">
            <a:avLst/>
          </a:prstGeom>
          <a:noFill/>
          <a:extLst>
            <a:ext uri="{909E8E84-426E-40DD-AFC4-6F175D3DCCD1}">
              <a14:hiddenFill xmlns:a14="http://schemas.microsoft.com/office/drawing/2010/main">
                <a:solidFill>
                  <a:srgbClr val="FFFFFF"/>
                </a:solidFill>
              </a14:hiddenFill>
            </a:ext>
          </a:extLst>
        </p:spPr>
      </p:pic>
      <p:cxnSp>
        <p:nvCxnSpPr>
          <p:cNvPr id="4109" name="Straight Connector 4108">
            <a:extLst>
              <a:ext uri="{FF2B5EF4-FFF2-40B4-BE49-F238E27FC236}">
                <a16:creationId xmlns:a16="http://schemas.microsoft.com/office/drawing/2014/main" id="{469F4FF8-F8B0-4630-BA1B-0D8B324CD5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3178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5E2B76-CB3D-EA5D-43AA-0E8FB3BD0C61}"/>
              </a:ext>
            </a:extLst>
          </p:cNvPr>
          <p:cNvSpPr>
            <a:spLocks noGrp="1"/>
          </p:cNvSpPr>
          <p:nvPr>
            <p:ph type="title"/>
          </p:nvPr>
        </p:nvSpPr>
        <p:spPr>
          <a:xfrm>
            <a:off x="1043631" y="809898"/>
            <a:ext cx="9942716" cy="1554480"/>
          </a:xfrm>
        </p:spPr>
        <p:txBody>
          <a:bodyPr anchor="ctr">
            <a:normAutofit/>
          </a:bodyPr>
          <a:lstStyle/>
          <a:p>
            <a:r>
              <a:rPr lang="en-US" sz="4800"/>
              <a:t>Fact tables</a:t>
            </a:r>
          </a:p>
        </p:txBody>
      </p:sp>
      <p:sp>
        <p:nvSpPr>
          <p:cNvPr id="3" name="Content Placeholder 2">
            <a:extLst>
              <a:ext uri="{FF2B5EF4-FFF2-40B4-BE49-F238E27FC236}">
                <a16:creationId xmlns:a16="http://schemas.microsoft.com/office/drawing/2014/main" id="{7B508E22-3A1B-863C-81FB-5D53368FC57B}"/>
              </a:ext>
            </a:extLst>
          </p:cNvPr>
          <p:cNvSpPr>
            <a:spLocks noGrp="1"/>
          </p:cNvSpPr>
          <p:nvPr>
            <p:ph idx="1"/>
          </p:nvPr>
        </p:nvSpPr>
        <p:spPr>
          <a:xfrm>
            <a:off x="1045028" y="3017522"/>
            <a:ext cx="9941319" cy="3124658"/>
          </a:xfrm>
        </p:spPr>
        <p:txBody>
          <a:bodyPr anchor="ctr">
            <a:normAutofit/>
          </a:bodyPr>
          <a:lstStyle/>
          <a:p>
            <a:r>
              <a:rPr lang="en-US" sz="2000"/>
              <a:t>A fact table is made up of values that can be summarized and aggregated, as well as one or more keys that link to the dimension tables. The purpose of the key is to make connections between tables. If you have complex data models or large volumes of data, it is a good idea for the keys to be numeric values rather than text strings, as this can improve the performance of the model.</a:t>
            </a:r>
          </a:p>
          <a:p>
            <a:r>
              <a:rPr lang="en-US" sz="2000"/>
              <a:t>Fact tables should be very narrow and include as few columns as possible. Any columns that describe the features of a dataset, such as Product Name or  Product Category, should be separated out of the fact table (if not already separated in the data warehouse) into their respective dimension tables. This process is called normalization of the data, and the goal is to avoid repetitiveness.</a:t>
            </a:r>
          </a:p>
          <a:p>
            <a:endParaRPr lang="en-US" sz="20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7338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A80802-76B0-E428-14D8-3D98E442AB01}"/>
              </a:ext>
            </a:extLst>
          </p:cNvPr>
          <p:cNvSpPr>
            <a:spLocks noGrp="1"/>
          </p:cNvSpPr>
          <p:nvPr>
            <p:ph type="title"/>
          </p:nvPr>
        </p:nvSpPr>
        <p:spPr>
          <a:xfrm>
            <a:off x="1043631" y="809898"/>
            <a:ext cx="9942716" cy="1554480"/>
          </a:xfrm>
        </p:spPr>
        <p:txBody>
          <a:bodyPr anchor="ctr">
            <a:normAutofit/>
          </a:bodyPr>
          <a:lstStyle/>
          <a:p>
            <a:r>
              <a:rPr lang="en-US" sz="4800"/>
              <a:t>Dimension Table</a:t>
            </a:r>
          </a:p>
        </p:txBody>
      </p:sp>
      <p:sp>
        <p:nvSpPr>
          <p:cNvPr id="3" name="Content Placeholder 2">
            <a:extLst>
              <a:ext uri="{FF2B5EF4-FFF2-40B4-BE49-F238E27FC236}">
                <a16:creationId xmlns:a16="http://schemas.microsoft.com/office/drawing/2014/main" id="{47C990B4-EDC3-3CF4-CF4F-B64F5E09F81F}"/>
              </a:ext>
            </a:extLst>
          </p:cNvPr>
          <p:cNvSpPr>
            <a:spLocks noGrp="1"/>
          </p:cNvSpPr>
          <p:nvPr>
            <p:ph idx="1"/>
          </p:nvPr>
        </p:nvSpPr>
        <p:spPr>
          <a:xfrm>
            <a:off x="1045028" y="3017522"/>
            <a:ext cx="9941319" cy="3124658"/>
          </a:xfrm>
        </p:spPr>
        <p:txBody>
          <a:bodyPr anchor="ctr">
            <a:normAutofit/>
          </a:bodyPr>
          <a:lstStyle/>
          <a:p>
            <a:r>
              <a:rPr lang="en-US" sz="2400"/>
              <a:t>Dimension tables describe the features of the dataset, where features are logically grouped together in separate tables to avoid bloating a single table or making it difficult to create relationships. The dimension tables should contain unique values for the features they are describing, and their columns will be responsible for filtering or grouping the data in the Power BI report. </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29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CC5D2A-5D5C-73F2-C997-EE9F00CEBBBD}"/>
              </a:ext>
            </a:extLst>
          </p:cNvPr>
          <p:cNvSpPr>
            <a:spLocks noGrp="1"/>
          </p:cNvSpPr>
          <p:nvPr>
            <p:ph type="title"/>
          </p:nvPr>
        </p:nvSpPr>
        <p:spPr>
          <a:xfrm>
            <a:off x="1043631" y="809898"/>
            <a:ext cx="9942716" cy="1554480"/>
          </a:xfrm>
        </p:spPr>
        <p:txBody>
          <a:bodyPr anchor="ctr">
            <a:normAutofit/>
          </a:bodyPr>
          <a:lstStyle/>
          <a:p>
            <a:r>
              <a:rPr lang="en-US" sz="4800"/>
              <a:t>Snowflake Schema</a:t>
            </a:r>
          </a:p>
        </p:txBody>
      </p:sp>
      <p:sp>
        <p:nvSpPr>
          <p:cNvPr id="3" name="Content Placeholder 2">
            <a:extLst>
              <a:ext uri="{FF2B5EF4-FFF2-40B4-BE49-F238E27FC236}">
                <a16:creationId xmlns:a16="http://schemas.microsoft.com/office/drawing/2014/main" id="{67D63BCF-F038-2756-BD40-72B54F05CE4A}"/>
              </a:ext>
            </a:extLst>
          </p:cNvPr>
          <p:cNvSpPr>
            <a:spLocks noGrp="1"/>
          </p:cNvSpPr>
          <p:nvPr>
            <p:ph idx="1"/>
          </p:nvPr>
        </p:nvSpPr>
        <p:spPr>
          <a:xfrm>
            <a:off x="1045028" y="3017522"/>
            <a:ext cx="9941319" cy="3124658"/>
          </a:xfrm>
        </p:spPr>
        <p:txBody>
          <a:bodyPr anchor="ctr">
            <a:normAutofit/>
          </a:bodyPr>
          <a:lstStyle/>
          <a:p>
            <a:r>
              <a:rPr lang="en-US" sz="2400"/>
              <a:t>An extension of the star schema is the snowflake schema. In this approach, the dimension tables are further divided if a feature has any further categories or subcategories. In our case, we have a Products table that contains the Product ID, Product Name, and Product Category. In a snowflake schema, this Products table will only contain the Product ID and the Product Name, while the Product Category would be further divided out into it’s own table with a Product Category ID and Product Category.</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79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29B374-9B90-AED4-3310-571E503146B6}"/>
              </a:ext>
            </a:extLst>
          </p:cNvPr>
          <p:cNvPicPr>
            <a:picLocks noChangeAspect="1"/>
          </p:cNvPicPr>
          <p:nvPr/>
        </p:nvPicPr>
        <p:blipFill>
          <a:blip r:embed="rId2"/>
          <a:stretch>
            <a:fillRect/>
          </a:stretch>
        </p:blipFill>
        <p:spPr>
          <a:xfrm>
            <a:off x="589110" y="286269"/>
            <a:ext cx="11103780" cy="6089317"/>
          </a:xfrm>
          <a:prstGeom prst="rect">
            <a:avLst/>
          </a:prstGeom>
        </p:spPr>
      </p:pic>
    </p:spTree>
    <p:extLst>
      <p:ext uri="{BB962C8B-B14F-4D97-AF65-F5344CB8AC3E}">
        <p14:creationId xmlns:p14="http://schemas.microsoft.com/office/powerpoint/2010/main" val="3409314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2F37F2-5D23-BF8D-9187-7D08533DF6F9}"/>
              </a:ext>
            </a:extLst>
          </p:cNvPr>
          <p:cNvSpPr>
            <a:spLocks noGrp="1"/>
          </p:cNvSpPr>
          <p:nvPr>
            <p:ph type="title"/>
          </p:nvPr>
        </p:nvSpPr>
        <p:spPr>
          <a:xfrm>
            <a:off x="1043631" y="809898"/>
            <a:ext cx="9942716" cy="1554480"/>
          </a:xfrm>
        </p:spPr>
        <p:txBody>
          <a:bodyPr anchor="ctr">
            <a:normAutofit/>
          </a:bodyPr>
          <a:lstStyle/>
          <a:p>
            <a:r>
              <a:rPr lang="en-US" sz="4800" b="1"/>
              <a:t>Star Schema vs. Flat Tables</a:t>
            </a:r>
            <a:endParaRPr lang="en-US" sz="4800"/>
          </a:p>
        </p:txBody>
      </p:sp>
      <p:sp>
        <p:nvSpPr>
          <p:cNvPr id="3" name="Content Placeholder 2">
            <a:extLst>
              <a:ext uri="{FF2B5EF4-FFF2-40B4-BE49-F238E27FC236}">
                <a16:creationId xmlns:a16="http://schemas.microsoft.com/office/drawing/2014/main" id="{170BF371-836A-F2D6-5768-993337BDB408}"/>
              </a:ext>
            </a:extLst>
          </p:cNvPr>
          <p:cNvSpPr>
            <a:spLocks noGrp="1"/>
          </p:cNvSpPr>
          <p:nvPr>
            <p:ph idx="1"/>
          </p:nvPr>
        </p:nvSpPr>
        <p:spPr>
          <a:xfrm>
            <a:off x="1045028" y="3017522"/>
            <a:ext cx="9941319" cy="3124658"/>
          </a:xfrm>
        </p:spPr>
        <p:txBody>
          <a:bodyPr anchor="ctr">
            <a:normAutofit/>
          </a:bodyPr>
          <a:lstStyle/>
          <a:p>
            <a:r>
              <a:rPr lang="en-US" sz="2400" b="1"/>
              <a:t>Star Schema</a:t>
            </a:r>
            <a:r>
              <a:rPr lang="en-US" sz="2400"/>
              <a:t>: A central </a:t>
            </a:r>
            <a:r>
              <a:rPr lang="en-US" sz="2400" b="1"/>
              <a:t>Fact Table</a:t>
            </a:r>
            <a:r>
              <a:rPr lang="en-US" sz="2400"/>
              <a:t> (numerical data like sales) surrounded by </a:t>
            </a:r>
            <a:r>
              <a:rPr lang="en-US" sz="2400" b="1"/>
              <a:t>Dimension Tables</a:t>
            </a:r>
            <a:r>
              <a:rPr lang="en-US" sz="2400"/>
              <a:t> (descriptive data like products or dates). It is the recommended best practice for tools like </a:t>
            </a:r>
            <a:r>
              <a:rPr lang="en-US" sz="2400">
                <a:hlinkClick r:id="rId2"/>
              </a:rPr>
              <a:t>Microsoft Power BI</a:t>
            </a:r>
            <a:r>
              <a:rPr lang="en-US" sz="2400"/>
              <a:t> because it optimizes query speed and simplifies reporting.</a:t>
            </a:r>
          </a:p>
          <a:p>
            <a:r>
              <a:rPr lang="en-US" sz="2400" b="1"/>
              <a:t>Flat Tables</a:t>
            </a:r>
            <a:r>
              <a:rPr lang="en-US" sz="2400"/>
              <a:t>: Consolidate all data into a single, wide table. While simple to build for small datasets, they lead to data redundancy and can slow down performance as data grows.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502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AEADF4-C09E-ED2E-7932-7DFFEA67BF20}"/>
              </a:ext>
            </a:extLst>
          </p:cNvPr>
          <p:cNvSpPr>
            <a:spLocks noGrp="1"/>
          </p:cNvSpPr>
          <p:nvPr>
            <p:ph type="title"/>
          </p:nvPr>
        </p:nvSpPr>
        <p:spPr>
          <a:xfrm>
            <a:off x="1043631" y="809898"/>
            <a:ext cx="9942716" cy="1554480"/>
          </a:xfrm>
        </p:spPr>
        <p:txBody>
          <a:bodyPr anchor="ctr">
            <a:normAutofit/>
          </a:bodyPr>
          <a:lstStyle/>
          <a:p>
            <a:r>
              <a:rPr lang="en-US" sz="4800" b="1"/>
              <a:t>Relationships and Cardinality</a:t>
            </a:r>
            <a:endParaRPr lang="en-US" sz="4800"/>
          </a:p>
        </p:txBody>
      </p:sp>
      <p:sp>
        <p:nvSpPr>
          <p:cNvPr id="3" name="Content Placeholder 2">
            <a:extLst>
              <a:ext uri="{FF2B5EF4-FFF2-40B4-BE49-F238E27FC236}">
                <a16:creationId xmlns:a16="http://schemas.microsoft.com/office/drawing/2014/main" id="{6A2E5843-2098-C2E3-8643-2CBB6C5E016A}"/>
              </a:ext>
            </a:extLst>
          </p:cNvPr>
          <p:cNvSpPr>
            <a:spLocks noGrp="1"/>
          </p:cNvSpPr>
          <p:nvPr>
            <p:ph idx="1"/>
          </p:nvPr>
        </p:nvSpPr>
        <p:spPr>
          <a:xfrm>
            <a:off x="1045028" y="3017522"/>
            <a:ext cx="9941319" cy="3124658"/>
          </a:xfrm>
        </p:spPr>
        <p:txBody>
          <a:bodyPr anchor="ctr">
            <a:normAutofit/>
          </a:bodyPr>
          <a:lstStyle/>
          <a:p>
            <a:r>
              <a:rPr lang="en-US" sz="2000"/>
              <a:t>Relationships allow tables to "talk" to each other based on common columns.</a:t>
            </a:r>
          </a:p>
          <a:p>
            <a:r>
              <a:rPr lang="en-US" sz="2000" b="1"/>
              <a:t>Cardinality</a:t>
            </a:r>
            <a:r>
              <a:rPr lang="en-US" sz="2000"/>
              <a:t>: Defines the nature of the link.</a:t>
            </a:r>
          </a:p>
          <a:p>
            <a:pPr lvl="1"/>
            <a:r>
              <a:rPr lang="en-US" sz="2000" b="1"/>
              <a:t>One-to-Many (1:*)</a:t>
            </a:r>
            <a:r>
              <a:rPr lang="en-US" sz="2000"/>
              <a:t>: The most common type; one record in a dimension table (e.g., one customer) links to many records in a fact table (e.g., many sales).</a:t>
            </a:r>
          </a:p>
          <a:p>
            <a:pPr lvl="1"/>
            <a:r>
              <a:rPr lang="en-US" sz="2000" b="1"/>
              <a:t>Many-to-Many (</a:t>
            </a:r>
            <a:r>
              <a:rPr lang="en-US" sz="2000" b="1" i="1"/>
              <a:t>:</a:t>
            </a:r>
            <a:r>
              <a:rPr lang="en-US" sz="2000" b="1"/>
              <a:t>)</a:t>
            </a:r>
            <a:r>
              <a:rPr lang="en-US" sz="2000"/>
              <a:t>: Occurs when multiple records in both tables relate to each other.</a:t>
            </a:r>
          </a:p>
          <a:p>
            <a:pPr lvl="1"/>
            <a:r>
              <a:rPr lang="en-US" sz="2000" b="1"/>
              <a:t>One-to-One (1:1)</a:t>
            </a:r>
            <a:r>
              <a:rPr lang="en-US" sz="2000"/>
              <a:t>: Each record in one table connects to exactly one record in another.</a:t>
            </a:r>
          </a:p>
          <a:p>
            <a:pPr marL="0" indent="0">
              <a:buNone/>
            </a:pPr>
            <a:endParaRPr lang="en-US" sz="20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3110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707252-261D-F474-8204-8E3AB03EA2DD}"/>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lang="en-US" sz="6600" kern="1200">
                <a:solidFill>
                  <a:schemeClr val="tx1"/>
                </a:solidFill>
                <a:latin typeface="+mj-lt"/>
                <a:ea typeface="+mj-ea"/>
                <a:cs typeface="+mj-cs"/>
              </a:rPr>
              <a:t>Thank You</a:t>
            </a:r>
          </a:p>
        </p:txBody>
      </p:sp>
    </p:spTree>
    <p:extLst>
      <p:ext uri="{BB962C8B-B14F-4D97-AF65-F5344CB8AC3E}">
        <p14:creationId xmlns:p14="http://schemas.microsoft.com/office/powerpoint/2010/main" val="34668801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1353</TotalTime>
  <Words>740</Words>
  <Application>Microsoft Office PowerPoint</Application>
  <PresentationFormat>Widescreen</PresentationFormat>
  <Paragraphs>32</Paragraphs>
  <Slides>13</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Calibri</vt:lpstr>
      <vt:lpstr>Office Theme</vt:lpstr>
      <vt:lpstr>Data Modelling</vt:lpstr>
      <vt:lpstr>Agenda</vt:lpstr>
      <vt:lpstr>Introduction </vt:lpstr>
      <vt:lpstr>Core Concepts: Tables, Keys, and ER Diagrams</vt:lpstr>
      <vt:lpstr>Star Schema</vt:lpstr>
      <vt:lpstr>PowerPoint Presentation</vt:lpstr>
      <vt:lpstr>Fact tables</vt:lpstr>
      <vt:lpstr>Dimension Table</vt:lpstr>
      <vt:lpstr>Snowflake Schema</vt:lpstr>
      <vt:lpstr>PowerPoint Presentation</vt:lpstr>
      <vt:lpstr>Star Schema vs. Flat Tables</vt:lpstr>
      <vt:lpstr>Relationships and Cardinality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2</cp:revision>
  <dcterms:created xsi:type="dcterms:W3CDTF">2026-05-21T18:41:59Z</dcterms:created>
  <dcterms:modified xsi:type="dcterms:W3CDTF">2026-05-22T17:15:00Z</dcterms:modified>
</cp:coreProperties>
</file>