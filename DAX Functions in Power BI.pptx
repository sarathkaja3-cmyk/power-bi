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4"/>
  </p:sldMasterIdLst>
  <p:notesMasterIdLst>
    <p:notesMasterId r:id="rId42"/>
  </p:notesMasterIdLst>
  <p:handoutMasterIdLst>
    <p:handoutMasterId r:id="rId43"/>
  </p:handoutMasterIdLst>
  <p:sldIdLst>
    <p:sldId id="257" r:id="rId5"/>
    <p:sldId id="258" r:id="rId6"/>
    <p:sldId id="263" r:id="rId7"/>
    <p:sldId id="264" r:id="rId8"/>
    <p:sldId id="265" r:id="rId9"/>
    <p:sldId id="262" r:id="rId10"/>
    <p:sldId id="279"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96" r:id="rId25"/>
    <p:sldId id="280" r:id="rId26"/>
    <p:sldId id="281" r:id="rId27"/>
    <p:sldId id="282" r:id="rId28"/>
    <p:sldId id="286" r:id="rId29"/>
    <p:sldId id="284" r:id="rId30"/>
    <p:sldId id="285" r:id="rId31"/>
    <p:sldId id="295" r:id="rId32"/>
    <p:sldId id="283" r:id="rId33"/>
    <p:sldId id="287" r:id="rId34"/>
    <p:sldId id="288" r:id="rId35"/>
    <p:sldId id="289" r:id="rId36"/>
    <p:sldId id="290" r:id="rId37"/>
    <p:sldId id="291" r:id="rId38"/>
    <p:sldId id="292" r:id="rId39"/>
    <p:sldId id="293" r:id="rId40"/>
    <p:sldId id="294"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04" autoAdjust="0"/>
  </p:normalViewPr>
  <p:slideViewPr>
    <p:cSldViewPr snapToGrid="0">
      <p:cViewPr varScale="1">
        <p:scale>
          <a:sx n="56" d="100"/>
          <a:sy n="56" d="100"/>
        </p:scale>
        <p:origin x="1000" y="28"/>
      </p:cViewPr>
      <p:guideLst/>
    </p:cSldViewPr>
  </p:slideViewPr>
  <p:notesTextViewPr>
    <p:cViewPr>
      <p:scale>
        <a:sx n="1" d="1"/>
        <a:sy n="1" d="1"/>
      </p:scale>
      <p:origin x="0" y="0"/>
    </p:cViewPr>
  </p:notesTextViewPr>
  <p:notesViewPr>
    <p:cSldViewPr snapToGrid="0" showGuides="1">
      <p:cViewPr varScale="1">
        <p:scale>
          <a:sx n="79" d="100"/>
          <a:sy n="79" d="100"/>
        </p:scale>
        <p:origin x="2346"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diagrams/_rels/data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00CC5D-66EA-4815-BF83-EC87CACA86E2}"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839F14A6-A518-4831-A19C-64A4FBC122AF}">
      <dgm:prSet/>
      <dgm:spPr/>
      <dgm:t>
        <a:bodyPr/>
        <a:lstStyle/>
        <a:p>
          <a:r>
            <a:rPr lang="en-US" b="1"/>
            <a:t>Calculated Tables</a:t>
          </a:r>
          <a:r>
            <a:rPr lang="en-US"/>
            <a:t> - These calculations will add an additional table to the report based on a formula. </a:t>
          </a:r>
        </a:p>
      </dgm:t>
    </dgm:pt>
    <dgm:pt modelId="{D9AF916D-F196-4769-8AE4-6A5F75116E7C}" type="parTrans" cxnId="{B03F3F06-07D0-4740-A4FB-3273DCB12D57}">
      <dgm:prSet/>
      <dgm:spPr/>
      <dgm:t>
        <a:bodyPr/>
        <a:lstStyle/>
        <a:p>
          <a:endParaRPr lang="en-US"/>
        </a:p>
      </dgm:t>
    </dgm:pt>
    <dgm:pt modelId="{F23A54DE-E171-481F-837C-15CC5A6617ED}" type="sibTrans" cxnId="{B03F3F06-07D0-4740-A4FB-3273DCB12D57}">
      <dgm:prSet/>
      <dgm:spPr/>
      <dgm:t>
        <a:bodyPr/>
        <a:lstStyle/>
        <a:p>
          <a:endParaRPr lang="en-US"/>
        </a:p>
      </dgm:t>
    </dgm:pt>
    <dgm:pt modelId="{3CB042FF-76B7-4B57-9F96-B94C09C0A9F9}">
      <dgm:prSet/>
      <dgm:spPr/>
      <dgm:t>
        <a:bodyPr/>
        <a:lstStyle/>
        <a:p>
          <a:r>
            <a:rPr lang="en-US" b="1"/>
            <a:t>Calculated Columns</a:t>
          </a:r>
          <a:r>
            <a:rPr lang="en-US"/>
            <a:t> - These calculations will add an additional column to a table based on a formula. These columns are treated like any other field in the table.</a:t>
          </a:r>
        </a:p>
      </dgm:t>
    </dgm:pt>
    <dgm:pt modelId="{8170C01A-C13D-4C48-9E03-369F1125FAAB}" type="parTrans" cxnId="{2A3E934B-670A-44F8-BAAB-51B28985F3B9}">
      <dgm:prSet/>
      <dgm:spPr/>
      <dgm:t>
        <a:bodyPr/>
        <a:lstStyle/>
        <a:p>
          <a:endParaRPr lang="en-US"/>
        </a:p>
      </dgm:t>
    </dgm:pt>
    <dgm:pt modelId="{D864720F-50B6-4881-98CA-43ABF1BEA0B1}" type="sibTrans" cxnId="{2A3E934B-670A-44F8-BAAB-51B28985F3B9}">
      <dgm:prSet/>
      <dgm:spPr/>
      <dgm:t>
        <a:bodyPr/>
        <a:lstStyle/>
        <a:p>
          <a:endParaRPr lang="en-US"/>
        </a:p>
      </dgm:t>
    </dgm:pt>
    <dgm:pt modelId="{EF8AF184-7CE0-47BD-B252-FEE286E5ABF7}">
      <dgm:prSet/>
      <dgm:spPr/>
      <dgm:t>
        <a:bodyPr/>
        <a:lstStyle/>
        <a:p>
          <a:r>
            <a:rPr lang="en-US" b="1"/>
            <a:t>Measures</a:t>
          </a:r>
          <a:r>
            <a:rPr lang="en-US"/>
            <a:t> - These calculations will add a summary or aggregated measure to a table based on a formula. </a:t>
          </a:r>
        </a:p>
      </dgm:t>
    </dgm:pt>
    <dgm:pt modelId="{ACC40E51-1D85-4ADA-8E89-0C2C3F1B7001}" type="parTrans" cxnId="{57DE4B8B-3B39-483D-9D35-9A975B9B2ACD}">
      <dgm:prSet/>
      <dgm:spPr/>
      <dgm:t>
        <a:bodyPr/>
        <a:lstStyle/>
        <a:p>
          <a:endParaRPr lang="en-US"/>
        </a:p>
      </dgm:t>
    </dgm:pt>
    <dgm:pt modelId="{88D60B42-A38B-44F0-BD25-C1E71B985E6D}" type="sibTrans" cxnId="{57DE4B8B-3B39-483D-9D35-9A975B9B2ACD}">
      <dgm:prSet/>
      <dgm:spPr/>
      <dgm:t>
        <a:bodyPr/>
        <a:lstStyle/>
        <a:p>
          <a:endParaRPr lang="en-US"/>
        </a:p>
      </dgm:t>
    </dgm:pt>
    <dgm:pt modelId="{A3D33B2C-702C-4C70-8781-DF1FD209041F}" type="pres">
      <dgm:prSet presAssocID="{6400CC5D-66EA-4815-BF83-EC87CACA86E2}" presName="linear" presStyleCnt="0">
        <dgm:presLayoutVars>
          <dgm:animLvl val="lvl"/>
          <dgm:resizeHandles val="exact"/>
        </dgm:presLayoutVars>
      </dgm:prSet>
      <dgm:spPr/>
    </dgm:pt>
    <dgm:pt modelId="{3920CA8C-2545-4D41-931B-81CE4E63679D}" type="pres">
      <dgm:prSet presAssocID="{839F14A6-A518-4831-A19C-64A4FBC122AF}" presName="parentText" presStyleLbl="node1" presStyleIdx="0" presStyleCnt="3">
        <dgm:presLayoutVars>
          <dgm:chMax val="0"/>
          <dgm:bulletEnabled val="1"/>
        </dgm:presLayoutVars>
      </dgm:prSet>
      <dgm:spPr/>
    </dgm:pt>
    <dgm:pt modelId="{CF936AF4-A03F-4CC5-B7A7-8A6D8C8C6C1D}" type="pres">
      <dgm:prSet presAssocID="{F23A54DE-E171-481F-837C-15CC5A6617ED}" presName="spacer" presStyleCnt="0"/>
      <dgm:spPr/>
    </dgm:pt>
    <dgm:pt modelId="{BF37E205-6AF0-4CE3-B9F9-5318F6AA29BD}" type="pres">
      <dgm:prSet presAssocID="{3CB042FF-76B7-4B57-9F96-B94C09C0A9F9}" presName="parentText" presStyleLbl="node1" presStyleIdx="1" presStyleCnt="3">
        <dgm:presLayoutVars>
          <dgm:chMax val="0"/>
          <dgm:bulletEnabled val="1"/>
        </dgm:presLayoutVars>
      </dgm:prSet>
      <dgm:spPr/>
    </dgm:pt>
    <dgm:pt modelId="{CC9D768D-0209-48D6-BF51-A102C6BD5F35}" type="pres">
      <dgm:prSet presAssocID="{D864720F-50B6-4881-98CA-43ABF1BEA0B1}" presName="spacer" presStyleCnt="0"/>
      <dgm:spPr/>
    </dgm:pt>
    <dgm:pt modelId="{5E96BE0B-2C30-4C81-9288-BBBDEB839E0D}" type="pres">
      <dgm:prSet presAssocID="{EF8AF184-7CE0-47BD-B252-FEE286E5ABF7}" presName="parentText" presStyleLbl="node1" presStyleIdx="2" presStyleCnt="3">
        <dgm:presLayoutVars>
          <dgm:chMax val="0"/>
          <dgm:bulletEnabled val="1"/>
        </dgm:presLayoutVars>
      </dgm:prSet>
      <dgm:spPr/>
    </dgm:pt>
  </dgm:ptLst>
  <dgm:cxnLst>
    <dgm:cxn modelId="{B03F3F06-07D0-4740-A4FB-3273DCB12D57}" srcId="{6400CC5D-66EA-4815-BF83-EC87CACA86E2}" destId="{839F14A6-A518-4831-A19C-64A4FBC122AF}" srcOrd="0" destOrd="0" parTransId="{D9AF916D-F196-4769-8AE4-6A5F75116E7C}" sibTransId="{F23A54DE-E171-481F-837C-15CC5A6617ED}"/>
    <dgm:cxn modelId="{38D25E3B-329F-48B3-99A0-5F57B6F53F1F}" type="presOf" srcId="{3CB042FF-76B7-4B57-9F96-B94C09C0A9F9}" destId="{BF37E205-6AF0-4CE3-B9F9-5318F6AA29BD}" srcOrd="0" destOrd="0" presId="urn:microsoft.com/office/officeart/2005/8/layout/vList2"/>
    <dgm:cxn modelId="{2A3E934B-670A-44F8-BAAB-51B28985F3B9}" srcId="{6400CC5D-66EA-4815-BF83-EC87CACA86E2}" destId="{3CB042FF-76B7-4B57-9F96-B94C09C0A9F9}" srcOrd="1" destOrd="0" parTransId="{8170C01A-C13D-4C48-9E03-369F1125FAAB}" sibTransId="{D864720F-50B6-4881-98CA-43ABF1BEA0B1}"/>
    <dgm:cxn modelId="{4308377B-A252-436F-B7A6-D23FBA0A68D2}" type="presOf" srcId="{839F14A6-A518-4831-A19C-64A4FBC122AF}" destId="{3920CA8C-2545-4D41-931B-81CE4E63679D}" srcOrd="0" destOrd="0" presId="urn:microsoft.com/office/officeart/2005/8/layout/vList2"/>
    <dgm:cxn modelId="{57DE4B8B-3B39-483D-9D35-9A975B9B2ACD}" srcId="{6400CC5D-66EA-4815-BF83-EC87CACA86E2}" destId="{EF8AF184-7CE0-47BD-B252-FEE286E5ABF7}" srcOrd="2" destOrd="0" parTransId="{ACC40E51-1D85-4ADA-8E89-0C2C3F1B7001}" sibTransId="{88D60B42-A38B-44F0-BD25-C1E71B985E6D}"/>
    <dgm:cxn modelId="{93B77DA8-A249-44FF-976F-660944280A97}" type="presOf" srcId="{EF8AF184-7CE0-47BD-B252-FEE286E5ABF7}" destId="{5E96BE0B-2C30-4C81-9288-BBBDEB839E0D}" srcOrd="0" destOrd="0" presId="urn:microsoft.com/office/officeart/2005/8/layout/vList2"/>
    <dgm:cxn modelId="{64908BDE-7FD5-495E-8304-EC02DCF4D0B0}" type="presOf" srcId="{6400CC5D-66EA-4815-BF83-EC87CACA86E2}" destId="{A3D33B2C-702C-4C70-8781-DF1FD209041F}" srcOrd="0" destOrd="0" presId="urn:microsoft.com/office/officeart/2005/8/layout/vList2"/>
    <dgm:cxn modelId="{FBFEF5A5-6147-40A6-8E23-044DBECF8C58}" type="presParOf" srcId="{A3D33B2C-702C-4C70-8781-DF1FD209041F}" destId="{3920CA8C-2545-4D41-931B-81CE4E63679D}" srcOrd="0" destOrd="0" presId="urn:microsoft.com/office/officeart/2005/8/layout/vList2"/>
    <dgm:cxn modelId="{BF2CFF72-BECF-412B-9E32-F002EBBE4CB3}" type="presParOf" srcId="{A3D33B2C-702C-4C70-8781-DF1FD209041F}" destId="{CF936AF4-A03F-4CC5-B7A7-8A6D8C8C6C1D}" srcOrd="1" destOrd="0" presId="urn:microsoft.com/office/officeart/2005/8/layout/vList2"/>
    <dgm:cxn modelId="{89B8B77A-28EE-4E3B-811B-4EC65B252880}" type="presParOf" srcId="{A3D33B2C-702C-4C70-8781-DF1FD209041F}" destId="{BF37E205-6AF0-4CE3-B9F9-5318F6AA29BD}" srcOrd="2" destOrd="0" presId="urn:microsoft.com/office/officeart/2005/8/layout/vList2"/>
    <dgm:cxn modelId="{5D4AF958-6A86-43AF-B6F7-58F90582D3FB}" type="presParOf" srcId="{A3D33B2C-702C-4C70-8781-DF1FD209041F}" destId="{CC9D768D-0209-48D6-BF51-A102C6BD5F35}" srcOrd="3" destOrd="0" presId="urn:microsoft.com/office/officeart/2005/8/layout/vList2"/>
    <dgm:cxn modelId="{ECA70F76-E9C8-49AC-A7ED-4CBCF228CFA3}" type="presParOf" srcId="{A3D33B2C-702C-4C70-8781-DF1FD209041F}" destId="{5E96BE0B-2C30-4C81-9288-BBBDEB839E0D}"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D365018-ABED-402C-893D-1288E4F0F150}"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1D4142E-CB5E-4A43-8654-E0BBEE84DF7B}">
      <dgm:prSet/>
      <dgm:spPr/>
      <dgm:t>
        <a:bodyPr/>
        <a:lstStyle/>
        <a:p>
          <a:r>
            <a:rPr lang="en-US"/>
            <a:t>DAX provides functions to filter and aggregate data based on specific conditions</a:t>
          </a:r>
        </a:p>
      </dgm:t>
    </dgm:pt>
    <dgm:pt modelId="{3EE909DC-9AEA-46E6-8302-E00E4FEB5914}" type="parTrans" cxnId="{5F7BF89A-9A91-4DFD-97C7-580D49660523}">
      <dgm:prSet/>
      <dgm:spPr/>
      <dgm:t>
        <a:bodyPr/>
        <a:lstStyle/>
        <a:p>
          <a:endParaRPr lang="en-US"/>
        </a:p>
      </dgm:t>
    </dgm:pt>
    <dgm:pt modelId="{95EE0F79-F749-4BB3-8DAC-79AEE143F71D}" type="sibTrans" cxnId="{5F7BF89A-9A91-4DFD-97C7-580D49660523}">
      <dgm:prSet/>
      <dgm:spPr/>
      <dgm:t>
        <a:bodyPr/>
        <a:lstStyle/>
        <a:p>
          <a:endParaRPr lang="en-US"/>
        </a:p>
      </dgm:t>
    </dgm:pt>
    <dgm:pt modelId="{44D8070C-38CD-4714-BEC6-F26AABBCA159}">
      <dgm:prSet/>
      <dgm:spPr/>
      <dgm:t>
        <a:bodyPr/>
        <a:lstStyle/>
        <a:p>
          <a:r>
            <a:rPr lang="en-US"/>
            <a:t>FILTER applies row-level conditions to a table</a:t>
          </a:r>
        </a:p>
      </dgm:t>
    </dgm:pt>
    <dgm:pt modelId="{9A7ABD81-9C41-492C-937B-35121C1CD306}" type="parTrans" cxnId="{08695A7C-30D1-427E-922A-CA96AD5D322E}">
      <dgm:prSet/>
      <dgm:spPr/>
      <dgm:t>
        <a:bodyPr/>
        <a:lstStyle/>
        <a:p>
          <a:endParaRPr lang="en-US"/>
        </a:p>
      </dgm:t>
    </dgm:pt>
    <dgm:pt modelId="{5CB44EE1-FD42-403B-8139-E2FE84901C13}" type="sibTrans" cxnId="{08695A7C-30D1-427E-922A-CA96AD5D322E}">
      <dgm:prSet/>
      <dgm:spPr/>
      <dgm:t>
        <a:bodyPr/>
        <a:lstStyle/>
        <a:p>
          <a:endParaRPr lang="en-US"/>
        </a:p>
      </dgm:t>
    </dgm:pt>
    <dgm:pt modelId="{8AF20175-1922-4FB8-8A33-2CD1BD57A157}">
      <dgm:prSet/>
      <dgm:spPr/>
      <dgm:t>
        <a:bodyPr/>
        <a:lstStyle/>
        <a:p>
          <a:r>
            <a:rPr lang="en-US"/>
            <a:t>CALCULATE modifies filter context to perform dynamic calculations</a:t>
          </a:r>
        </a:p>
      </dgm:t>
    </dgm:pt>
    <dgm:pt modelId="{AD61D208-8840-4BED-9D74-13B4D60D2D40}" type="parTrans" cxnId="{12F5D51D-28C2-4114-81C6-E17602A72534}">
      <dgm:prSet/>
      <dgm:spPr/>
      <dgm:t>
        <a:bodyPr/>
        <a:lstStyle/>
        <a:p>
          <a:endParaRPr lang="en-US"/>
        </a:p>
      </dgm:t>
    </dgm:pt>
    <dgm:pt modelId="{428FF082-2087-45CC-A1BA-80A0C8228396}" type="sibTrans" cxnId="{12F5D51D-28C2-4114-81C6-E17602A72534}">
      <dgm:prSet/>
      <dgm:spPr/>
      <dgm:t>
        <a:bodyPr/>
        <a:lstStyle/>
        <a:p>
          <a:endParaRPr lang="en-US"/>
        </a:p>
      </dgm:t>
    </dgm:pt>
    <dgm:pt modelId="{29CD8282-019E-45F9-8B8A-DA1386EBA616}">
      <dgm:prSet/>
      <dgm:spPr/>
      <dgm:t>
        <a:bodyPr/>
        <a:lstStyle/>
        <a:p>
          <a:r>
            <a:rPr lang="en-US"/>
            <a:t>SUMMARIZE creates custom aggregations for deeper analysis</a:t>
          </a:r>
        </a:p>
      </dgm:t>
    </dgm:pt>
    <dgm:pt modelId="{76FFD1CC-2E74-4576-985D-9D0DF97800B5}" type="parTrans" cxnId="{6F60ABB8-3C07-42DC-A49A-4B32ECBB8576}">
      <dgm:prSet/>
      <dgm:spPr/>
      <dgm:t>
        <a:bodyPr/>
        <a:lstStyle/>
        <a:p>
          <a:endParaRPr lang="en-US"/>
        </a:p>
      </dgm:t>
    </dgm:pt>
    <dgm:pt modelId="{EF31F804-0050-4C77-A468-A2BA1C108D1D}" type="sibTrans" cxnId="{6F60ABB8-3C07-42DC-A49A-4B32ECBB8576}">
      <dgm:prSet/>
      <dgm:spPr/>
      <dgm:t>
        <a:bodyPr/>
        <a:lstStyle/>
        <a:p>
          <a:endParaRPr lang="en-US"/>
        </a:p>
      </dgm:t>
    </dgm:pt>
    <dgm:pt modelId="{17ED3A61-C520-46B9-85A9-FB6EB02208EE}" type="pres">
      <dgm:prSet presAssocID="{BD365018-ABED-402C-893D-1288E4F0F150}" presName="root" presStyleCnt="0">
        <dgm:presLayoutVars>
          <dgm:dir/>
          <dgm:resizeHandles val="exact"/>
        </dgm:presLayoutVars>
      </dgm:prSet>
      <dgm:spPr/>
    </dgm:pt>
    <dgm:pt modelId="{BE0D7042-C784-4D4A-9DED-27C5E378F45A}" type="pres">
      <dgm:prSet presAssocID="{BD365018-ABED-402C-893D-1288E4F0F150}" presName="container" presStyleCnt="0">
        <dgm:presLayoutVars>
          <dgm:dir/>
          <dgm:resizeHandles val="exact"/>
        </dgm:presLayoutVars>
      </dgm:prSet>
      <dgm:spPr/>
    </dgm:pt>
    <dgm:pt modelId="{28FF44CA-CFE6-4C8B-BC7B-E364F0BF662F}" type="pres">
      <dgm:prSet presAssocID="{11D4142E-CB5E-4A43-8654-E0BBEE84DF7B}" presName="compNode" presStyleCnt="0"/>
      <dgm:spPr/>
    </dgm:pt>
    <dgm:pt modelId="{36738236-F86B-4806-8574-C40A64BB7CA5}" type="pres">
      <dgm:prSet presAssocID="{11D4142E-CB5E-4A43-8654-E0BBEE84DF7B}" presName="iconBgRect" presStyleLbl="bgShp" presStyleIdx="0" presStyleCnt="4"/>
      <dgm:spPr/>
    </dgm:pt>
    <dgm:pt modelId="{698213D9-0DEF-4DCD-9D70-DD3CB0B061A3}" type="pres">
      <dgm:prSet presAssocID="{11D4142E-CB5E-4A43-8654-E0BBEE84DF7B}"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chart"/>
        </a:ext>
      </dgm:extLst>
    </dgm:pt>
    <dgm:pt modelId="{BC75DB89-3684-4EA4-82E3-E01DCAE78D49}" type="pres">
      <dgm:prSet presAssocID="{11D4142E-CB5E-4A43-8654-E0BBEE84DF7B}" presName="spaceRect" presStyleCnt="0"/>
      <dgm:spPr/>
    </dgm:pt>
    <dgm:pt modelId="{C9B6A2BD-B969-47C3-B3F3-D1C2E0DC6406}" type="pres">
      <dgm:prSet presAssocID="{11D4142E-CB5E-4A43-8654-E0BBEE84DF7B}" presName="textRect" presStyleLbl="revTx" presStyleIdx="0" presStyleCnt="4">
        <dgm:presLayoutVars>
          <dgm:chMax val="1"/>
          <dgm:chPref val="1"/>
        </dgm:presLayoutVars>
      </dgm:prSet>
      <dgm:spPr/>
    </dgm:pt>
    <dgm:pt modelId="{5AA689BC-16CE-4501-BCA7-C481D425ECDC}" type="pres">
      <dgm:prSet presAssocID="{95EE0F79-F749-4BB3-8DAC-79AEE143F71D}" presName="sibTrans" presStyleLbl="sibTrans2D1" presStyleIdx="0" presStyleCnt="0"/>
      <dgm:spPr/>
    </dgm:pt>
    <dgm:pt modelId="{8C5BB904-8B0F-40E2-BCD1-0A4252C43223}" type="pres">
      <dgm:prSet presAssocID="{44D8070C-38CD-4714-BEC6-F26AABBCA159}" presName="compNode" presStyleCnt="0"/>
      <dgm:spPr/>
    </dgm:pt>
    <dgm:pt modelId="{57DF5A8C-79A7-44C4-8674-6E2FCCD1AE8D}" type="pres">
      <dgm:prSet presAssocID="{44D8070C-38CD-4714-BEC6-F26AABBCA159}" presName="iconBgRect" presStyleLbl="bgShp" presStyleIdx="1" presStyleCnt="4"/>
      <dgm:spPr/>
    </dgm:pt>
    <dgm:pt modelId="{6EAB9F65-03BB-45DF-A26B-E9C870A8A42A}" type="pres">
      <dgm:prSet presAssocID="{44D8070C-38CD-4714-BEC6-F26AABBCA159}"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ter"/>
        </a:ext>
      </dgm:extLst>
    </dgm:pt>
    <dgm:pt modelId="{AE899CF9-AAC7-4918-AB6D-57057BB6E4C4}" type="pres">
      <dgm:prSet presAssocID="{44D8070C-38CD-4714-BEC6-F26AABBCA159}" presName="spaceRect" presStyleCnt="0"/>
      <dgm:spPr/>
    </dgm:pt>
    <dgm:pt modelId="{7D4E1ACA-1986-4036-8DD2-20C5AD03257C}" type="pres">
      <dgm:prSet presAssocID="{44D8070C-38CD-4714-BEC6-F26AABBCA159}" presName="textRect" presStyleLbl="revTx" presStyleIdx="1" presStyleCnt="4">
        <dgm:presLayoutVars>
          <dgm:chMax val="1"/>
          <dgm:chPref val="1"/>
        </dgm:presLayoutVars>
      </dgm:prSet>
      <dgm:spPr/>
    </dgm:pt>
    <dgm:pt modelId="{840299BB-A0A6-4499-88B5-091986385316}" type="pres">
      <dgm:prSet presAssocID="{5CB44EE1-FD42-403B-8139-E2FE84901C13}" presName="sibTrans" presStyleLbl="sibTrans2D1" presStyleIdx="0" presStyleCnt="0"/>
      <dgm:spPr/>
    </dgm:pt>
    <dgm:pt modelId="{2B18DFA4-D12B-4681-ADF8-8B30F38AEF99}" type="pres">
      <dgm:prSet presAssocID="{8AF20175-1922-4FB8-8A33-2CD1BD57A157}" presName="compNode" presStyleCnt="0"/>
      <dgm:spPr/>
    </dgm:pt>
    <dgm:pt modelId="{343C43A6-F3BF-4FA0-AE53-B47E53BC9894}" type="pres">
      <dgm:prSet presAssocID="{8AF20175-1922-4FB8-8A33-2CD1BD57A157}" presName="iconBgRect" presStyleLbl="bgShp" presStyleIdx="2" presStyleCnt="4"/>
      <dgm:spPr/>
    </dgm:pt>
    <dgm:pt modelId="{C1403DFF-FC0C-4039-A2A0-D76E0BFC2A74}" type="pres">
      <dgm:prSet presAssocID="{8AF20175-1922-4FB8-8A33-2CD1BD57A157}"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alculator"/>
        </a:ext>
      </dgm:extLst>
    </dgm:pt>
    <dgm:pt modelId="{289A68E0-3403-4E8B-A70C-62A91A3125F9}" type="pres">
      <dgm:prSet presAssocID="{8AF20175-1922-4FB8-8A33-2CD1BD57A157}" presName="spaceRect" presStyleCnt="0"/>
      <dgm:spPr/>
    </dgm:pt>
    <dgm:pt modelId="{B9449E6D-CE8F-4563-BE5B-CC4813399BE9}" type="pres">
      <dgm:prSet presAssocID="{8AF20175-1922-4FB8-8A33-2CD1BD57A157}" presName="textRect" presStyleLbl="revTx" presStyleIdx="2" presStyleCnt="4">
        <dgm:presLayoutVars>
          <dgm:chMax val="1"/>
          <dgm:chPref val="1"/>
        </dgm:presLayoutVars>
      </dgm:prSet>
      <dgm:spPr/>
    </dgm:pt>
    <dgm:pt modelId="{FC70A565-0522-4CD6-9834-CE9A7FD2B206}" type="pres">
      <dgm:prSet presAssocID="{428FF082-2087-45CC-A1BA-80A0C8228396}" presName="sibTrans" presStyleLbl="sibTrans2D1" presStyleIdx="0" presStyleCnt="0"/>
      <dgm:spPr/>
    </dgm:pt>
    <dgm:pt modelId="{9AC364F4-D93B-46F6-8415-F047188E403B}" type="pres">
      <dgm:prSet presAssocID="{29CD8282-019E-45F9-8B8A-DA1386EBA616}" presName="compNode" presStyleCnt="0"/>
      <dgm:spPr/>
    </dgm:pt>
    <dgm:pt modelId="{EDDAA949-DA4C-48A2-8DE7-4B2DD031AE59}" type="pres">
      <dgm:prSet presAssocID="{29CD8282-019E-45F9-8B8A-DA1386EBA616}" presName="iconBgRect" presStyleLbl="bgShp" presStyleIdx="3" presStyleCnt="4"/>
      <dgm:spPr/>
    </dgm:pt>
    <dgm:pt modelId="{8B90E512-507B-47FA-8701-DB598BA4426E}" type="pres">
      <dgm:prSet presAssocID="{29CD8282-019E-45F9-8B8A-DA1386EBA61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B983F777-1427-4D4A-A9AB-AD3C337215A8}" type="pres">
      <dgm:prSet presAssocID="{29CD8282-019E-45F9-8B8A-DA1386EBA616}" presName="spaceRect" presStyleCnt="0"/>
      <dgm:spPr/>
    </dgm:pt>
    <dgm:pt modelId="{B30BEFCF-5A11-490B-8C33-42B35D2477AF}" type="pres">
      <dgm:prSet presAssocID="{29CD8282-019E-45F9-8B8A-DA1386EBA616}" presName="textRect" presStyleLbl="revTx" presStyleIdx="3" presStyleCnt="4">
        <dgm:presLayoutVars>
          <dgm:chMax val="1"/>
          <dgm:chPref val="1"/>
        </dgm:presLayoutVars>
      </dgm:prSet>
      <dgm:spPr/>
    </dgm:pt>
  </dgm:ptLst>
  <dgm:cxnLst>
    <dgm:cxn modelId="{6E4F6D1C-316A-463D-9C34-7A7A5580CF0F}" type="presOf" srcId="{44D8070C-38CD-4714-BEC6-F26AABBCA159}" destId="{7D4E1ACA-1986-4036-8DD2-20C5AD03257C}" srcOrd="0" destOrd="0" presId="urn:microsoft.com/office/officeart/2018/2/layout/IconCircleList"/>
    <dgm:cxn modelId="{12F5D51D-28C2-4114-81C6-E17602A72534}" srcId="{BD365018-ABED-402C-893D-1288E4F0F150}" destId="{8AF20175-1922-4FB8-8A33-2CD1BD57A157}" srcOrd="2" destOrd="0" parTransId="{AD61D208-8840-4BED-9D74-13B4D60D2D40}" sibTransId="{428FF082-2087-45CC-A1BA-80A0C8228396}"/>
    <dgm:cxn modelId="{5F78DC64-FF7C-4E79-AACC-DADB767DA5D0}" type="presOf" srcId="{29CD8282-019E-45F9-8B8A-DA1386EBA616}" destId="{B30BEFCF-5A11-490B-8C33-42B35D2477AF}" srcOrd="0" destOrd="0" presId="urn:microsoft.com/office/officeart/2018/2/layout/IconCircleList"/>
    <dgm:cxn modelId="{08695A7C-30D1-427E-922A-CA96AD5D322E}" srcId="{BD365018-ABED-402C-893D-1288E4F0F150}" destId="{44D8070C-38CD-4714-BEC6-F26AABBCA159}" srcOrd="1" destOrd="0" parTransId="{9A7ABD81-9C41-492C-937B-35121C1CD306}" sibTransId="{5CB44EE1-FD42-403B-8139-E2FE84901C13}"/>
    <dgm:cxn modelId="{A1D81994-E3BA-40F2-8E8A-152FE58F2DF2}" type="presOf" srcId="{11D4142E-CB5E-4A43-8654-E0BBEE84DF7B}" destId="{C9B6A2BD-B969-47C3-B3F3-D1C2E0DC6406}" srcOrd="0" destOrd="0" presId="urn:microsoft.com/office/officeart/2018/2/layout/IconCircleList"/>
    <dgm:cxn modelId="{5F7BF89A-9A91-4DFD-97C7-580D49660523}" srcId="{BD365018-ABED-402C-893D-1288E4F0F150}" destId="{11D4142E-CB5E-4A43-8654-E0BBEE84DF7B}" srcOrd="0" destOrd="0" parTransId="{3EE909DC-9AEA-46E6-8302-E00E4FEB5914}" sibTransId="{95EE0F79-F749-4BB3-8DAC-79AEE143F71D}"/>
    <dgm:cxn modelId="{334C22A5-BE8F-4051-9149-5CE4CA4B665B}" type="presOf" srcId="{95EE0F79-F749-4BB3-8DAC-79AEE143F71D}" destId="{5AA689BC-16CE-4501-BCA7-C481D425ECDC}" srcOrd="0" destOrd="0" presId="urn:microsoft.com/office/officeart/2018/2/layout/IconCircleList"/>
    <dgm:cxn modelId="{BE7220A7-E363-44F5-B623-7B16812D66DA}" type="presOf" srcId="{BD365018-ABED-402C-893D-1288E4F0F150}" destId="{17ED3A61-C520-46B9-85A9-FB6EB02208EE}" srcOrd="0" destOrd="0" presId="urn:microsoft.com/office/officeart/2018/2/layout/IconCircleList"/>
    <dgm:cxn modelId="{6F60ABB8-3C07-42DC-A49A-4B32ECBB8576}" srcId="{BD365018-ABED-402C-893D-1288E4F0F150}" destId="{29CD8282-019E-45F9-8B8A-DA1386EBA616}" srcOrd="3" destOrd="0" parTransId="{76FFD1CC-2E74-4576-985D-9D0DF97800B5}" sibTransId="{EF31F804-0050-4C77-A468-A2BA1C108D1D}"/>
    <dgm:cxn modelId="{021559C3-E6C8-495C-9669-27B747E097B5}" type="presOf" srcId="{428FF082-2087-45CC-A1BA-80A0C8228396}" destId="{FC70A565-0522-4CD6-9834-CE9A7FD2B206}" srcOrd="0" destOrd="0" presId="urn:microsoft.com/office/officeart/2018/2/layout/IconCircleList"/>
    <dgm:cxn modelId="{178560C7-E7FC-4979-90C6-997107ACDD28}" type="presOf" srcId="{5CB44EE1-FD42-403B-8139-E2FE84901C13}" destId="{840299BB-A0A6-4499-88B5-091986385316}" srcOrd="0" destOrd="0" presId="urn:microsoft.com/office/officeart/2018/2/layout/IconCircleList"/>
    <dgm:cxn modelId="{F18EF1D7-8431-4217-8DD3-5D4F6D8A88F9}" type="presOf" srcId="{8AF20175-1922-4FB8-8A33-2CD1BD57A157}" destId="{B9449E6D-CE8F-4563-BE5B-CC4813399BE9}" srcOrd="0" destOrd="0" presId="urn:microsoft.com/office/officeart/2018/2/layout/IconCircleList"/>
    <dgm:cxn modelId="{1AAC026A-A74D-40D2-AE64-477D622E02FB}" type="presParOf" srcId="{17ED3A61-C520-46B9-85A9-FB6EB02208EE}" destId="{BE0D7042-C784-4D4A-9DED-27C5E378F45A}" srcOrd="0" destOrd="0" presId="urn:microsoft.com/office/officeart/2018/2/layout/IconCircleList"/>
    <dgm:cxn modelId="{069EA8EE-A4A6-409B-BD48-536418B1FF69}" type="presParOf" srcId="{BE0D7042-C784-4D4A-9DED-27C5E378F45A}" destId="{28FF44CA-CFE6-4C8B-BC7B-E364F0BF662F}" srcOrd="0" destOrd="0" presId="urn:microsoft.com/office/officeart/2018/2/layout/IconCircleList"/>
    <dgm:cxn modelId="{EDC841AB-D2DF-4343-99DC-B4C4B9636021}" type="presParOf" srcId="{28FF44CA-CFE6-4C8B-BC7B-E364F0BF662F}" destId="{36738236-F86B-4806-8574-C40A64BB7CA5}" srcOrd="0" destOrd="0" presId="urn:microsoft.com/office/officeart/2018/2/layout/IconCircleList"/>
    <dgm:cxn modelId="{BA368117-2CF4-4B4B-BB6D-062102CC0812}" type="presParOf" srcId="{28FF44CA-CFE6-4C8B-BC7B-E364F0BF662F}" destId="{698213D9-0DEF-4DCD-9D70-DD3CB0B061A3}" srcOrd="1" destOrd="0" presId="urn:microsoft.com/office/officeart/2018/2/layout/IconCircleList"/>
    <dgm:cxn modelId="{E2760642-223A-46D5-B08B-D3D01215F03A}" type="presParOf" srcId="{28FF44CA-CFE6-4C8B-BC7B-E364F0BF662F}" destId="{BC75DB89-3684-4EA4-82E3-E01DCAE78D49}" srcOrd="2" destOrd="0" presId="urn:microsoft.com/office/officeart/2018/2/layout/IconCircleList"/>
    <dgm:cxn modelId="{CC64AD60-90D1-452F-A24D-1AF820D560E1}" type="presParOf" srcId="{28FF44CA-CFE6-4C8B-BC7B-E364F0BF662F}" destId="{C9B6A2BD-B969-47C3-B3F3-D1C2E0DC6406}" srcOrd="3" destOrd="0" presId="urn:microsoft.com/office/officeart/2018/2/layout/IconCircleList"/>
    <dgm:cxn modelId="{26EC691C-FB49-4475-9617-02A0E15B32CD}" type="presParOf" srcId="{BE0D7042-C784-4D4A-9DED-27C5E378F45A}" destId="{5AA689BC-16CE-4501-BCA7-C481D425ECDC}" srcOrd="1" destOrd="0" presId="urn:microsoft.com/office/officeart/2018/2/layout/IconCircleList"/>
    <dgm:cxn modelId="{3E6CF46A-B1AF-4335-A5B3-E44A23EA08A4}" type="presParOf" srcId="{BE0D7042-C784-4D4A-9DED-27C5E378F45A}" destId="{8C5BB904-8B0F-40E2-BCD1-0A4252C43223}" srcOrd="2" destOrd="0" presId="urn:microsoft.com/office/officeart/2018/2/layout/IconCircleList"/>
    <dgm:cxn modelId="{1FD066D8-9864-413A-8E31-8015CA979F83}" type="presParOf" srcId="{8C5BB904-8B0F-40E2-BCD1-0A4252C43223}" destId="{57DF5A8C-79A7-44C4-8674-6E2FCCD1AE8D}" srcOrd="0" destOrd="0" presId="urn:microsoft.com/office/officeart/2018/2/layout/IconCircleList"/>
    <dgm:cxn modelId="{B15842D3-5D0E-4E8D-B8E9-A6CF306E9B70}" type="presParOf" srcId="{8C5BB904-8B0F-40E2-BCD1-0A4252C43223}" destId="{6EAB9F65-03BB-45DF-A26B-E9C870A8A42A}" srcOrd="1" destOrd="0" presId="urn:microsoft.com/office/officeart/2018/2/layout/IconCircleList"/>
    <dgm:cxn modelId="{AA0B7FF3-9131-4CC2-AE15-70CA4824DF20}" type="presParOf" srcId="{8C5BB904-8B0F-40E2-BCD1-0A4252C43223}" destId="{AE899CF9-AAC7-4918-AB6D-57057BB6E4C4}" srcOrd="2" destOrd="0" presId="urn:microsoft.com/office/officeart/2018/2/layout/IconCircleList"/>
    <dgm:cxn modelId="{32408E0C-7BF7-4732-A90D-2AE914608DD4}" type="presParOf" srcId="{8C5BB904-8B0F-40E2-BCD1-0A4252C43223}" destId="{7D4E1ACA-1986-4036-8DD2-20C5AD03257C}" srcOrd="3" destOrd="0" presId="urn:microsoft.com/office/officeart/2018/2/layout/IconCircleList"/>
    <dgm:cxn modelId="{C98DD142-9BEE-4DAE-9B70-4766C60D4525}" type="presParOf" srcId="{BE0D7042-C784-4D4A-9DED-27C5E378F45A}" destId="{840299BB-A0A6-4499-88B5-091986385316}" srcOrd="3" destOrd="0" presId="urn:microsoft.com/office/officeart/2018/2/layout/IconCircleList"/>
    <dgm:cxn modelId="{314585D7-7471-4E56-9C69-C2CA30FBD2E2}" type="presParOf" srcId="{BE0D7042-C784-4D4A-9DED-27C5E378F45A}" destId="{2B18DFA4-D12B-4681-ADF8-8B30F38AEF99}" srcOrd="4" destOrd="0" presId="urn:microsoft.com/office/officeart/2018/2/layout/IconCircleList"/>
    <dgm:cxn modelId="{C7EA5BCD-4688-43F0-909B-0F8B1AE87CD6}" type="presParOf" srcId="{2B18DFA4-D12B-4681-ADF8-8B30F38AEF99}" destId="{343C43A6-F3BF-4FA0-AE53-B47E53BC9894}" srcOrd="0" destOrd="0" presId="urn:microsoft.com/office/officeart/2018/2/layout/IconCircleList"/>
    <dgm:cxn modelId="{E130236C-7495-4B43-8DB3-CC832B7744B0}" type="presParOf" srcId="{2B18DFA4-D12B-4681-ADF8-8B30F38AEF99}" destId="{C1403DFF-FC0C-4039-A2A0-D76E0BFC2A74}" srcOrd="1" destOrd="0" presId="urn:microsoft.com/office/officeart/2018/2/layout/IconCircleList"/>
    <dgm:cxn modelId="{6E0EFB2D-5EDF-4D84-B881-CD10EA1B3E32}" type="presParOf" srcId="{2B18DFA4-D12B-4681-ADF8-8B30F38AEF99}" destId="{289A68E0-3403-4E8B-A70C-62A91A3125F9}" srcOrd="2" destOrd="0" presId="urn:microsoft.com/office/officeart/2018/2/layout/IconCircleList"/>
    <dgm:cxn modelId="{35C099D5-C4BE-4E39-9A07-335F9E6215D1}" type="presParOf" srcId="{2B18DFA4-D12B-4681-ADF8-8B30F38AEF99}" destId="{B9449E6D-CE8F-4563-BE5B-CC4813399BE9}" srcOrd="3" destOrd="0" presId="urn:microsoft.com/office/officeart/2018/2/layout/IconCircleList"/>
    <dgm:cxn modelId="{0F4B3C56-866F-4EBE-BD14-4C31BDC38BC1}" type="presParOf" srcId="{BE0D7042-C784-4D4A-9DED-27C5E378F45A}" destId="{FC70A565-0522-4CD6-9834-CE9A7FD2B206}" srcOrd="5" destOrd="0" presId="urn:microsoft.com/office/officeart/2018/2/layout/IconCircleList"/>
    <dgm:cxn modelId="{ACE065CD-A6AB-4B27-A726-58673C595855}" type="presParOf" srcId="{BE0D7042-C784-4D4A-9DED-27C5E378F45A}" destId="{9AC364F4-D93B-46F6-8415-F047188E403B}" srcOrd="6" destOrd="0" presId="urn:microsoft.com/office/officeart/2018/2/layout/IconCircleList"/>
    <dgm:cxn modelId="{A79E4A0C-544C-4C14-9E3E-115A7C6E51A9}" type="presParOf" srcId="{9AC364F4-D93B-46F6-8415-F047188E403B}" destId="{EDDAA949-DA4C-48A2-8DE7-4B2DD031AE59}" srcOrd="0" destOrd="0" presId="urn:microsoft.com/office/officeart/2018/2/layout/IconCircleList"/>
    <dgm:cxn modelId="{52EA106B-F7BB-4A1F-AB61-4B2FB6251856}" type="presParOf" srcId="{9AC364F4-D93B-46F6-8415-F047188E403B}" destId="{8B90E512-507B-47FA-8701-DB598BA4426E}" srcOrd="1" destOrd="0" presId="urn:microsoft.com/office/officeart/2018/2/layout/IconCircleList"/>
    <dgm:cxn modelId="{252D5956-B5A4-4EE8-9C75-97DA5B297D11}" type="presParOf" srcId="{9AC364F4-D93B-46F6-8415-F047188E403B}" destId="{B983F777-1427-4D4A-A9AB-AD3C337215A8}" srcOrd="2" destOrd="0" presId="urn:microsoft.com/office/officeart/2018/2/layout/IconCircleList"/>
    <dgm:cxn modelId="{DA3C0F21-AE4B-4E7C-8A2A-5A5BCE8E3F92}" type="presParOf" srcId="{9AC364F4-D93B-46F6-8415-F047188E403B}" destId="{B30BEFCF-5A11-490B-8C33-42B35D2477A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20CA8C-2545-4D41-931B-81CE4E63679D}">
      <dsp:nvSpPr>
        <dsp:cNvPr id="0" name=""/>
        <dsp:cNvSpPr/>
      </dsp:nvSpPr>
      <dsp:spPr>
        <a:xfrm>
          <a:off x="0" y="29076"/>
          <a:ext cx="5913437" cy="1484071"/>
        </a:xfrm>
        <a:prstGeom prst="roundRect">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Calculated Tables</a:t>
          </a:r>
          <a:r>
            <a:rPr lang="en-US" sz="2200" kern="1200"/>
            <a:t> - These calculations will add an additional table to the report based on a formula. </a:t>
          </a:r>
        </a:p>
      </dsp:txBody>
      <dsp:txXfrm>
        <a:off x="72446" y="101522"/>
        <a:ext cx="5768545" cy="1339179"/>
      </dsp:txXfrm>
    </dsp:sp>
    <dsp:sp modelId="{BF37E205-6AF0-4CE3-B9F9-5318F6AA29BD}">
      <dsp:nvSpPr>
        <dsp:cNvPr id="0" name=""/>
        <dsp:cNvSpPr/>
      </dsp:nvSpPr>
      <dsp:spPr>
        <a:xfrm>
          <a:off x="0" y="1576508"/>
          <a:ext cx="5913437" cy="1484071"/>
        </a:xfrm>
        <a:prstGeom prst="roundRect">
          <a:avLst/>
        </a:prstGeom>
        <a:gradFill rotWithShape="0">
          <a:gsLst>
            <a:gs pos="0">
              <a:schemeClr val="accent2">
                <a:hueOff val="-1696488"/>
                <a:satOff val="5592"/>
                <a:lumOff val="5981"/>
                <a:alphaOff val="0"/>
                <a:tint val="98000"/>
                <a:satMod val="110000"/>
                <a:lumMod val="104000"/>
              </a:schemeClr>
            </a:gs>
            <a:gs pos="69000">
              <a:schemeClr val="accent2">
                <a:hueOff val="-1696488"/>
                <a:satOff val="5592"/>
                <a:lumOff val="5981"/>
                <a:alphaOff val="0"/>
                <a:shade val="88000"/>
                <a:satMod val="130000"/>
                <a:lumMod val="92000"/>
              </a:schemeClr>
            </a:gs>
            <a:gs pos="100000">
              <a:schemeClr val="accent2">
                <a:hueOff val="-1696488"/>
                <a:satOff val="5592"/>
                <a:lumOff val="5981"/>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Calculated Columns</a:t>
          </a:r>
          <a:r>
            <a:rPr lang="en-US" sz="2200" kern="1200"/>
            <a:t> - These calculations will add an additional column to a table based on a formula. These columns are treated like any other field in the table.</a:t>
          </a:r>
        </a:p>
      </dsp:txBody>
      <dsp:txXfrm>
        <a:off x="72446" y="1648954"/>
        <a:ext cx="5768545" cy="1339179"/>
      </dsp:txXfrm>
    </dsp:sp>
    <dsp:sp modelId="{5E96BE0B-2C30-4C81-9288-BBBDEB839E0D}">
      <dsp:nvSpPr>
        <dsp:cNvPr id="0" name=""/>
        <dsp:cNvSpPr/>
      </dsp:nvSpPr>
      <dsp:spPr>
        <a:xfrm>
          <a:off x="0" y="3123939"/>
          <a:ext cx="5913437" cy="1484071"/>
        </a:xfrm>
        <a:prstGeom prst="roundRect">
          <a:avLst/>
        </a:prstGeom>
        <a:gradFill rotWithShape="0">
          <a:gsLst>
            <a:gs pos="0">
              <a:schemeClr val="accent2">
                <a:hueOff val="-3392975"/>
                <a:satOff val="11185"/>
                <a:lumOff val="11961"/>
                <a:alphaOff val="0"/>
                <a:tint val="98000"/>
                <a:satMod val="110000"/>
                <a:lumMod val="104000"/>
              </a:schemeClr>
            </a:gs>
            <a:gs pos="69000">
              <a:schemeClr val="accent2">
                <a:hueOff val="-3392975"/>
                <a:satOff val="11185"/>
                <a:lumOff val="11961"/>
                <a:alphaOff val="0"/>
                <a:shade val="88000"/>
                <a:satMod val="130000"/>
                <a:lumMod val="92000"/>
              </a:schemeClr>
            </a:gs>
            <a:gs pos="100000">
              <a:schemeClr val="accent2">
                <a:hueOff val="-3392975"/>
                <a:satOff val="11185"/>
                <a:lumOff val="11961"/>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Measures</a:t>
          </a:r>
          <a:r>
            <a:rPr lang="en-US" sz="2200" kern="1200"/>
            <a:t> - These calculations will add a summary or aggregated measure to a table based on a formula. </a:t>
          </a:r>
        </a:p>
      </dsp:txBody>
      <dsp:txXfrm>
        <a:off x="72446" y="3196385"/>
        <a:ext cx="5768545" cy="13391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738236-F86B-4806-8574-C40A64BB7CA5}">
      <dsp:nvSpPr>
        <dsp:cNvPr id="0" name=""/>
        <dsp:cNvSpPr/>
      </dsp:nvSpPr>
      <dsp:spPr>
        <a:xfrm>
          <a:off x="57854" y="288956"/>
          <a:ext cx="1256182" cy="125618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8213D9-0DEF-4DCD-9D70-DD3CB0B061A3}">
      <dsp:nvSpPr>
        <dsp:cNvPr id="0" name=""/>
        <dsp:cNvSpPr/>
      </dsp:nvSpPr>
      <dsp:spPr>
        <a:xfrm>
          <a:off x="321652" y="552754"/>
          <a:ext cx="728586" cy="728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B6A2BD-B969-47C3-B3F3-D1C2E0DC6406}">
      <dsp:nvSpPr>
        <dsp:cNvPr id="0" name=""/>
        <dsp:cNvSpPr/>
      </dsp:nvSpPr>
      <dsp:spPr>
        <a:xfrm>
          <a:off x="1583219" y="288956"/>
          <a:ext cx="2961002" cy="125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DAX provides functions to filter and aggregate data based on specific conditions</a:t>
          </a:r>
        </a:p>
      </dsp:txBody>
      <dsp:txXfrm>
        <a:off x="1583219" y="288956"/>
        <a:ext cx="2961002" cy="1256182"/>
      </dsp:txXfrm>
    </dsp:sp>
    <dsp:sp modelId="{57DF5A8C-79A7-44C4-8674-6E2FCCD1AE8D}">
      <dsp:nvSpPr>
        <dsp:cNvPr id="0" name=""/>
        <dsp:cNvSpPr/>
      </dsp:nvSpPr>
      <dsp:spPr>
        <a:xfrm>
          <a:off x="5060153" y="288956"/>
          <a:ext cx="1256182" cy="125618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AB9F65-03BB-45DF-A26B-E9C870A8A42A}">
      <dsp:nvSpPr>
        <dsp:cNvPr id="0" name=""/>
        <dsp:cNvSpPr/>
      </dsp:nvSpPr>
      <dsp:spPr>
        <a:xfrm>
          <a:off x="5323952" y="552754"/>
          <a:ext cx="728586" cy="728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D4E1ACA-1986-4036-8DD2-20C5AD03257C}">
      <dsp:nvSpPr>
        <dsp:cNvPr id="0" name=""/>
        <dsp:cNvSpPr/>
      </dsp:nvSpPr>
      <dsp:spPr>
        <a:xfrm>
          <a:off x="6585518" y="288956"/>
          <a:ext cx="2961002" cy="125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FILTER applies row-level conditions to a table</a:t>
          </a:r>
        </a:p>
      </dsp:txBody>
      <dsp:txXfrm>
        <a:off x="6585518" y="288956"/>
        <a:ext cx="2961002" cy="1256182"/>
      </dsp:txXfrm>
    </dsp:sp>
    <dsp:sp modelId="{343C43A6-F3BF-4FA0-AE53-B47E53BC9894}">
      <dsp:nvSpPr>
        <dsp:cNvPr id="0" name=""/>
        <dsp:cNvSpPr/>
      </dsp:nvSpPr>
      <dsp:spPr>
        <a:xfrm>
          <a:off x="57854" y="2178087"/>
          <a:ext cx="1256182" cy="125618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403DFF-FC0C-4039-A2A0-D76E0BFC2A74}">
      <dsp:nvSpPr>
        <dsp:cNvPr id="0" name=""/>
        <dsp:cNvSpPr/>
      </dsp:nvSpPr>
      <dsp:spPr>
        <a:xfrm>
          <a:off x="321652" y="2441886"/>
          <a:ext cx="728586" cy="728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449E6D-CE8F-4563-BE5B-CC4813399BE9}">
      <dsp:nvSpPr>
        <dsp:cNvPr id="0" name=""/>
        <dsp:cNvSpPr/>
      </dsp:nvSpPr>
      <dsp:spPr>
        <a:xfrm>
          <a:off x="1583219" y="2178087"/>
          <a:ext cx="2961002" cy="125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CALCULATE modifies filter context to perform dynamic calculations</a:t>
          </a:r>
        </a:p>
      </dsp:txBody>
      <dsp:txXfrm>
        <a:off x="1583219" y="2178087"/>
        <a:ext cx="2961002" cy="1256182"/>
      </dsp:txXfrm>
    </dsp:sp>
    <dsp:sp modelId="{EDDAA949-DA4C-48A2-8DE7-4B2DD031AE59}">
      <dsp:nvSpPr>
        <dsp:cNvPr id="0" name=""/>
        <dsp:cNvSpPr/>
      </dsp:nvSpPr>
      <dsp:spPr>
        <a:xfrm>
          <a:off x="5060153" y="2178087"/>
          <a:ext cx="1256182" cy="1256182"/>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90E512-507B-47FA-8701-DB598BA4426E}">
      <dsp:nvSpPr>
        <dsp:cNvPr id="0" name=""/>
        <dsp:cNvSpPr/>
      </dsp:nvSpPr>
      <dsp:spPr>
        <a:xfrm>
          <a:off x="5323952" y="2441886"/>
          <a:ext cx="728586" cy="728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30BEFCF-5A11-490B-8C33-42B35D2477AF}">
      <dsp:nvSpPr>
        <dsp:cNvPr id="0" name=""/>
        <dsp:cNvSpPr/>
      </dsp:nvSpPr>
      <dsp:spPr>
        <a:xfrm>
          <a:off x="6585518" y="2178087"/>
          <a:ext cx="2961002" cy="125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SUMMARIZE creates custom aggregations for deeper analysis</a:t>
          </a:r>
        </a:p>
      </dsp:txBody>
      <dsp:txXfrm>
        <a:off x="6585518" y="2178087"/>
        <a:ext cx="2961002" cy="125618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DC2751-278C-4682-9C3F-0FF7B4FCFAE7}" type="datetimeFigureOut">
              <a:rPr lang="en-US" smtClean="0"/>
              <a:t>7/31/2026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286890-466E-41CD-A28A-B1EBDF22CA33}" type="slidenum">
              <a:rPr lang="en-US" smtClean="0"/>
              <a:t>‹#›</a:t>
            </a:fld>
            <a:endParaRPr lang="en-US" dirty="0"/>
          </a:p>
        </p:txBody>
      </p:sp>
    </p:spTree>
    <p:extLst>
      <p:ext uri="{BB962C8B-B14F-4D97-AF65-F5344CB8AC3E}">
        <p14:creationId xmlns:p14="http://schemas.microsoft.com/office/powerpoint/2010/main" val="15862942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FF0845-D09E-4AF9-9623-EA7EA0297EF3}" type="datetimeFigureOut">
              <a:rPr lang="en-US" smtClean="0"/>
              <a:t>7/31/2026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7CD11A-EED3-40CE-98A3-28FEE84867B3}" type="slidenum">
              <a:rPr lang="en-US" smtClean="0"/>
              <a:t>‹#›</a:t>
            </a:fld>
            <a:endParaRPr lang="en-US" dirty="0"/>
          </a:p>
        </p:txBody>
      </p:sp>
    </p:spTree>
    <p:extLst>
      <p:ext uri="{BB962C8B-B14F-4D97-AF65-F5344CB8AC3E}">
        <p14:creationId xmlns:p14="http://schemas.microsoft.com/office/powerpoint/2010/main" val="199576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7CD11A-EED3-40CE-98A3-28FEE84867B3}" type="slidenum">
              <a:rPr lang="en-US" smtClean="0"/>
              <a:t>1</a:t>
            </a:fld>
            <a:endParaRPr lang="en-US" dirty="0"/>
          </a:p>
        </p:txBody>
      </p:sp>
    </p:spTree>
    <p:extLst>
      <p:ext uri="{BB962C8B-B14F-4D97-AF65-F5344CB8AC3E}">
        <p14:creationId xmlns:p14="http://schemas.microsoft.com/office/powerpoint/2010/main" val="2491160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409693A-2307-4FDC-9539-08DC9083DDED}" type="datetime1">
              <a:rPr lang="en-US" smtClean="0"/>
              <a:t>7/31/2026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r>
              <a:rPr lang="en-US"/>
              <a:t>Add a footer</a:t>
            </a:r>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E5B29C50-D6F1-4DB6-9B68-F4CD3996E9CF}" type="slidenum">
              <a:rPr lang="en-US" smtClean="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5999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0E1C1-C26F-4479-A8BD-144B4C139DA5}" type="datetime1">
              <a:rPr lang="en-US" smtClean="0"/>
              <a:t>7/31/2026</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E5B29C50-D6F1-4DB6-9B68-F4CD3996E9CF}" type="slidenum">
              <a:rPr lang="en-US" smtClean="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70946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519E61-C2D6-49AB-83F2-8FC9FEFBDAFD}" type="datetime1">
              <a:rPr lang="en-US" smtClean="0"/>
              <a:t>7/31/2026</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E5B29C50-D6F1-4DB6-9B68-F4CD3996E9CF}" type="slidenum">
              <a:rPr lang="en-US" smtClean="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80989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7BE74F-367A-4D3C-8AA7-FA60CCA05EAE}" type="datetime1">
              <a:rPr lang="en-US" smtClean="0"/>
              <a:t>7/31/2026</a:t>
            </a:fld>
            <a:endParaRPr lang="en-US" dirty="0"/>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E5B29C50-D6F1-4DB6-9B68-F4CD3996E9CF}" type="slidenum">
              <a:rPr lang="en-US" smtClean="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7199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CABDA2-EB00-4A4D-86B7-63E286A484E5}" type="datetime1">
              <a:rPr lang="en-US" smtClean="0"/>
              <a:t>7/31/2026</a:t>
            </a:fld>
            <a:endParaRPr lang="en-US" dirty="0"/>
          </a:p>
        </p:txBody>
      </p:sp>
      <p:sp>
        <p:nvSpPr>
          <p:cNvPr id="8" name="Footer Placeholder 7"/>
          <p:cNvSpPr>
            <a:spLocks noGrp="1"/>
          </p:cNvSpPr>
          <p:nvPr>
            <p:ph type="ftr" sz="quarter" idx="11"/>
          </p:nvPr>
        </p:nvSpPr>
        <p:spPr/>
        <p:txBody>
          <a:bodyPr/>
          <a:lstStyle/>
          <a:p>
            <a:r>
              <a:rPr lang="en-US"/>
              <a:t>Add a footer</a:t>
            </a:r>
            <a:endParaRPr lang="en-US" dirty="0"/>
          </a:p>
        </p:txBody>
      </p:sp>
      <p:sp>
        <p:nvSpPr>
          <p:cNvPr id="9" name="Slide Number Placeholder 8"/>
          <p:cNvSpPr>
            <a:spLocks noGrp="1"/>
          </p:cNvSpPr>
          <p:nvPr>
            <p:ph type="sldNum" sz="quarter" idx="12"/>
          </p:nvPr>
        </p:nvSpPr>
        <p:spPr/>
        <p:txBody>
          <a:bodyPr/>
          <a:lstStyle/>
          <a:p>
            <a:fld id="{E5B29C50-D6F1-4DB6-9B68-F4CD3996E9CF}"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2819994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49EFD6-3C20-43C6-9E75-1A9D48D9576F}" type="datetime1">
              <a:rPr lang="en-US" smtClean="0"/>
              <a:t>7/31/2026</a:t>
            </a:fld>
            <a:endParaRPr lang="en-US" dirty="0"/>
          </a:p>
        </p:txBody>
      </p:sp>
      <p:sp>
        <p:nvSpPr>
          <p:cNvPr id="4" name="Footer Placeholder 3"/>
          <p:cNvSpPr>
            <a:spLocks noGrp="1"/>
          </p:cNvSpPr>
          <p:nvPr>
            <p:ph type="ftr" sz="quarter" idx="11"/>
          </p:nvPr>
        </p:nvSpPr>
        <p:spPr/>
        <p:txBody>
          <a:bodyPr/>
          <a:lstStyle/>
          <a:p>
            <a:r>
              <a:rPr lang="en-US"/>
              <a:t>Add a footer</a:t>
            </a:r>
            <a:endParaRPr lang="en-US" dirty="0"/>
          </a:p>
        </p:txBody>
      </p:sp>
      <p:sp>
        <p:nvSpPr>
          <p:cNvPr id="5" name="Slide Number Placeholder 4"/>
          <p:cNvSpPr>
            <a:spLocks noGrp="1"/>
          </p:cNvSpPr>
          <p:nvPr>
            <p:ph type="sldNum" sz="quarter" idx="12"/>
          </p:nvPr>
        </p:nvSpPr>
        <p:spPr/>
        <p:txBody>
          <a:bodyPr/>
          <a:lstStyle/>
          <a:p>
            <a:fld id="{E5B29C50-D6F1-4DB6-9B68-F4CD3996E9CF}"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8122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493D5A-A484-46EE-9DC8-9A16BFF8327E}" type="datetime1">
              <a:rPr lang="en-US" smtClean="0"/>
              <a:t>7/31/2026</a:t>
            </a:fld>
            <a:endParaRPr lang="en-US" dirty="0"/>
          </a:p>
        </p:txBody>
      </p:sp>
      <p:sp>
        <p:nvSpPr>
          <p:cNvPr id="3" name="Footer Placeholder 2"/>
          <p:cNvSpPr>
            <a:spLocks noGrp="1"/>
          </p:cNvSpPr>
          <p:nvPr>
            <p:ph type="ftr" sz="quarter" idx="11"/>
          </p:nvPr>
        </p:nvSpPr>
        <p:spPr/>
        <p:txBody>
          <a:bodyPr/>
          <a:lstStyle/>
          <a:p>
            <a:r>
              <a:rPr lang="en-US"/>
              <a:t>Add a footer</a:t>
            </a:r>
            <a:endParaRPr lang="en-US" dirty="0"/>
          </a:p>
        </p:txBody>
      </p:sp>
      <p:sp>
        <p:nvSpPr>
          <p:cNvPr id="4" name="Slide Number Placeholder 3"/>
          <p:cNvSpPr>
            <a:spLocks noGrp="1"/>
          </p:cNvSpPr>
          <p:nvPr>
            <p:ph type="sldNum" sz="quarter" idx="12"/>
          </p:nvPr>
        </p:nvSpPr>
        <p:spPr/>
        <p:txBody>
          <a:bodyPr/>
          <a:lstStyle/>
          <a:p>
            <a:fld id="{E5B29C50-D6F1-4DB6-9B68-F4CD3996E9CF}" type="slidenum">
              <a:rPr lang="en-US" smtClean="0"/>
              <a:t>‹#›</a:t>
            </a:fld>
            <a:endParaRPr lang="en-US" dirty="0"/>
          </a:p>
        </p:txBody>
      </p:sp>
    </p:spTree>
    <p:extLst>
      <p:ext uri="{BB962C8B-B14F-4D97-AF65-F5344CB8AC3E}">
        <p14:creationId xmlns:p14="http://schemas.microsoft.com/office/powerpoint/2010/main" val="1186642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287BC8-78D1-4FEB-9D4F-E22E45CC04F7}" type="datetime1">
              <a:rPr lang="en-US" smtClean="0"/>
              <a:t>7/31/2026</a:t>
            </a:fld>
            <a:endParaRPr lang="en-US" dirty="0"/>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E5B29C50-D6F1-4DB6-9B68-F4CD3996E9CF}"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86161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F568210-870C-4A62-9D1B-4B25162550AB}" type="datetime1">
              <a:rPr lang="en-US" smtClean="0"/>
              <a:t>7/31/2026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E5B29C50-D6F1-4DB6-9B68-F4CD3996E9CF}" type="slidenum">
              <a:rPr lang="en-US" smtClean="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93346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011EA7-B10E-4739-92FE-8993461CC0B7}" type="datetime1">
              <a:rPr lang="en-US" smtClean="0"/>
              <a:t>7/31/2026</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E5B29C50-D6F1-4DB6-9B68-F4CD3996E9CF}" type="slidenum">
              <a:rPr lang="en-US" smtClean="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14497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5DC13F-2D2A-49BA-966D-6530A12E7C15}" type="datetime1">
              <a:rPr lang="en-US" smtClean="0"/>
              <a:t>7/31/2026</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E5B29C50-D6F1-4DB6-9B68-F4CD3996E9CF}" type="slidenum">
              <a:rPr lang="en-US" smtClean="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8790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0CABDA2-EB00-4A4D-86B7-63E286A484E5}" type="datetime1">
              <a:rPr lang="en-US" smtClean="0"/>
              <a:t>7/31/2026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5B29C50-D6F1-4DB6-9B68-F4CD3996E9CF}"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0967282"/>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88" userDrawn="1">
          <p15:clr>
            <a:srgbClr val="F26B43"/>
          </p15:clr>
        </p15:guide>
        <p15:guide id="4" pos="6648" userDrawn="1">
          <p15:clr>
            <a:srgbClr val="F26B43"/>
          </p15:clr>
        </p15:guide>
        <p15:guide id="5" orient="horz" pos="3528" userDrawn="1">
          <p15:clr>
            <a:srgbClr val="F26B43"/>
          </p15:clr>
        </p15:guide>
        <p15:guide id="6" orient="horz" pos="1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DAX Functions in Power BI</a:t>
            </a:r>
          </a:p>
        </p:txBody>
      </p:sp>
      <p:sp>
        <p:nvSpPr>
          <p:cNvPr id="3" name="Subtitle 2"/>
          <p:cNvSpPr>
            <a:spLocks noGrp="1"/>
          </p:cNvSpPr>
          <p:nvPr>
            <p:ph type="subTitle" idx="1"/>
          </p:nvPr>
        </p:nvSpPr>
        <p:spPr/>
        <p:txBody>
          <a:bodyPr/>
          <a:lstStyle/>
          <a:p>
            <a:r>
              <a:rPr lang="en-US" dirty="0"/>
              <a:t>Dr. Rakhee Chhibber</a:t>
            </a:r>
          </a:p>
        </p:txBody>
      </p:sp>
    </p:spTree>
    <p:extLst>
      <p:ext uri="{BB962C8B-B14F-4D97-AF65-F5344CB8AC3E}">
        <p14:creationId xmlns:p14="http://schemas.microsoft.com/office/powerpoint/2010/main" val="1990881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dirty="0">
                <a:effectLst/>
              </a:rPr>
              <a:t>Data Analysis Expressions (DAX)</a:t>
            </a:r>
          </a:p>
        </p:txBody>
      </p:sp>
      <p:sp>
        <p:nvSpPr>
          <p:cNvPr id="14" name="Content Placeholder 13"/>
          <p:cNvSpPr>
            <a:spLocks noGrp="1"/>
          </p:cNvSpPr>
          <p:nvPr>
            <p:ph idx="1"/>
          </p:nvPr>
        </p:nvSpPr>
        <p:spPr>
          <a:xfrm>
            <a:off x="457200" y="1825625"/>
            <a:ext cx="10835640" cy="3778006"/>
          </a:xfrm>
        </p:spPr>
        <p:txBody>
          <a:bodyPr>
            <a:normAutofit lnSpcReduction="10000"/>
          </a:bodyPr>
          <a:lstStyle/>
          <a:p>
            <a:pPr fontAlgn="base"/>
            <a:r>
              <a:rPr lang="en-US" sz="2800" dirty="0"/>
              <a:t>Data Analysis Expressions (DAX) is a useful formula and query language used to perform advanced calculations on tabular data models in Power BI and Power Pivot. It enables dynamic, context-aware analysis that goes beyond traditional spreadsheet formulas.</a:t>
            </a:r>
          </a:p>
          <a:p>
            <a:pPr lvl="1" fontAlgn="base"/>
            <a:r>
              <a:rPr lang="en-US" sz="2800" dirty="0"/>
              <a:t>Used to create custom measures, calculated columns and tables</a:t>
            </a:r>
          </a:p>
          <a:p>
            <a:pPr lvl="1" fontAlgn="base"/>
            <a:r>
              <a:rPr lang="en-US" sz="2800" dirty="0"/>
              <a:t>Supports complex calculations with row and filter context</a:t>
            </a:r>
          </a:p>
          <a:p>
            <a:pPr lvl="1" fontAlgn="base"/>
            <a:r>
              <a:rPr lang="en-US" sz="2800" dirty="0"/>
              <a:t>Provides advanced functions not available in standard Excel formulas</a:t>
            </a:r>
          </a:p>
        </p:txBody>
      </p:sp>
    </p:spTree>
    <p:extLst>
      <p:ext uri="{BB962C8B-B14F-4D97-AF65-F5344CB8AC3E}">
        <p14:creationId xmlns:p14="http://schemas.microsoft.com/office/powerpoint/2010/main" val="56685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D14856-30C1-CA2B-9B95-ABB27BFD66B9}"/>
              </a:ext>
            </a:extLst>
          </p:cNvPr>
          <p:cNvPicPr>
            <a:picLocks noChangeAspect="1"/>
          </p:cNvPicPr>
          <p:nvPr/>
        </p:nvPicPr>
        <p:blipFill>
          <a:blip r:embed="rId2"/>
          <a:stretch>
            <a:fillRect/>
          </a:stretch>
        </p:blipFill>
        <p:spPr>
          <a:xfrm>
            <a:off x="1208993" y="1052181"/>
            <a:ext cx="9774014" cy="4753638"/>
          </a:xfrm>
          <a:prstGeom prst="rect">
            <a:avLst/>
          </a:prstGeom>
        </p:spPr>
      </p:pic>
    </p:spTree>
    <p:extLst>
      <p:ext uri="{BB962C8B-B14F-4D97-AF65-F5344CB8AC3E}">
        <p14:creationId xmlns:p14="http://schemas.microsoft.com/office/powerpoint/2010/main" val="14326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EAFBBE-06BA-254B-6E95-FB27ABDE3C05}"/>
              </a:ext>
            </a:extLst>
          </p:cNvPr>
          <p:cNvPicPr>
            <a:picLocks noChangeAspect="1"/>
          </p:cNvPicPr>
          <p:nvPr/>
        </p:nvPicPr>
        <p:blipFill>
          <a:blip r:embed="rId2"/>
          <a:stretch>
            <a:fillRect/>
          </a:stretch>
        </p:blipFill>
        <p:spPr>
          <a:xfrm>
            <a:off x="2886694" y="102526"/>
            <a:ext cx="5771154" cy="5943943"/>
          </a:xfrm>
          <a:prstGeom prst="rect">
            <a:avLst/>
          </a:prstGeom>
        </p:spPr>
      </p:pic>
    </p:spTree>
    <p:extLst>
      <p:ext uri="{BB962C8B-B14F-4D97-AF65-F5344CB8AC3E}">
        <p14:creationId xmlns:p14="http://schemas.microsoft.com/office/powerpoint/2010/main" val="3941672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859AFB-72D4-BCB7-769A-609F4E0CD5BB}"/>
              </a:ext>
            </a:extLst>
          </p:cNvPr>
          <p:cNvPicPr>
            <a:picLocks noChangeAspect="1"/>
          </p:cNvPicPr>
          <p:nvPr/>
        </p:nvPicPr>
        <p:blipFill>
          <a:blip r:embed="rId2"/>
          <a:stretch>
            <a:fillRect/>
          </a:stretch>
        </p:blipFill>
        <p:spPr>
          <a:xfrm>
            <a:off x="994411" y="182880"/>
            <a:ext cx="10378440" cy="5608649"/>
          </a:xfrm>
          <a:prstGeom prst="rect">
            <a:avLst/>
          </a:prstGeom>
        </p:spPr>
      </p:pic>
    </p:spTree>
    <p:extLst>
      <p:ext uri="{BB962C8B-B14F-4D97-AF65-F5344CB8AC3E}">
        <p14:creationId xmlns:p14="http://schemas.microsoft.com/office/powerpoint/2010/main" val="86899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C8B30-AEC2-8ED4-07DE-CA09BB2843D3}"/>
              </a:ext>
            </a:extLst>
          </p:cNvPr>
          <p:cNvSpPr>
            <a:spLocks noGrp="1"/>
          </p:cNvSpPr>
          <p:nvPr>
            <p:ph type="title"/>
          </p:nvPr>
        </p:nvSpPr>
        <p:spPr/>
        <p:txBody>
          <a:bodyPr/>
          <a:lstStyle/>
          <a:p>
            <a:r>
              <a:rPr lang="en-US" b="1" dirty="0"/>
              <a:t>Understanding DAX Fundamentals</a:t>
            </a:r>
            <a:br>
              <a:rPr lang="en-US" b="1" dirty="0"/>
            </a:br>
            <a:endParaRPr lang="en-US" dirty="0"/>
          </a:p>
        </p:txBody>
      </p:sp>
      <p:sp>
        <p:nvSpPr>
          <p:cNvPr id="3" name="Content Placeholder 2">
            <a:extLst>
              <a:ext uri="{FF2B5EF4-FFF2-40B4-BE49-F238E27FC236}">
                <a16:creationId xmlns:a16="http://schemas.microsoft.com/office/drawing/2014/main" id="{584D985A-14C3-159F-96F1-89410B01B42D}"/>
              </a:ext>
            </a:extLst>
          </p:cNvPr>
          <p:cNvSpPr>
            <a:spLocks noGrp="1"/>
          </p:cNvSpPr>
          <p:nvPr>
            <p:ph idx="1"/>
          </p:nvPr>
        </p:nvSpPr>
        <p:spPr>
          <a:xfrm>
            <a:off x="571500" y="2015732"/>
            <a:ext cx="11521439" cy="4385068"/>
          </a:xfrm>
        </p:spPr>
        <p:txBody>
          <a:bodyPr>
            <a:normAutofit/>
          </a:bodyPr>
          <a:lstStyle/>
          <a:p>
            <a:r>
              <a:rPr lang="en-US" sz="2800" dirty="0"/>
              <a:t>DAX uses a formula syntax similar to Excel but extends it with advanced functions designed specifically for tabular data models in Power BI. It allows users to create measures, calculated columns and calculated tables to perform dynamic and context-aware calculations.</a:t>
            </a:r>
          </a:p>
          <a:p>
            <a:pPr marL="0" indent="0">
              <a:buNone/>
            </a:pPr>
            <a:r>
              <a:rPr lang="en-US" sz="2800" dirty="0"/>
              <a:t>There are two primary data types in Power BI DAX functions:</a:t>
            </a:r>
          </a:p>
          <a:p>
            <a:r>
              <a:rPr lang="en-US" sz="2800" dirty="0"/>
              <a:t>Numeric: Numeric data types include decimals, currency values, integers, etc.</a:t>
            </a:r>
          </a:p>
          <a:p>
            <a:r>
              <a:rPr lang="en-US" sz="2800" dirty="0"/>
              <a:t>Non-numeric: It consists of strings, binary objects, etc. </a:t>
            </a:r>
          </a:p>
          <a:p>
            <a:endParaRPr lang="en-US" sz="2800" dirty="0"/>
          </a:p>
        </p:txBody>
      </p:sp>
    </p:spTree>
    <p:extLst>
      <p:ext uri="{BB962C8B-B14F-4D97-AF65-F5344CB8AC3E}">
        <p14:creationId xmlns:p14="http://schemas.microsoft.com/office/powerpoint/2010/main" val="582680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32D32A60-013B-47A8-8833-D24240809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E27932B-B694-4C4C-90D7-A0333A7C5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616A4468-A86E-4C4F-8FA8-BB6100F9FA81}"/>
              </a:ext>
            </a:extLst>
          </p:cNvPr>
          <p:cNvSpPr>
            <a:spLocks noGrp="1"/>
          </p:cNvSpPr>
          <p:nvPr>
            <p:ph type="title"/>
          </p:nvPr>
        </p:nvSpPr>
        <p:spPr>
          <a:xfrm>
            <a:off x="1451579" y="2303047"/>
            <a:ext cx="3272093" cy="2674198"/>
          </a:xfrm>
        </p:spPr>
        <p:txBody>
          <a:bodyPr anchor="t">
            <a:normAutofit/>
          </a:bodyPr>
          <a:lstStyle/>
          <a:p>
            <a:r>
              <a:rPr lang="en-US" dirty="0"/>
              <a:t>DAX Ca</a:t>
            </a:r>
            <a:br>
              <a:rPr lang="en-US" dirty="0"/>
            </a:br>
            <a:r>
              <a:rPr lang="en-US" dirty="0" err="1"/>
              <a:t>lculation</a:t>
            </a:r>
            <a:r>
              <a:rPr lang="en-US" dirty="0"/>
              <a:t> Type</a:t>
            </a:r>
            <a:br>
              <a:rPr lang="en-US" dirty="0"/>
            </a:br>
            <a:endParaRPr lang="en-US" dirty="0"/>
          </a:p>
        </p:txBody>
      </p:sp>
      <p:cxnSp>
        <p:nvCxnSpPr>
          <p:cNvPr id="32" name="Straight Connector 31">
            <a:extLst>
              <a:ext uri="{FF2B5EF4-FFF2-40B4-BE49-F238E27FC236}">
                <a16:creationId xmlns:a16="http://schemas.microsoft.com/office/drawing/2014/main" id="{9EBB0476-5CF0-4F44-8D68-5D42D7AEE4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2146542"/>
            <a:ext cx="327209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34" name="Title 1">
            <a:extLst>
              <a:ext uri="{FF2B5EF4-FFF2-40B4-BE49-F238E27FC236}">
                <a16:creationId xmlns:a16="http://schemas.microsoft.com/office/drawing/2014/main" id="{A9DA474E-6B91-4200-840F-0257B2358A7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1580" y="3122496"/>
            <a:ext cx="3530157"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endParaRPr lang="en-US" dirty="0"/>
          </a:p>
        </p:txBody>
      </p:sp>
      <p:pic>
        <p:nvPicPr>
          <p:cNvPr id="36" name="Picture 35">
            <a:extLst>
              <a:ext uri="{FF2B5EF4-FFF2-40B4-BE49-F238E27FC236}">
                <a16:creationId xmlns:a16="http://schemas.microsoft.com/office/drawing/2014/main" id="{DF63C9AD-AE6E-4512-8171-91612E84CC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8" name="Straight Connector 37">
            <a:extLst>
              <a:ext uri="{FF2B5EF4-FFF2-40B4-BE49-F238E27FC236}">
                <a16:creationId xmlns:a16="http://schemas.microsoft.com/office/drawing/2014/main" id="{FE1A49CE-B63D-457A-A180-1C883E1A63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24" name="Content Placeholder 5">
            <a:extLst>
              <a:ext uri="{FF2B5EF4-FFF2-40B4-BE49-F238E27FC236}">
                <a16:creationId xmlns:a16="http://schemas.microsoft.com/office/drawing/2014/main" id="{70CDB420-9F74-F4C1-43DD-DC7407688DD4}"/>
              </a:ext>
            </a:extLst>
          </p:cNvPr>
          <p:cNvGraphicFramePr>
            <a:graphicFrameLocks noGrp="1"/>
          </p:cNvGraphicFramePr>
          <p:nvPr>
            <p:ph idx="1"/>
            <p:extLst>
              <p:ext uri="{D42A27DB-BD31-4B8C-83A1-F6EECF244321}">
                <p14:modId xmlns:p14="http://schemas.microsoft.com/office/powerpoint/2010/main" val="2344352074"/>
              </p:ext>
            </p:extLst>
          </p:nvPr>
        </p:nvGraphicFramePr>
        <p:xfrm>
          <a:off x="5141913" y="803275"/>
          <a:ext cx="5913437" cy="4637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30648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6A81A5-1B0B-E2EA-9DB8-E05A66FA76AA}"/>
              </a:ext>
            </a:extLst>
          </p:cNvPr>
          <p:cNvSpPr>
            <a:spLocks noGrp="1"/>
          </p:cNvSpPr>
          <p:nvPr>
            <p:ph type="title"/>
          </p:nvPr>
        </p:nvSpPr>
        <p:spPr>
          <a:xfrm>
            <a:off x="849683" y="1240076"/>
            <a:ext cx="2727813" cy="4584527"/>
          </a:xfrm>
        </p:spPr>
        <p:txBody>
          <a:bodyPr>
            <a:normAutofit/>
          </a:bodyPr>
          <a:lstStyle/>
          <a:p>
            <a:r>
              <a:rPr lang="en-US" sz="2800" b="1" dirty="0">
                <a:solidFill>
                  <a:srgbClr val="FFFFFF"/>
                </a:solidFill>
              </a:rPr>
              <a:t>Creating Measures for Advanced Calculations</a:t>
            </a:r>
            <a:br>
              <a:rPr lang="en-US" sz="2800" b="1" dirty="0">
                <a:solidFill>
                  <a:srgbClr val="FFFFFF"/>
                </a:solidFill>
              </a:rPr>
            </a:br>
            <a:endParaRPr lang="en-US" sz="2800" dirty="0">
              <a:solidFill>
                <a:srgbClr val="FFFFFF"/>
              </a:solidFill>
            </a:endParaRPr>
          </a:p>
        </p:txBody>
      </p:sp>
      <p:sp>
        <p:nvSpPr>
          <p:cNvPr id="3" name="Content Placeholder 2">
            <a:extLst>
              <a:ext uri="{FF2B5EF4-FFF2-40B4-BE49-F238E27FC236}">
                <a16:creationId xmlns:a16="http://schemas.microsoft.com/office/drawing/2014/main" id="{CD1E1632-F1FC-BA30-C322-A1AC57274EBA}"/>
              </a:ext>
            </a:extLst>
          </p:cNvPr>
          <p:cNvSpPr>
            <a:spLocks noGrp="1"/>
          </p:cNvSpPr>
          <p:nvPr>
            <p:ph idx="1"/>
          </p:nvPr>
        </p:nvSpPr>
        <p:spPr>
          <a:xfrm>
            <a:off x="4379755" y="470743"/>
            <a:ext cx="7494614" cy="5916512"/>
          </a:xfrm>
        </p:spPr>
        <p:txBody>
          <a:bodyPr anchor="t">
            <a:normAutofit fontScale="92500" lnSpcReduction="10000"/>
          </a:bodyPr>
          <a:lstStyle/>
          <a:p>
            <a:pPr marL="0" indent="0" fontAlgn="base">
              <a:buNone/>
            </a:pPr>
            <a:r>
              <a:rPr lang="en-US" sz="2800" dirty="0"/>
              <a:t>Measures are a core component of DAX used for calculations on aggregated data</a:t>
            </a:r>
          </a:p>
          <a:p>
            <a:pPr fontAlgn="base"/>
            <a:r>
              <a:rPr lang="en-US" sz="2800" dirty="0"/>
              <a:t>They are evaluated at query time not stored in the data model</a:t>
            </a:r>
          </a:p>
          <a:p>
            <a:pPr fontAlgn="base"/>
            <a:r>
              <a:rPr lang="en-US" sz="2800" dirty="0"/>
              <a:t>Measures respond dynamically to filters, slicers and report context</a:t>
            </a:r>
          </a:p>
          <a:p>
            <a:pPr fontAlgn="base"/>
            <a:r>
              <a:rPr lang="en-US" sz="2800" dirty="0"/>
              <a:t>Commonly used measures include SUM, AVERAGE and COUNT</a:t>
            </a:r>
          </a:p>
          <a:p>
            <a:pPr fontAlgn="base"/>
            <a:r>
              <a:rPr lang="en-US" sz="2800" dirty="0"/>
              <a:t>DAX supports both implicit and explicit measures</a:t>
            </a:r>
          </a:p>
          <a:p>
            <a:pPr fontAlgn="base"/>
            <a:r>
              <a:rPr lang="en-US" sz="2800" dirty="0"/>
              <a:t>Using correct data types is essential for accurate measure calculations</a:t>
            </a:r>
          </a:p>
          <a:p>
            <a:endParaRPr lang="en-US" sz="2800" dirty="0"/>
          </a:p>
        </p:txBody>
      </p:sp>
    </p:spTree>
    <p:extLst>
      <p:ext uri="{BB962C8B-B14F-4D97-AF65-F5344CB8AC3E}">
        <p14:creationId xmlns:p14="http://schemas.microsoft.com/office/powerpoint/2010/main" val="1414694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881BF4-4740-CC88-BD79-127C6A8384D9}"/>
              </a:ext>
            </a:extLst>
          </p:cNvPr>
          <p:cNvSpPr>
            <a:spLocks noGrp="1"/>
          </p:cNvSpPr>
          <p:nvPr>
            <p:ph type="title"/>
          </p:nvPr>
        </p:nvSpPr>
        <p:spPr>
          <a:xfrm>
            <a:off x="849683" y="1240076"/>
            <a:ext cx="2727813" cy="4584527"/>
          </a:xfrm>
        </p:spPr>
        <p:txBody>
          <a:bodyPr>
            <a:normAutofit/>
          </a:bodyPr>
          <a:lstStyle/>
          <a:p>
            <a:r>
              <a:rPr lang="en-US" sz="2700" b="1">
                <a:solidFill>
                  <a:srgbClr val="FFFFFF"/>
                </a:solidFill>
              </a:rPr>
              <a:t>Working with Calculated Columns</a:t>
            </a:r>
            <a:br>
              <a:rPr lang="en-US" sz="2700" b="1">
                <a:solidFill>
                  <a:srgbClr val="FFFFFF"/>
                </a:solidFill>
              </a:rPr>
            </a:br>
            <a:endParaRPr lang="en-US" sz="2700">
              <a:solidFill>
                <a:srgbClr val="FFFFFF"/>
              </a:solidFill>
            </a:endParaRPr>
          </a:p>
        </p:txBody>
      </p:sp>
      <p:sp>
        <p:nvSpPr>
          <p:cNvPr id="3" name="Content Placeholder 2">
            <a:extLst>
              <a:ext uri="{FF2B5EF4-FFF2-40B4-BE49-F238E27FC236}">
                <a16:creationId xmlns:a16="http://schemas.microsoft.com/office/drawing/2014/main" id="{F17F0806-CC4A-08A7-270E-975CE967B7CD}"/>
              </a:ext>
            </a:extLst>
          </p:cNvPr>
          <p:cNvSpPr>
            <a:spLocks noGrp="1"/>
          </p:cNvSpPr>
          <p:nvPr>
            <p:ph idx="1"/>
          </p:nvPr>
        </p:nvSpPr>
        <p:spPr>
          <a:xfrm>
            <a:off x="4524829" y="425727"/>
            <a:ext cx="7204466" cy="6029403"/>
          </a:xfrm>
        </p:spPr>
        <p:txBody>
          <a:bodyPr anchor="t">
            <a:noAutofit/>
          </a:bodyPr>
          <a:lstStyle/>
          <a:p>
            <a:pPr fontAlgn="base"/>
            <a:r>
              <a:rPr lang="en-US" sz="3200" dirty="0"/>
              <a:t>Calculated columns create new fields by deriving values from existing columns</a:t>
            </a:r>
          </a:p>
          <a:p>
            <a:pPr fontAlgn="base"/>
            <a:r>
              <a:rPr lang="en-US" sz="3200" dirty="0"/>
              <a:t>Values are calculated row by row and stored in the data model</a:t>
            </a:r>
          </a:p>
          <a:p>
            <a:pPr fontAlgn="base"/>
            <a:r>
              <a:rPr lang="en-US" sz="3200" dirty="0"/>
              <a:t>Useful for categorization, flags and static calculations</a:t>
            </a:r>
          </a:p>
          <a:p>
            <a:pPr fontAlgn="base"/>
            <a:r>
              <a:rPr lang="en-US" sz="3200" dirty="0"/>
              <a:t>Best suited for scenarios where results are not dependent on filters or slicers</a:t>
            </a:r>
          </a:p>
          <a:p>
            <a:endParaRPr lang="en-US" sz="3200" dirty="0"/>
          </a:p>
        </p:txBody>
      </p:sp>
    </p:spTree>
    <p:extLst>
      <p:ext uri="{BB962C8B-B14F-4D97-AF65-F5344CB8AC3E}">
        <p14:creationId xmlns:p14="http://schemas.microsoft.com/office/powerpoint/2010/main" val="2644413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25EC20-EA80-0267-BB48-0E053A94C5EF}"/>
              </a:ext>
            </a:extLst>
          </p:cNvPr>
          <p:cNvSpPr>
            <a:spLocks noGrp="1"/>
          </p:cNvSpPr>
          <p:nvPr>
            <p:ph type="title"/>
          </p:nvPr>
        </p:nvSpPr>
        <p:spPr>
          <a:xfrm>
            <a:off x="849683" y="1240076"/>
            <a:ext cx="2727813" cy="4584527"/>
          </a:xfrm>
        </p:spPr>
        <p:txBody>
          <a:bodyPr>
            <a:normAutofit/>
          </a:bodyPr>
          <a:lstStyle/>
          <a:p>
            <a:r>
              <a:rPr lang="en-US" sz="2500" b="1">
                <a:solidFill>
                  <a:srgbClr val="FFFFFF"/>
                </a:solidFill>
              </a:rPr>
              <a:t>Time Intelligence</a:t>
            </a:r>
            <a:br>
              <a:rPr lang="en-US" sz="2500" b="1">
                <a:solidFill>
                  <a:srgbClr val="FFFFFF"/>
                </a:solidFill>
              </a:rPr>
            </a:br>
            <a:endParaRPr lang="en-US" sz="2500">
              <a:solidFill>
                <a:srgbClr val="FFFFFF"/>
              </a:solidFill>
            </a:endParaRPr>
          </a:p>
        </p:txBody>
      </p:sp>
      <p:sp>
        <p:nvSpPr>
          <p:cNvPr id="3" name="Content Placeholder 2">
            <a:extLst>
              <a:ext uri="{FF2B5EF4-FFF2-40B4-BE49-F238E27FC236}">
                <a16:creationId xmlns:a16="http://schemas.microsoft.com/office/drawing/2014/main" id="{EB1D79C1-752A-5D80-3ADF-24FE8886D3C7}"/>
              </a:ext>
            </a:extLst>
          </p:cNvPr>
          <p:cNvSpPr>
            <a:spLocks noGrp="1"/>
          </p:cNvSpPr>
          <p:nvPr>
            <p:ph idx="1"/>
          </p:nvPr>
        </p:nvSpPr>
        <p:spPr>
          <a:xfrm>
            <a:off x="4366450" y="611427"/>
            <a:ext cx="7177849" cy="5915103"/>
          </a:xfrm>
        </p:spPr>
        <p:txBody>
          <a:bodyPr anchor="t">
            <a:normAutofit/>
          </a:bodyPr>
          <a:lstStyle/>
          <a:p>
            <a:pPr fontAlgn="base"/>
            <a:r>
              <a:rPr lang="en-US" sz="3200" dirty="0"/>
              <a:t>DAX includes time intelligence functions for analyzing trends in time-based data</a:t>
            </a:r>
          </a:p>
          <a:p>
            <a:pPr fontAlgn="base"/>
            <a:r>
              <a:rPr lang="en-US" sz="3200" dirty="0"/>
              <a:t>Functions like TOTALYTD, SAMEPERIODLASTYEAR and DATEADD enable period comparisons</a:t>
            </a:r>
          </a:p>
          <a:p>
            <a:pPr fontAlgn="base"/>
            <a:r>
              <a:rPr lang="en-US" sz="3200" dirty="0"/>
              <a:t>Used for year-to-date, month-over-month and year-over-year analysis</a:t>
            </a:r>
          </a:p>
          <a:p>
            <a:pPr fontAlgn="base"/>
            <a:r>
              <a:rPr lang="en-US" sz="3200" dirty="0"/>
              <a:t>Helps generate meaningful insights from time series data</a:t>
            </a:r>
          </a:p>
          <a:p>
            <a:endParaRPr lang="en-US" dirty="0"/>
          </a:p>
        </p:txBody>
      </p:sp>
    </p:spTree>
    <p:extLst>
      <p:ext uri="{BB962C8B-B14F-4D97-AF65-F5344CB8AC3E}">
        <p14:creationId xmlns:p14="http://schemas.microsoft.com/office/powerpoint/2010/main" val="2532373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82E7304-2AC2-4A5C-924D-A6AC3FFC5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4984D7-94E4-72C5-1D20-6773B872833B}"/>
              </a:ext>
            </a:extLst>
          </p:cNvPr>
          <p:cNvSpPr>
            <a:spLocks noGrp="1"/>
          </p:cNvSpPr>
          <p:nvPr>
            <p:ph type="title"/>
          </p:nvPr>
        </p:nvSpPr>
        <p:spPr>
          <a:xfrm>
            <a:off x="1451579" y="804519"/>
            <a:ext cx="9603275" cy="1049235"/>
          </a:xfrm>
        </p:spPr>
        <p:txBody>
          <a:bodyPr>
            <a:normAutofit/>
          </a:bodyPr>
          <a:lstStyle/>
          <a:p>
            <a:r>
              <a:rPr lang="en-US" b="1" dirty="0"/>
              <a:t>Filtering and Aggregating Data</a:t>
            </a:r>
            <a:br>
              <a:rPr lang="en-US" b="1" dirty="0"/>
            </a:br>
            <a:endParaRPr lang="en-US" dirty="0"/>
          </a:p>
        </p:txBody>
      </p:sp>
      <p:cxnSp>
        <p:nvCxnSpPr>
          <p:cNvPr id="11" name="Straight Connector 10">
            <a:extLst>
              <a:ext uri="{FF2B5EF4-FFF2-40B4-BE49-F238E27FC236}">
                <a16:creationId xmlns:a16="http://schemas.microsoft.com/office/drawing/2014/main" id="{D259FEF2-F6A5-442F-BA10-4E39EECD0A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1853754"/>
            <a:ext cx="960327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3" name="Rectangle 12">
            <a:extLst>
              <a:ext uri="{FF2B5EF4-FFF2-40B4-BE49-F238E27FC236}">
                <a16:creationId xmlns:a16="http://schemas.microsoft.com/office/drawing/2014/main" id="{A3C183B1-1D4B-4E3D-A02E-A426E3BFA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5" name="Content Placeholder 2">
            <a:extLst>
              <a:ext uri="{FF2B5EF4-FFF2-40B4-BE49-F238E27FC236}">
                <a16:creationId xmlns:a16="http://schemas.microsoft.com/office/drawing/2014/main" id="{4BCD983D-D0D0-4ADB-FCFF-DD959BED5BCB}"/>
              </a:ext>
            </a:extLst>
          </p:cNvPr>
          <p:cNvGraphicFramePr>
            <a:graphicFrameLocks noGrp="1"/>
          </p:cNvGraphicFramePr>
          <p:nvPr>
            <p:ph idx="1"/>
            <p:extLst>
              <p:ext uri="{D42A27DB-BD31-4B8C-83A1-F6EECF244321}">
                <p14:modId xmlns:p14="http://schemas.microsoft.com/office/powerpoint/2010/main" val="1569798292"/>
              </p:ext>
            </p:extLst>
          </p:nvPr>
        </p:nvGraphicFramePr>
        <p:xfrm>
          <a:off x="1450975" y="2331497"/>
          <a:ext cx="9604375" cy="37232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4504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D1DD35-D912-CE32-F863-FDEB5A0FECF4}"/>
              </a:ext>
            </a:extLst>
          </p:cNvPr>
          <p:cNvSpPr>
            <a:spLocks noGrp="1"/>
          </p:cNvSpPr>
          <p:nvPr>
            <p:ph type="title"/>
          </p:nvPr>
        </p:nvSpPr>
        <p:spPr>
          <a:xfrm>
            <a:off x="849683" y="1240076"/>
            <a:ext cx="2727813" cy="4584527"/>
          </a:xfrm>
        </p:spPr>
        <p:txBody>
          <a:bodyPr>
            <a:normAutofit/>
          </a:bodyPr>
          <a:lstStyle/>
          <a:p>
            <a:r>
              <a:rPr lang="en-US" sz="2500" b="1" dirty="0">
                <a:solidFill>
                  <a:srgbClr val="FFFFFF"/>
                </a:solidFill>
              </a:rPr>
              <a:t>Optimization Techniques</a:t>
            </a:r>
            <a:br>
              <a:rPr lang="en-US" sz="2500" b="1" dirty="0">
                <a:solidFill>
                  <a:srgbClr val="FFFFFF"/>
                </a:solidFill>
              </a:rPr>
            </a:br>
            <a:endParaRPr lang="en-US" sz="2500" dirty="0">
              <a:solidFill>
                <a:srgbClr val="FFFFFF"/>
              </a:solidFill>
            </a:endParaRPr>
          </a:p>
        </p:txBody>
      </p:sp>
      <p:sp>
        <p:nvSpPr>
          <p:cNvPr id="3" name="Content Placeholder 2">
            <a:extLst>
              <a:ext uri="{FF2B5EF4-FFF2-40B4-BE49-F238E27FC236}">
                <a16:creationId xmlns:a16="http://schemas.microsoft.com/office/drawing/2014/main" id="{AF7F6D13-2D1E-007C-E0C3-92814DFA5325}"/>
              </a:ext>
            </a:extLst>
          </p:cNvPr>
          <p:cNvSpPr>
            <a:spLocks noGrp="1"/>
          </p:cNvSpPr>
          <p:nvPr>
            <p:ph idx="1"/>
          </p:nvPr>
        </p:nvSpPr>
        <p:spPr>
          <a:xfrm>
            <a:off x="4705594" y="571501"/>
            <a:ext cx="6636723" cy="5585042"/>
          </a:xfrm>
        </p:spPr>
        <p:txBody>
          <a:bodyPr anchor="t">
            <a:noAutofit/>
          </a:bodyPr>
          <a:lstStyle/>
          <a:p>
            <a:pPr fontAlgn="base"/>
            <a:r>
              <a:rPr lang="en-US" sz="2800" dirty="0"/>
              <a:t>Writing efficient DAX is crucial for fast and responsive Power BI reports</a:t>
            </a:r>
          </a:p>
          <a:p>
            <a:pPr fontAlgn="base"/>
            <a:r>
              <a:rPr lang="en-US" sz="2800" dirty="0"/>
              <a:t>Use variables (VAR) to simplify calculations and avoid repeated computations</a:t>
            </a:r>
          </a:p>
          <a:p>
            <a:pPr fontAlgn="base"/>
            <a:r>
              <a:rPr lang="en-US" sz="2800" dirty="0"/>
              <a:t>Minimize complex or nested calculations to reduce processing time</a:t>
            </a:r>
          </a:p>
          <a:p>
            <a:pPr fontAlgn="base"/>
            <a:r>
              <a:rPr lang="en-US" sz="2800" dirty="0"/>
              <a:t>Understand query behavior and filter context to optimize performance</a:t>
            </a:r>
          </a:p>
          <a:p>
            <a:endParaRPr lang="en-US" sz="2800" dirty="0"/>
          </a:p>
        </p:txBody>
      </p:sp>
    </p:spTree>
    <p:extLst>
      <p:ext uri="{BB962C8B-B14F-4D97-AF65-F5344CB8AC3E}">
        <p14:creationId xmlns:p14="http://schemas.microsoft.com/office/powerpoint/2010/main" val="362390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9E23C6A-9953-FE02-B3CC-985E532F2E9C}"/>
              </a:ext>
            </a:extLst>
          </p:cNvPr>
          <p:cNvPicPr>
            <a:picLocks noChangeAspect="1"/>
          </p:cNvPicPr>
          <p:nvPr/>
        </p:nvPicPr>
        <p:blipFill>
          <a:blip r:embed="rId2">
            <a:alphaModFix amt="50000"/>
          </a:blip>
          <a:srcRect r="3"/>
          <a:stretch>
            <a:fillRect/>
          </a:stretch>
        </p:blipFill>
        <p:spPr>
          <a:xfrm>
            <a:off x="305" y="10"/>
            <a:ext cx="12191695" cy="6857990"/>
          </a:xfrm>
          <a:prstGeom prst="rect">
            <a:avLst/>
          </a:prstGeom>
        </p:spPr>
      </p:pic>
      <p:sp>
        <p:nvSpPr>
          <p:cNvPr id="18"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0"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22" name="Rectangle 21">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6B3B033E-C1F4-280C-8769-03C78BEBF772}"/>
              </a:ext>
            </a:extLst>
          </p:cNvPr>
          <p:cNvSpPr>
            <a:spLocks noGrp="1"/>
          </p:cNvSpPr>
          <p:nvPr>
            <p:ph type="title"/>
          </p:nvPr>
        </p:nvSpPr>
        <p:spPr>
          <a:xfrm>
            <a:off x="1130271" y="1193800"/>
            <a:ext cx="3193050" cy="4699000"/>
          </a:xfrm>
        </p:spPr>
        <p:txBody>
          <a:bodyPr anchor="ctr">
            <a:normAutofit/>
          </a:bodyPr>
          <a:lstStyle/>
          <a:p>
            <a:r>
              <a:rPr lang="en-US" b="1" dirty="0"/>
              <a:t>DAX Functions for Power BI</a:t>
            </a:r>
            <a:br>
              <a:rPr lang="en-US" b="1" dirty="0"/>
            </a:br>
            <a:endParaRPr lang="en-US" dirty="0"/>
          </a:p>
        </p:txBody>
      </p:sp>
      <p:cxnSp>
        <p:nvCxnSpPr>
          <p:cNvPr id="24" name="Straight Connector 23">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A26B56C-3120-38A5-46EE-DA6C483B3314}"/>
              </a:ext>
            </a:extLst>
          </p:cNvPr>
          <p:cNvSpPr>
            <a:spLocks noGrp="1"/>
          </p:cNvSpPr>
          <p:nvPr>
            <p:ph idx="1"/>
          </p:nvPr>
        </p:nvSpPr>
        <p:spPr>
          <a:xfrm>
            <a:off x="4976636" y="1193800"/>
            <a:ext cx="6499083" cy="4699000"/>
          </a:xfrm>
        </p:spPr>
        <p:txBody>
          <a:bodyPr anchor="ctr">
            <a:normAutofit/>
          </a:bodyPr>
          <a:lstStyle/>
          <a:p>
            <a:pPr marL="0" indent="0">
              <a:buNone/>
            </a:pPr>
            <a:r>
              <a:rPr lang="en-US" sz="2800" dirty="0"/>
              <a:t>Functions in DAX perform various tasks such as data manipulation, aggregation, filtering, time intelligence and custom calculations. They allow users to transform, analyze and derive insights from data within Microsoft Power BI, Power Pivot and SQL Server Analysis Services. There are various functions, some are given below:</a:t>
            </a:r>
          </a:p>
        </p:txBody>
      </p:sp>
      <p:sp>
        <p:nvSpPr>
          <p:cNvPr id="26"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138929097"/>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434B73-F560-D029-1072-1463EAC3AF0D}"/>
              </a:ext>
            </a:extLst>
          </p:cNvPr>
          <p:cNvSpPr>
            <a:spLocks noGrp="1"/>
          </p:cNvSpPr>
          <p:nvPr>
            <p:ph type="title"/>
          </p:nvPr>
        </p:nvSpPr>
        <p:spPr>
          <a:xfrm>
            <a:off x="849683" y="1240076"/>
            <a:ext cx="2727813" cy="4584527"/>
          </a:xfrm>
        </p:spPr>
        <p:txBody>
          <a:bodyPr>
            <a:normAutofit/>
          </a:bodyPr>
          <a:lstStyle/>
          <a:p>
            <a:r>
              <a:rPr lang="en-US" b="1">
                <a:solidFill>
                  <a:srgbClr val="FFFFFF"/>
                </a:solidFill>
              </a:rPr>
              <a:t>1. COUNT function in Power BI</a:t>
            </a:r>
            <a:br>
              <a:rPr lang="en-US" b="1">
                <a:solidFill>
                  <a:srgbClr val="FFFFFF"/>
                </a:solidFill>
              </a:rPr>
            </a:br>
            <a:endParaRPr lang="en-US">
              <a:solidFill>
                <a:srgbClr val="FFFFFF"/>
              </a:solidFill>
            </a:endParaRPr>
          </a:p>
        </p:txBody>
      </p:sp>
      <p:sp>
        <p:nvSpPr>
          <p:cNvPr id="3" name="Content Placeholder 2">
            <a:extLst>
              <a:ext uri="{FF2B5EF4-FFF2-40B4-BE49-F238E27FC236}">
                <a16:creationId xmlns:a16="http://schemas.microsoft.com/office/drawing/2014/main" id="{02B0B678-802A-876A-4713-E03CF1FF5C30}"/>
              </a:ext>
            </a:extLst>
          </p:cNvPr>
          <p:cNvSpPr>
            <a:spLocks noGrp="1"/>
          </p:cNvSpPr>
          <p:nvPr>
            <p:ph idx="1"/>
          </p:nvPr>
        </p:nvSpPr>
        <p:spPr>
          <a:xfrm>
            <a:off x="4422573" y="188595"/>
            <a:ext cx="7414604" cy="6480810"/>
          </a:xfrm>
        </p:spPr>
        <p:txBody>
          <a:bodyPr anchor="t">
            <a:normAutofit fontScale="92500"/>
          </a:bodyPr>
          <a:lstStyle/>
          <a:p>
            <a:pPr marL="0" indent="0" fontAlgn="base">
              <a:lnSpc>
                <a:spcPct val="110000"/>
              </a:lnSpc>
              <a:buNone/>
            </a:pPr>
            <a:r>
              <a:rPr lang="en-US" sz="2400" b="1" dirty="0"/>
              <a:t>COUNT:</a:t>
            </a:r>
            <a:r>
              <a:rPr lang="en-US" sz="2400" dirty="0"/>
              <a:t> It returns the total number of items in the column.</a:t>
            </a:r>
          </a:p>
          <a:p>
            <a:pPr marL="0" indent="0" fontAlgn="base">
              <a:lnSpc>
                <a:spcPct val="110000"/>
              </a:lnSpc>
              <a:buNone/>
            </a:pPr>
            <a:r>
              <a:rPr lang="en-US" sz="2400" i="1" dirty="0"/>
              <a:t>Syntax: COUNT(&lt;column name&gt;)</a:t>
            </a:r>
          </a:p>
          <a:p>
            <a:pPr marL="0" indent="0" fontAlgn="base">
              <a:lnSpc>
                <a:spcPct val="110000"/>
              </a:lnSpc>
              <a:buNone/>
            </a:pPr>
            <a:r>
              <a:rPr lang="en-US" sz="2400" b="1" dirty="0"/>
              <a:t>COUNTROWS:</a:t>
            </a:r>
            <a:r>
              <a:rPr lang="en-US" sz="2400" dirty="0"/>
              <a:t> It returns the number of rows in the table.</a:t>
            </a:r>
          </a:p>
          <a:p>
            <a:pPr marL="0" indent="0" fontAlgn="base">
              <a:lnSpc>
                <a:spcPct val="110000"/>
              </a:lnSpc>
              <a:buNone/>
            </a:pPr>
            <a:r>
              <a:rPr lang="en-US" sz="2400" i="1" dirty="0"/>
              <a:t>Syntax: COUNTROWS(&lt;table name&gt;)</a:t>
            </a:r>
          </a:p>
          <a:p>
            <a:pPr marL="0" indent="0" fontAlgn="base">
              <a:lnSpc>
                <a:spcPct val="110000"/>
              </a:lnSpc>
              <a:buNone/>
            </a:pPr>
            <a:r>
              <a:rPr lang="en-US" sz="2400" b="1" dirty="0"/>
              <a:t>DISTINCTCOUNT:</a:t>
            </a:r>
            <a:r>
              <a:rPr lang="en-US" sz="2400" dirty="0"/>
              <a:t> It returns the number of distinct values in the values column.</a:t>
            </a:r>
          </a:p>
          <a:p>
            <a:pPr marL="0" indent="0" fontAlgn="base">
              <a:lnSpc>
                <a:spcPct val="110000"/>
              </a:lnSpc>
              <a:buNone/>
            </a:pPr>
            <a:r>
              <a:rPr lang="en-US" sz="2400" i="1" dirty="0"/>
              <a:t>Syntax: DISTINCTCOUNT(&lt;column name&gt;)</a:t>
            </a:r>
          </a:p>
          <a:p>
            <a:pPr marL="0" indent="0" fontAlgn="base">
              <a:lnSpc>
                <a:spcPct val="110000"/>
              </a:lnSpc>
              <a:buNone/>
            </a:pPr>
            <a:r>
              <a:rPr lang="en-US" sz="2400" b="1" dirty="0"/>
              <a:t>COUNTA:</a:t>
            </a:r>
            <a:r>
              <a:rPr lang="en-US" sz="2400" dirty="0"/>
              <a:t> It counts the number of items in a column, that is not empty i.e. occupied.</a:t>
            </a:r>
          </a:p>
          <a:p>
            <a:pPr marL="0" indent="0" fontAlgn="base">
              <a:lnSpc>
                <a:spcPct val="110000"/>
              </a:lnSpc>
              <a:buNone/>
            </a:pPr>
            <a:r>
              <a:rPr lang="en-US" sz="2400" i="1" dirty="0"/>
              <a:t>Syntax: COUNTA(&lt;column name&gt;)</a:t>
            </a:r>
          </a:p>
          <a:p>
            <a:pPr marL="0" indent="0" fontAlgn="base">
              <a:lnSpc>
                <a:spcPct val="110000"/>
              </a:lnSpc>
              <a:buNone/>
            </a:pPr>
            <a:r>
              <a:rPr lang="en-US" sz="2400" b="1" dirty="0"/>
              <a:t>COUNTBLANK:</a:t>
            </a:r>
            <a:r>
              <a:rPr lang="en-US" sz="2400" dirty="0"/>
              <a:t> It counts blank cells in a single column.</a:t>
            </a:r>
          </a:p>
          <a:p>
            <a:pPr marL="0" indent="0" fontAlgn="base">
              <a:lnSpc>
                <a:spcPct val="110000"/>
              </a:lnSpc>
              <a:buNone/>
            </a:pPr>
            <a:r>
              <a:rPr lang="en-US" sz="2400" i="1" dirty="0"/>
              <a:t>Syntax: COUNTBLANK(&lt;column </a:t>
            </a:r>
            <a:r>
              <a:rPr lang="en-US" sz="2400" i="1" dirty="0" err="1"/>
              <a:t>nam</a:t>
            </a:r>
            <a:r>
              <a:rPr lang="en-US" sz="2400" i="1" dirty="0"/>
              <a:t>&gt;)</a:t>
            </a:r>
          </a:p>
        </p:txBody>
      </p:sp>
    </p:spTree>
    <p:extLst>
      <p:ext uri="{BB962C8B-B14F-4D97-AF65-F5344CB8AC3E}">
        <p14:creationId xmlns:p14="http://schemas.microsoft.com/office/powerpoint/2010/main" val="1843164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87BB15-8073-0E55-B7F5-DF883A3A8DF4}"/>
              </a:ext>
            </a:extLst>
          </p:cNvPr>
          <p:cNvSpPr>
            <a:spLocks noGrp="1"/>
          </p:cNvSpPr>
          <p:nvPr>
            <p:ph type="title"/>
          </p:nvPr>
        </p:nvSpPr>
        <p:spPr>
          <a:xfrm>
            <a:off x="849683" y="1240076"/>
            <a:ext cx="2727813" cy="4584527"/>
          </a:xfrm>
        </p:spPr>
        <p:txBody>
          <a:bodyPr>
            <a:normAutofit/>
          </a:bodyPr>
          <a:lstStyle/>
          <a:p>
            <a:r>
              <a:rPr lang="en-US" b="1">
                <a:solidFill>
                  <a:srgbClr val="FFFFFF"/>
                </a:solidFill>
              </a:rPr>
              <a:t>2. DATETIME function in Power BI</a:t>
            </a:r>
            <a:br>
              <a:rPr lang="en-US" b="1">
                <a:solidFill>
                  <a:srgbClr val="FFFFFF"/>
                </a:solidFill>
              </a:rPr>
            </a:br>
            <a:endParaRPr lang="en-US">
              <a:solidFill>
                <a:srgbClr val="FFFFFF"/>
              </a:solidFill>
            </a:endParaRPr>
          </a:p>
        </p:txBody>
      </p:sp>
      <p:sp>
        <p:nvSpPr>
          <p:cNvPr id="3" name="Content Placeholder 2">
            <a:extLst>
              <a:ext uri="{FF2B5EF4-FFF2-40B4-BE49-F238E27FC236}">
                <a16:creationId xmlns:a16="http://schemas.microsoft.com/office/drawing/2014/main" id="{C93F29DC-5C13-4F9A-D372-D001CCE8B7A1}"/>
              </a:ext>
            </a:extLst>
          </p:cNvPr>
          <p:cNvSpPr>
            <a:spLocks noGrp="1"/>
          </p:cNvSpPr>
          <p:nvPr>
            <p:ph idx="1"/>
          </p:nvPr>
        </p:nvSpPr>
        <p:spPr>
          <a:xfrm>
            <a:off x="4591294" y="199947"/>
            <a:ext cx="7398776" cy="6658053"/>
          </a:xfrm>
        </p:spPr>
        <p:txBody>
          <a:bodyPr anchor="t">
            <a:normAutofit fontScale="92500"/>
          </a:bodyPr>
          <a:lstStyle/>
          <a:p>
            <a:pPr fontAlgn="base">
              <a:lnSpc>
                <a:spcPct val="110000"/>
              </a:lnSpc>
            </a:pPr>
            <a:r>
              <a:rPr lang="en-US" sz="2600" b="1" dirty="0"/>
              <a:t>DATE:</a:t>
            </a:r>
            <a:r>
              <a:rPr lang="en-US" sz="2600" dirty="0"/>
              <a:t> Returns a date value from year, month and day.</a:t>
            </a:r>
          </a:p>
          <a:p>
            <a:pPr marL="0" indent="0" fontAlgn="base">
              <a:lnSpc>
                <a:spcPct val="110000"/>
              </a:lnSpc>
              <a:buNone/>
            </a:pPr>
            <a:r>
              <a:rPr lang="en-US" sz="2600" i="1" dirty="0"/>
              <a:t>	Syntax: DATE(&lt;year&gt;, &lt;month&gt;, &lt;day&gt;)</a:t>
            </a:r>
          </a:p>
          <a:p>
            <a:pPr fontAlgn="base">
              <a:lnSpc>
                <a:spcPct val="110000"/>
              </a:lnSpc>
            </a:pPr>
            <a:r>
              <a:rPr lang="en-US" sz="2600" b="1" dirty="0"/>
              <a:t>HOUR: </a:t>
            </a:r>
            <a:r>
              <a:rPr lang="en-US" sz="2600" dirty="0"/>
              <a:t>Returns the hour as a number from 0 to 23.</a:t>
            </a:r>
          </a:p>
          <a:p>
            <a:pPr marL="0" indent="0" fontAlgn="base">
              <a:lnSpc>
                <a:spcPct val="110000"/>
              </a:lnSpc>
              <a:buNone/>
            </a:pPr>
            <a:r>
              <a:rPr lang="en-US" sz="2600" i="1" dirty="0"/>
              <a:t>	Syntax: HOUR(&lt;datetime&gt;)</a:t>
            </a:r>
          </a:p>
          <a:p>
            <a:pPr fontAlgn="base">
              <a:lnSpc>
                <a:spcPct val="110000"/>
              </a:lnSpc>
            </a:pPr>
            <a:r>
              <a:rPr lang="en-US" sz="2600" b="1" dirty="0"/>
              <a:t>TODAY:</a:t>
            </a:r>
            <a:r>
              <a:rPr lang="en-US" sz="2600" dirty="0"/>
              <a:t> It returns today's date.</a:t>
            </a:r>
          </a:p>
          <a:p>
            <a:pPr marL="0" indent="0" fontAlgn="base">
              <a:lnSpc>
                <a:spcPct val="110000"/>
              </a:lnSpc>
              <a:buNone/>
            </a:pPr>
            <a:r>
              <a:rPr lang="en-US" sz="2600" i="1" dirty="0"/>
              <a:t>	Syntax: TODAY() </a:t>
            </a:r>
          </a:p>
          <a:p>
            <a:pPr fontAlgn="base">
              <a:lnSpc>
                <a:spcPct val="110000"/>
              </a:lnSpc>
            </a:pPr>
            <a:r>
              <a:rPr lang="en-US" sz="2600" b="1" dirty="0"/>
              <a:t>WEEKDAY: </a:t>
            </a:r>
            <a:r>
              <a:rPr lang="en-US" sz="2600" dirty="0"/>
              <a:t>It returns values between 1-7 where according to the day number in a week where 1 refers to Sunday and 7 is Saturday.</a:t>
            </a:r>
          </a:p>
          <a:p>
            <a:pPr marL="0" indent="0" fontAlgn="base">
              <a:lnSpc>
                <a:spcPct val="110000"/>
              </a:lnSpc>
              <a:buNone/>
            </a:pPr>
            <a:r>
              <a:rPr lang="en-US" sz="2600" i="1" dirty="0"/>
              <a:t>	Syntax: WEEKDAY(&lt;date&gt;, &lt;</a:t>
            </a:r>
            <a:r>
              <a:rPr lang="en-US" sz="2600" i="1" dirty="0" err="1"/>
              <a:t>return_type</a:t>
            </a:r>
            <a:r>
              <a:rPr lang="en-US" sz="2600" i="1" dirty="0"/>
              <a:t>&gt;)</a:t>
            </a:r>
          </a:p>
          <a:p>
            <a:pPr fontAlgn="base">
              <a:lnSpc>
                <a:spcPct val="110000"/>
              </a:lnSpc>
            </a:pPr>
            <a:r>
              <a:rPr lang="en-US" sz="2600" b="1" dirty="0"/>
              <a:t>NOW: </a:t>
            </a:r>
            <a:r>
              <a:rPr lang="en-US" sz="2600" dirty="0"/>
              <a:t>It returns the current date and time in datetime format.</a:t>
            </a:r>
          </a:p>
          <a:p>
            <a:pPr marL="0" indent="0" fontAlgn="base">
              <a:lnSpc>
                <a:spcPct val="110000"/>
              </a:lnSpc>
              <a:buNone/>
            </a:pPr>
            <a:r>
              <a:rPr lang="en-US" sz="2600" i="1" dirty="0"/>
              <a:t>	Syntax: NOW()</a:t>
            </a:r>
          </a:p>
          <a:p>
            <a:pPr>
              <a:lnSpc>
                <a:spcPct val="110000"/>
              </a:lnSpc>
            </a:pPr>
            <a:endParaRPr lang="en-US" sz="2600" dirty="0"/>
          </a:p>
        </p:txBody>
      </p:sp>
    </p:spTree>
    <p:extLst>
      <p:ext uri="{BB962C8B-B14F-4D97-AF65-F5344CB8AC3E}">
        <p14:creationId xmlns:p14="http://schemas.microsoft.com/office/powerpoint/2010/main" val="3801516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7338D2-66B7-4BB2-857B-DE280ECE763F}"/>
              </a:ext>
            </a:extLst>
          </p:cNvPr>
          <p:cNvSpPr>
            <a:spLocks noGrp="1"/>
          </p:cNvSpPr>
          <p:nvPr>
            <p:ph type="title"/>
          </p:nvPr>
        </p:nvSpPr>
        <p:spPr>
          <a:xfrm>
            <a:off x="849683" y="1240076"/>
            <a:ext cx="2727813" cy="4584527"/>
          </a:xfrm>
        </p:spPr>
        <p:txBody>
          <a:bodyPr>
            <a:normAutofit/>
          </a:bodyPr>
          <a:lstStyle/>
          <a:p>
            <a:r>
              <a:rPr lang="en-US" sz="3000" b="1">
                <a:solidFill>
                  <a:srgbClr val="FFFFFF"/>
                </a:solidFill>
              </a:rPr>
              <a:t>3. AGGREGATE Functions in Power BI</a:t>
            </a:r>
            <a:br>
              <a:rPr lang="en-US" sz="3000" b="1">
                <a:solidFill>
                  <a:srgbClr val="FFFFFF"/>
                </a:solidFill>
              </a:rPr>
            </a:br>
            <a:endParaRPr lang="en-US" sz="3000">
              <a:solidFill>
                <a:srgbClr val="FFFFFF"/>
              </a:solidFill>
            </a:endParaRPr>
          </a:p>
        </p:txBody>
      </p:sp>
      <p:sp>
        <p:nvSpPr>
          <p:cNvPr id="3" name="Content Placeholder 2">
            <a:extLst>
              <a:ext uri="{FF2B5EF4-FFF2-40B4-BE49-F238E27FC236}">
                <a16:creationId xmlns:a16="http://schemas.microsoft.com/office/drawing/2014/main" id="{3EEF8C7C-45D0-8373-F04E-302FAF1C8676}"/>
              </a:ext>
            </a:extLst>
          </p:cNvPr>
          <p:cNvSpPr>
            <a:spLocks noGrp="1"/>
          </p:cNvSpPr>
          <p:nvPr>
            <p:ph idx="1"/>
          </p:nvPr>
        </p:nvSpPr>
        <p:spPr>
          <a:xfrm>
            <a:off x="4324006" y="-2"/>
            <a:ext cx="7540334" cy="7075172"/>
          </a:xfrm>
        </p:spPr>
        <p:txBody>
          <a:bodyPr anchor="t">
            <a:normAutofit fontScale="92500" lnSpcReduction="10000"/>
          </a:bodyPr>
          <a:lstStyle/>
          <a:p>
            <a:pPr marL="0" indent="0" fontAlgn="base">
              <a:lnSpc>
                <a:spcPct val="110000"/>
              </a:lnSpc>
              <a:buNone/>
            </a:pPr>
            <a:r>
              <a:rPr lang="en-US" sz="2600" b="1" dirty="0"/>
              <a:t>MIN:</a:t>
            </a:r>
            <a:r>
              <a:rPr lang="en-US" sz="2600" dirty="0"/>
              <a:t> Finds the minimum value in a given column or between two expressions.</a:t>
            </a:r>
          </a:p>
          <a:p>
            <a:pPr marL="0" indent="0" fontAlgn="base">
              <a:lnSpc>
                <a:spcPct val="110000"/>
              </a:lnSpc>
              <a:buNone/>
            </a:pPr>
            <a:r>
              <a:rPr lang="en-US" sz="2600" i="1" dirty="0"/>
              <a:t>	Syntax: MIN(&lt;column&gt;) or MIN(&lt;exp1&gt;,&lt;exp2&gt;)</a:t>
            </a:r>
          </a:p>
          <a:p>
            <a:pPr marL="0" indent="0" fontAlgn="base">
              <a:lnSpc>
                <a:spcPct val="110000"/>
              </a:lnSpc>
              <a:buNone/>
            </a:pPr>
            <a:r>
              <a:rPr lang="en-US" sz="2600" b="1" dirty="0"/>
              <a:t>MAX: </a:t>
            </a:r>
            <a:r>
              <a:rPr lang="en-US" sz="2600" dirty="0"/>
              <a:t>Returns the maximum value in a given column or between two expressions.</a:t>
            </a:r>
          </a:p>
          <a:p>
            <a:pPr marL="0" indent="0" fontAlgn="base">
              <a:lnSpc>
                <a:spcPct val="110000"/>
              </a:lnSpc>
              <a:buNone/>
            </a:pPr>
            <a:r>
              <a:rPr lang="en-US" sz="2600" i="1" dirty="0"/>
              <a:t>	Syntax: MAX(&lt;column&gt;) or MAX(&lt;exp1&gt;,&lt;exp2&gt;)</a:t>
            </a:r>
          </a:p>
          <a:p>
            <a:pPr marL="0" indent="0" fontAlgn="base">
              <a:lnSpc>
                <a:spcPct val="110000"/>
              </a:lnSpc>
              <a:buNone/>
            </a:pPr>
            <a:r>
              <a:rPr lang="en-US" sz="2600" b="1" dirty="0"/>
              <a:t>SUM: </a:t>
            </a:r>
            <a:r>
              <a:rPr lang="en-US" sz="2600" dirty="0"/>
              <a:t>The formula adds the values in a column to produce a total.</a:t>
            </a:r>
          </a:p>
          <a:p>
            <a:pPr marL="0" indent="0" fontAlgn="base">
              <a:lnSpc>
                <a:spcPct val="110000"/>
              </a:lnSpc>
              <a:buNone/>
            </a:pPr>
            <a:r>
              <a:rPr lang="en-US" sz="2600" i="1" dirty="0"/>
              <a:t>	Syntax: SUM(Sales[Amount])</a:t>
            </a:r>
          </a:p>
          <a:p>
            <a:pPr marL="0" indent="0" fontAlgn="base">
              <a:lnSpc>
                <a:spcPct val="110000"/>
              </a:lnSpc>
              <a:buNone/>
            </a:pPr>
            <a:r>
              <a:rPr lang="en-US" sz="2600" b="1" dirty="0"/>
              <a:t>AVERAGE: </a:t>
            </a:r>
            <a:r>
              <a:rPr lang="en-US" sz="2600" dirty="0"/>
              <a:t>It takes columns of data and returns the average.</a:t>
            </a:r>
          </a:p>
          <a:p>
            <a:pPr marL="0" indent="0" fontAlgn="base">
              <a:lnSpc>
                <a:spcPct val="110000"/>
              </a:lnSpc>
              <a:buNone/>
            </a:pPr>
            <a:r>
              <a:rPr lang="en-US" sz="2600" i="1" dirty="0"/>
              <a:t>	Syntax: AVERAGE(Sales[Amount])</a:t>
            </a:r>
          </a:p>
          <a:p>
            <a:pPr marL="0" indent="0" fontAlgn="base">
              <a:lnSpc>
                <a:spcPct val="110000"/>
              </a:lnSpc>
              <a:buNone/>
            </a:pPr>
            <a:r>
              <a:rPr lang="en-US" sz="2600" b="1" dirty="0"/>
              <a:t>MINX: </a:t>
            </a:r>
            <a:r>
              <a:rPr lang="en-US" sz="2600" dirty="0"/>
              <a:t>Calculates the minimum value after evaluating each row expression in a table.</a:t>
            </a:r>
          </a:p>
          <a:p>
            <a:pPr marL="0" indent="0" fontAlgn="base">
              <a:lnSpc>
                <a:spcPct val="110000"/>
              </a:lnSpc>
              <a:buNone/>
            </a:pPr>
            <a:r>
              <a:rPr lang="en-US" sz="2600" i="1" dirty="0"/>
              <a:t>	Syntax: MINX(&lt;table&gt;, &lt;expression&gt;)</a:t>
            </a:r>
          </a:p>
          <a:p>
            <a:pPr>
              <a:lnSpc>
                <a:spcPct val="110000"/>
              </a:lnSpc>
            </a:pPr>
            <a:endParaRPr lang="en-US" sz="2600" dirty="0"/>
          </a:p>
        </p:txBody>
      </p:sp>
    </p:spTree>
    <p:extLst>
      <p:ext uri="{BB962C8B-B14F-4D97-AF65-F5344CB8AC3E}">
        <p14:creationId xmlns:p14="http://schemas.microsoft.com/office/powerpoint/2010/main" val="2016465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B40986-DFB0-55F4-C5AF-EB944260B651}"/>
              </a:ext>
            </a:extLst>
          </p:cNvPr>
          <p:cNvSpPr>
            <a:spLocks noGrp="1"/>
          </p:cNvSpPr>
          <p:nvPr>
            <p:ph type="title"/>
          </p:nvPr>
        </p:nvSpPr>
        <p:spPr>
          <a:xfrm>
            <a:off x="849683" y="1240076"/>
            <a:ext cx="2727813" cy="4584527"/>
          </a:xfrm>
        </p:spPr>
        <p:txBody>
          <a:bodyPr>
            <a:normAutofit/>
          </a:bodyPr>
          <a:lstStyle/>
          <a:p>
            <a:r>
              <a:rPr lang="en-US" sz="3000" b="1">
                <a:solidFill>
                  <a:srgbClr val="FFFFFF"/>
                </a:solidFill>
              </a:rPr>
              <a:t>4. LOGICAL Functions in Power BI</a:t>
            </a:r>
            <a:br>
              <a:rPr lang="en-US" sz="3000" b="1">
                <a:solidFill>
                  <a:srgbClr val="FFFFFF"/>
                </a:solidFill>
              </a:rPr>
            </a:br>
            <a:endParaRPr lang="en-US" sz="3000">
              <a:solidFill>
                <a:srgbClr val="FFFFFF"/>
              </a:solidFill>
            </a:endParaRPr>
          </a:p>
        </p:txBody>
      </p:sp>
      <p:sp>
        <p:nvSpPr>
          <p:cNvPr id="3" name="Content Placeholder 2">
            <a:extLst>
              <a:ext uri="{FF2B5EF4-FFF2-40B4-BE49-F238E27FC236}">
                <a16:creationId xmlns:a16="http://schemas.microsoft.com/office/drawing/2014/main" id="{245CEF21-3C5D-1041-BF8E-81521197F505}"/>
              </a:ext>
            </a:extLst>
          </p:cNvPr>
          <p:cNvSpPr>
            <a:spLocks noGrp="1"/>
          </p:cNvSpPr>
          <p:nvPr>
            <p:ph idx="1"/>
          </p:nvPr>
        </p:nvSpPr>
        <p:spPr>
          <a:xfrm>
            <a:off x="4062127" y="308611"/>
            <a:ext cx="8129873" cy="6069329"/>
          </a:xfrm>
        </p:spPr>
        <p:txBody>
          <a:bodyPr anchor="t">
            <a:noAutofit/>
          </a:bodyPr>
          <a:lstStyle/>
          <a:p>
            <a:pPr fontAlgn="base"/>
            <a:r>
              <a:rPr lang="en-US" sz="2600" b="1" dirty="0"/>
              <a:t>AND: </a:t>
            </a:r>
            <a:r>
              <a:rPr lang="en-US" sz="2600" dirty="0"/>
              <a:t>Combines 2 expressions logically.</a:t>
            </a:r>
          </a:p>
          <a:p>
            <a:pPr marL="0" indent="0" fontAlgn="base">
              <a:buNone/>
            </a:pPr>
            <a:r>
              <a:rPr lang="en-US" sz="2600" i="1" dirty="0"/>
              <a:t>	Syntax: AND(&lt;logical1&gt;,&lt;logical2&gt;)</a:t>
            </a:r>
          </a:p>
          <a:p>
            <a:pPr fontAlgn="base"/>
            <a:r>
              <a:rPr lang="en-US" sz="2600" b="1" dirty="0"/>
              <a:t>OR: </a:t>
            </a:r>
            <a:r>
              <a:rPr lang="en-US" sz="2600" dirty="0"/>
              <a:t>This function performs the logical disjunction on 2 expressions.</a:t>
            </a:r>
          </a:p>
          <a:p>
            <a:pPr marL="0" indent="0" fontAlgn="base">
              <a:buNone/>
            </a:pPr>
            <a:r>
              <a:rPr lang="en-US" sz="2600" i="1" dirty="0"/>
              <a:t>	Syntax: OR(&lt;logical1&gt;,&lt;logical2&gt;)</a:t>
            </a:r>
          </a:p>
          <a:p>
            <a:pPr fontAlgn="base"/>
            <a:r>
              <a:rPr lang="en-US" sz="2600" b="1" dirty="0"/>
              <a:t>NOT: </a:t>
            </a:r>
            <a:r>
              <a:rPr lang="en-US" sz="2600" dirty="0"/>
              <a:t>Negates the given expression logically.</a:t>
            </a:r>
          </a:p>
          <a:p>
            <a:pPr marL="0" indent="0" fontAlgn="base">
              <a:buNone/>
            </a:pPr>
            <a:r>
              <a:rPr lang="en-US" sz="2600" i="1" dirty="0"/>
              <a:t>	Syntax: NOT(&lt;logic&gt;)</a:t>
            </a:r>
          </a:p>
          <a:p>
            <a:pPr fontAlgn="base"/>
            <a:r>
              <a:rPr lang="en-US" sz="2600" b="1" dirty="0"/>
              <a:t>IF: </a:t>
            </a:r>
            <a:r>
              <a:rPr lang="en-US" sz="2600" dirty="0"/>
              <a:t>It checks IF a criterion is true and returns one value if it is and another value if it is not.</a:t>
            </a:r>
          </a:p>
          <a:p>
            <a:pPr marL="0" indent="0" fontAlgn="base">
              <a:buNone/>
            </a:pPr>
            <a:r>
              <a:rPr lang="en-US" sz="2600" i="1" dirty="0"/>
              <a:t>	Syntax: IF(&lt;</a:t>
            </a:r>
            <a:r>
              <a:rPr lang="en-US" sz="2600" i="1" dirty="0" err="1"/>
              <a:t>logical_test</a:t>
            </a:r>
            <a:r>
              <a:rPr lang="en-US" sz="2600" i="1" dirty="0"/>
              <a:t>&gt;,&lt;</a:t>
            </a:r>
            <a:r>
              <a:rPr lang="en-US" sz="2600" i="1" dirty="0" err="1"/>
              <a:t>value_if_true</a:t>
            </a:r>
            <a:r>
              <a:rPr lang="en-US" sz="2600" i="1" dirty="0"/>
              <a:t>&gt;, </a:t>
            </a:r>
            <a:r>
              <a:rPr lang="en-US" sz="2600" i="1" dirty="0" err="1"/>
              <a:t>value_if_false</a:t>
            </a:r>
            <a:r>
              <a:rPr lang="en-US" sz="2600" i="1" dirty="0"/>
              <a:t>)</a:t>
            </a:r>
          </a:p>
          <a:p>
            <a:endParaRPr lang="en-US" sz="2600" dirty="0"/>
          </a:p>
        </p:txBody>
      </p:sp>
    </p:spTree>
    <p:extLst>
      <p:ext uri="{BB962C8B-B14F-4D97-AF65-F5344CB8AC3E}">
        <p14:creationId xmlns:p14="http://schemas.microsoft.com/office/powerpoint/2010/main" val="3678788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891801-932D-1AA7-E167-9018D42AB574}"/>
              </a:ext>
            </a:extLst>
          </p:cNvPr>
          <p:cNvSpPr>
            <a:spLocks noGrp="1"/>
          </p:cNvSpPr>
          <p:nvPr>
            <p:ph type="title"/>
          </p:nvPr>
        </p:nvSpPr>
        <p:spPr>
          <a:xfrm>
            <a:off x="849683" y="1240076"/>
            <a:ext cx="2727813" cy="4584527"/>
          </a:xfrm>
        </p:spPr>
        <p:txBody>
          <a:bodyPr>
            <a:normAutofit/>
          </a:bodyPr>
          <a:lstStyle/>
          <a:p>
            <a:r>
              <a:rPr lang="en-US" sz="3000" b="1">
                <a:solidFill>
                  <a:srgbClr val="FFFFFF"/>
                </a:solidFill>
              </a:rPr>
              <a:t>5. MATH Functions in Power BI</a:t>
            </a:r>
            <a:br>
              <a:rPr lang="en-US" sz="3000" b="1">
                <a:solidFill>
                  <a:srgbClr val="FFFFFF"/>
                </a:solidFill>
              </a:rPr>
            </a:br>
            <a:endParaRPr lang="en-US" sz="3000">
              <a:solidFill>
                <a:srgbClr val="FFFFFF"/>
              </a:solidFill>
            </a:endParaRPr>
          </a:p>
        </p:txBody>
      </p:sp>
      <p:sp>
        <p:nvSpPr>
          <p:cNvPr id="3" name="Content Placeholder 2">
            <a:extLst>
              <a:ext uri="{FF2B5EF4-FFF2-40B4-BE49-F238E27FC236}">
                <a16:creationId xmlns:a16="http://schemas.microsoft.com/office/drawing/2014/main" id="{B4B75971-E193-9C6D-12F3-066CB0E267E4}"/>
              </a:ext>
            </a:extLst>
          </p:cNvPr>
          <p:cNvSpPr>
            <a:spLocks noGrp="1"/>
          </p:cNvSpPr>
          <p:nvPr>
            <p:ph idx="1"/>
          </p:nvPr>
        </p:nvSpPr>
        <p:spPr>
          <a:xfrm>
            <a:off x="4426876" y="142797"/>
            <a:ext cx="7346024" cy="6715203"/>
          </a:xfrm>
        </p:spPr>
        <p:txBody>
          <a:bodyPr anchor="t">
            <a:normAutofit fontScale="92500" lnSpcReduction="20000"/>
          </a:bodyPr>
          <a:lstStyle/>
          <a:p>
            <a:pPr fontAlgn="base">
              <a:lnSpc>
                <a:spcPct val="110000"/>
              </a:lnSpc>
            </a:pPr>
            <a:r>
              <a:rPr lang="en-US" sz="1800" b="1" dirty="0"/>
              <a:t>ABS: </a:t>
            </a:r>
            <a:r>
              <a:rPr lang="en-US" sz="1800" dirty="0"/>
              <a:t>Returns the absolute value.</a:t>
            </a:r>
          </a:p>
          <a:p>
            <a:pPr marL="0" indent="0" fontAlgn="base">
              <a:lnSpc>
                <a:spcPct val="110000"/>
              </a:lnSpc>
              <a:buNone/>
            </a:pPr>
            <a:r>
              <a:rPr lang="en-US" sz="1800" i="1" dirty="0"/>
              <a:t>	Syntax: ABS([number])</a:t>
            </a:r>
          </a:p>
          <a:p>
            <a:pPr fontAlgn="base">
              <a:lnSpc>
                <a:spcPct val="110000"/>
              </a:lnSpc>
            </a:pPr>
            <a:r>
              <a:rPr lang="en-US" sz="1800" b="1" dirty="0"/>
              <a:t>FACT: </a:t>
            </a:r>
            <a:r>
              <a:rPr lang="en-US" sz="1800" dirty="0"/>
              <a:t>Returns the factorial of the number.</a:t>
            </a:r>
          </a:p>
          <a:p>
            <a:pPr marL="0" indent="0" fontAlgn="base">
              <a:lnSpc>
                <a:spcPct val="110000"/>
              </a:lnSpc>
              <a:buNone/>
            </a:pPr>
            <a:r>
              <a:rPr lang="en-US" sz="1800" i="1" dirty="0"/>
              <a:t>	Syntax: FACT([number])</a:t>
            </a:r>
          </a:p>
          <a:p>
            <a:pPr fontAlgn="base">
              <a:lnSpc>
                <a:spcPct val="110000"/>
              </a:lnSpc>
            </a:pPr>
            <a:r>
              <a:rPr lang="en-US" sz="1800" b="1" dirty="0"/>
              <a:t>EXP: </a:t>
            </a:r>
            <a:r>
              <a:rPr lang="en-US" sz="1800" dirty="0"/>
              <a:t>Calculates the exponential value of a number.</a:t>
            </a:r>
          </a:p>
          <a:p>
            <a:pPr marL="0" indent="0" fontAlgn="base">
              <a:lnSpc>
                <a:spcPct val="110000"/>
              </a:lnSpc>
              <a:buNone/>
            </a:pPr>
            <a:r>
              <a:rPr lang="en-US" sz="1800" i="1" dirty="0"/>
              <a:t>	Syntax: EXP([Number])</a:t>
            </a:r>
          </a:p>
          <a:p>
            <a:pPr fontAlgn="base">
              <a:lnSpc>
                <a:spcPct val="110000"/>
              </a:lnSpc>
            </a:pPr>
            <a:r>
              <a:rPr lang="en-US" sz="1800" b="1" dirty="0"/>
              <a:t>ROUND: </a:t>
            </a:r>
            <a:r>
              <a:rPr lang="en-US" sz="1800" dirty="0"/>
              <a:t>Rounds a number to a specified number of decimal places.</a:t>
            </a:r>
          </a:p>
          <a:p>
            <a:pPr marL="0" indent="0" fontAlgn="base">
              <a:lnSpc>
                <a:spcPct val="110000"/>
              </a:lnSpc>
              <a:buNone/>
            </a:pPr>
            <a:r>
              <a:rPr lang="en-US" sz="1800" i="1" dirty="0"/>
              <a:t>	Syntax: ROUND([Number], [</a:t>
            </a:r>
            <a:r>
              <a:rPr lang="en-US" sz="1800" i="1" dirty="0" err="1"/>
              <a:t>NumDigitsAfterDecimal</a:t>
            </a:r>
            <a:r>
              <a:rPr lang="en-US" sz="1800" i="1" dirty="0"/>
              <a:t>])</a:t>
            </a:r>
          </a:p>
          <a:p>
            <a:pPr fontAlgn="base">
              <a:lnSpc>
                <a:spcPct val="110000"/>
              </a:lnSpc>
            </a:pPr>
            <a:r>
              <a:rPr lang="en-US" sz="1800" b="1" dirty="0"/>
              <a:t>POWER: </a:t>
            </a:r>
            <a:r>
              <a:rPr lang="en-US" sz="1800" dirty="0"/>
              <a:t>Raises a number to a specified power.</a:t>
            </a:r>
          </a:p>
          <a:p>
            <a:pPr marL="0" indent="0" fontAlgn="base">
              <a:lnSpc>
                <a:spcPct val="110000"/>
              </a:lnSpc>
              <a:buNone/>
            </a:pPr>
            <a:r>
              <a:rPr lang="en-US" sz="1800" i="1" dirty="0"/>
              <a:t>	Syntax: POWER([Number], [Power])</a:t>
            </a:r>
          </a:p>
          <a:p>
            <a:pPr fontAlgn="base">
              <a:lnSpc>
                <a:spcPct val="110000"/>
              </a:lnSpc>
            </a:pPr>
            <a:r>
              <a:rPr lang="en-US" sz="1800" b="1" dirty="0"/>
              <a:t>LOG:</a:t>
            </a:r>
            <a:r>
              <a:rPr lang="en-US" sz="1800" dirty="0"/>
              <a:t> Calculates the logarithm of a number to a specified base.</a:t>
            </a:r>
          </a:p>
          <a:p>
            <a:pPr marL="0" indent="0" fontAlgn="base">
              <a:lnSpc>
                <a:spcPct val="110000"/>
              </a:lnSpc>
              <a:buNone/>
            </a:pPr>
            <a:r>
              <a:rPr lang="en-US" sz="1800" i="1" dirty="0"/>
              <a:t>	Syntax: LOG([Number], [Base])</a:t>
            </a:r>
          </a:p>
          <a:p>
            <a:pPr fontAlgn="base">
              <a:lnSpc>
                <a:spcPct val="110000"/>
              </a:lnSpc>
            </a:pPr>
            <a:r>
              <a:rPr lang="en-US" sz="1800" b="1" dirty="0"/>
              <a:t>SQRT:</a:t>
            </a:r>
            <a:r>
              <a:rPr lang="en-US" sz="1800" dirty="0"/>
              <a:t> Calculates the square root of a number.</a:t>
            </a:r>
          </a:p>
          <a:p>
            <a:pPr marL="0" indent="0" fontAlgn="base">
              <a:lnSpc>
                <a:spcPct val="110000"/>
              </a:lnSpc>
              <a:buNone/>
            </a:pPr>
            <a:r>
              <a:rPr lang="en-US" sz="1800" i="1" dirty="0"/>
              <a:t>	Syntax: SQRT([Number])</a:t>
            </a:r>
          </a:p>
          <a:p>
            <a:pPr fontAlgn="base">
              <a:lnSpc>
                <a:spcPct val="110000"/>
              </a:lnSpc>
            </a:pPr>
            <a:r>
              <a:rPr lang="en-US" sz="1800" b="1" dirty="0"/>
              <a:t>MOD: </a:t>
            </a:r>
            <a:r>
              <a:rPr lang="en-US" sz="1800" dirty="0"/>
              <a:t>Returns the remainder of a division operation.</a:t>
            </a:r>
          </a:p>
          <a:p>
            <a:pPr marL="0" indent="0" fontAlgn="base">
              <a:lnSpc>
                <a:spcPct val="110000"/>
              </a:lnSpc>
              <a:buNone/>
            </a:pPr>
            <a:r>
              <a:rPr lang="en-US" sz="1800" i="1" dirty="0"/>
              <a:t>	Syntax: MOD([Dividend], [Divisor])</a:t>
            </a:r>
          </a:p>
          <a:p>
            <a:pPr fontAlgn="base">
              <a:lnSpc>
                <a:spcPct val="110000"/>
              </a:lnSpc>
            </a:pPr>
            <a:r>
              <a:rPr lang="en-US" sz="1800" b="1" dirty="0"/>
              <a:t>SIN, COS, TAN:</a:t>
            </a:r>
            <a:r>
              <a:rPr lang="en-US" sz="1800" dirty="0"/>
              <a:t> Calculates the trigonometric sine, cosine and tangent of an angle, respectively.</a:t>
            </a:r>
          </a:p>
          <a:p>
            <a:pPr marL="0" indent="0" fontAlgn="base">
              <a:lnSpc>
                <a:spcPct val="110000"/>
              </a:lnSpc>
              <a:buNone/>
            </a:pPr>
            <a:r>
              <a:rPr lang="en-US" sz="1800" i="1" dirty="0"/>
              <a:t>	Syntax: SIN([Angle]), COS([Angle]), TAN([Angle])</a:t>
            </a:r>
            <a:endParaRPr lang="en-US" sz="1800" dirty="0"/>
          </a:p>
        </p:txBody>
      </p:sp>
    </p:spTree>
    <p:extLst>
      <p:ext uri="{BB962C8B-B14F-4D97-AF65-F5344CB8AC3E}">
        <p14:creationId xmlns:p14="http://schemas.microsoft.com/office/powerpoint/2010/main" val="2216366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8A01AA-1F46-60DB-3D47-A0498CE5A88F}"/>
              </a:ext>
            </a:extLst>
          </p:cNvPr>
          <p:cNvSpPr>
            <a:spLocks noGrp="1"/>
          </p:cNvSpPr>
          <p:nvPr>
            <p:ph type="title"/>
          </p:nvPr>
        </p:nvSpPr>
        <p:spPr>
          <a:xfrm>
            <a:off x="849683" y="1240076"/>
            <a:ext cx="2727813" cy="4584527"/>
          </a:xfrm>
        </p:spPr>
        <p:txBody>
          <a:bodyPr>
            <a:normAutofit/>
          </a:bodyPr>
          <a:lstStyle/>
          <a:p>
            <a:r>
              <a:rPr lang="en-US" sz="3000" b="1" dirty="0">
                <a:solidFill>
                  <a:srgbClr val="FFFFFF"/>
                </a:solidFill>
              </a:rPr>
              <a:t>6. TEXT Functions in Power BI</a:t>
            </a:r>
            <a:br>
              <a:rPr lang="en-US" sz="3000" b="1" dirty="0">
                <a:solidFill>
                  <a:srgbClr val="FFFFFF"/>
                </a:solidFill>
              </a:rPr>
            </a:br>
            <a:endParaRPr lang="en-US" sz="3000" dirty="0">
              <a:solidFill>
                <a:srgbClr val="FFFFFF"/>
              </a:solidFill>
            </a:endParaRPr>
          </a:p>
        </p:txBody>
      </p:sp>
      <p:sp>
        <p:nvSpPr>
          <p:cNvPr id="3" name="Content Placeholder 2">
            <a:extLst>
              <a:ext uri="{FF2B5EF4-FFF2-40B4-BE49-F238E27FC236}">
                <a16:creationId xmlns:a16="http://schemas.microsoft.com/office/drawing/2014/main" id="{D205BEC5-CBEF-E773-78B3-761CA1D449FA}"/>
              </a:ext>
            </a:extLst>
          </p:cNvPr>
          <p:cNvSpPr>
            <a:spLocks noGrp="1"/>
          </p:cNvSpPr>
          <p:nvPr>
            <p:ph idx="1"/>
          </p:nvPr>
        </p:nvSpPr>
        <p:spPr>
          <a:xfrm>
            <a:off x="4160520" y="200023"/>
            <a:ext cx="7600950" cy="6457951"/>
          </a:xfrm>
        </p:spPr>
        <p:txBody>
          <a:bodyPr anchor="t">
            <a:normAutofit fontScale="77500" lnSpcReduction="20000"/>
          </a:bodyPr>
          <a:lstStyle/>
          <a:p>
            <a:pPr fontAlgn="base">
              <a:lnSpc>
                <a:spcPct val="110000"/>
              </a:lnSpc>
            </a:pPr>
            <a:r>
              <a:rPr lang="en-US" sz="2800" b="1" dirty="0"/>
              <a:t>CONCATENATE: </a:t>
            </a:r>
            <a:r>
              <a:rPr lang="en-US" sz="2800" dirty="0"/>
              <a:t>Joins two strings together.</a:t>
            </a:r>
          </a:p>
          <a:p>
            <a:pPr marL="0" indent="0" fontAlgn="base">
              <a:lnSpc>
                <a:spcPct val="110000"/>
              </a:lnSpc>
              <a:buNone/>
            </a:pPr>
            <a:r>
              <a:rPr lang="en-US" sz="2800" i="1" dirty="0"/>
              <a:t>	Syntax : CONCATENATE(&lt;text_1&gt;,&lt;text_2&gt;)</a:t>
            </a:r>
          </a:p>
          <a:p>
            <a:pPr fontAlgn="base">
              <a:lnSpc>
                <a:spcPct val="110000"/>
              </a:lnSpc>
            </a:pPr>
            <a:r>
              <a:rPr lang="en-US" sz="2800" b="1" dirty="0"/>
              <a:t>FIXED: </a:t>
            </a:r>
            <a:r>
              <a:rPr lang="en-US" sz="2800" dirty="0"/>
              <a:t>Rounds off numbers to a given decimal.</a:t>
            </a:r>
          </a:p>
          <a:p>
            <a:pPr marL="0" indent="0" fontAlgn="base">
              <a:lnSpc>
                <a:spcPct val="110000"/>
              </a:lnSpc>
              <a:buNone/>
            </a:pPr>
            <a:r>
              <a:rPr lang="en-US" sz="2800" i="1" dirty="0"/>
              <a:t>	Syntax: FIXED([Number], [</a:t>
            </a:r>
            <a:r>
              <a:rPr lang="en-US" sz="2800" i="1" dirty="0" err="1"/>
              <a:t>NumDigitsAfterDecimal</a:t>
            </a:r>
            <a:r>
              <a:rPr lang="en-US" sz="2800" i="1" dirty="0"/>
              <a:t>], [</a:t>
            </a:r>
            <a:r>
              <a:rPr lang="en-US" sz="2800" i="1" dirty="0" err="1"/>
              <a:t>IncludeLeadingZeroes</a:t>
            </a:r>
            <a:r>
              <a:rPr lang="en-US" sz="2800" i="1" dirty="0"/>
              <a:t>])</a:t>
            </a:r>
          </a:p>
          <a:p>
            <a:pPr fontAlgn="base">
              <a:lnSpc>
                <a:spcPct val="110000"/>
              </a:lnSpc>
            </a:pPr>
            <a:r>
              <a:rPr lang="en-US" sz="2800" b="1" dirty="0"/>
              <a:t>REPLACE: </a:t>
            </a:r>
            <a:r>
              <a:rPr lang="en-US" sz="2800" dirty="0"/>
              <a:t>Replace the characters with part of a string.</a:t>
            </a:r>
          </a:p>
          <a:p>
            <a:pPr marL="0" indent="0" fontAlgn="base">
              <a:lnSpc>
                <a:spcPct val="110000"/>
              </a:lnSpc>
              <a:buNone/>
            </a:pPr>
            <a:r>
              <a:rPr lang="en-US" sz="2800" i="1" dirty="0"/>
              <a:t>	Syntax: REPLACE(&lt;</a:t>
            </a:r>
            <a:r>
              <a:rPr lang="en-US" sz="2800" i="1" dirty="0" err="1"/>
              <a:t>old_text</a:t>
            </a:r>
            <a:r>
              <a:rPr lang="en-US" sz="2800" i="1" dirty="0"/>
              <a:t>&gt;, &lt;</a:t>
            </a:r>
            <a:r>
              <a:rPr lang="en-US" sz="2800" i="1" dirty="0" err="1"/>
              <a:t>start_num</a:t>
            </a:r>
            <a:r>
              <a:rPr lang="en-US" sz="2800" i="1" dirty="0"/>
              <a:t>&gt;, &lt;</a:t>
            </a:r>
            <a:r>
              <a:rPr lang="en-US" sz="2800" i="1" dirty="0" err="1"/>
              <a:t>num_chars</a:t>
            </a:r>
            <a:r>
              <a:rPr lang="en-US" sz="2800" i="1" dirty="0"/>
              <a:t>&gt;, &lt;</a:t>
            </a:r>
            <a:r>
              <a:rPr lang="en-US" sz="2800" i="1" dirty="0" err="1"/>
              <a:t>new_text</a:t>
            </a:r>
            <a:r>
              <a:rPr lang="en-US" sz="2800" i="1" dirty="0"/>
              <a:t>&gt;)</a:t>
            </a:r>
          </a:p>
          <a:p>
            <a:pPr fontAlgn="base">
              <a:lnSpc>
                <a:spcPct val="110000"/>
              </a:lnSpc>
            </a:pPr>
            <a:r>
              <a:rPr lang="en-US" sz="2800" b="1" dirty="0"/>
              <a:t>UPPER: </a:t>
            </a:r>
            <a:r>
              <a:rPr lang="en-US" sz="2800" dirty="0"/>
              <a:t>Converts a text string to all uppercase letters.</a:t>
            </a:r>
          </a:p>
          <a:p>
            <a:pPr marL="0" indent="0" fontAlgn="base">
              <a:lnSpc>
                <a:spcPct val="110000"/>
              </a:lnSpc>
              <a:buNone/>
            </a:pPr>
            <a:r>
              <a:rPr lang="en-US" sz="2800" i="1" dirty="0"/>
              <a:t>	Syntax: UPPER(&lt;text&gt;) </a:t>
            </a:r>
          </a:p>
          <a:p>
            <a:pPr fontAlgn="base">
              <a:lnSpc>
                <a:spcPct val="110000"/>
              </a:lnSpc>
            </a:pPr>
            <a:r>
              <a:rPr lang="en-US" sz="2800" b="1" dirty="0"/>
              <a:t>LOWER: </a:t>
            </a:r>
            <a:r>
              <a:rPr lang="en-US" sz="2800" dirty="0"/>
              <a:t>Converts a text string to all lowercase letters.</a:t>
            </a:r>
          </a:p>
          <a:p>
            <a:pPr marL="0" indent="0" fontAlgn="base">
              <a:lnSpc>
                <a:spcPct val="110000"/>
              </a:lnSpc>
              <a:buNone/>
            </a:pPr>
            <a:r>
              <a:rPr lang="en-US" sz="2800" i="1" dirty="0"/>
              <a:t>	Syntax: LOWER(&lt;text&gt;)</a:t>
            </a:r>
          </a:p>
          <a:p>
            <a:pPr fontAlgn="base">
              <a:lnSpc>
                <a:spcPct val="110000"/>
              </a:lnSpc>
            </a:pPr>
            <a:r>
              <a:rPr lang="en-US" sz="2800" b="1" dirty="0"/>
              <a:t>SEARCH: </a:t>
            </a:r>
            <a:r>
              <a:rPr lang="en-US" sz="2800" dirty="0"/>
              <a:t>Returns the number of the character at which a searched character or text string is first appeared.</a:t>
            </a:r>
          </a:p>
          <a:p>
            <a:pPr marL="0" indent="0" fontAlgn="base">
              <a:lnSpc>
                <a:spcPct val="110000"/>
              </a:lnSpc>
              <a:buNone/>
            </a:pPr>
            <a:r>
              <a:rPr lang="en-US" sz="2800" i="1" dirty="0"/>
              <a:t>	Syntax: SEARCH(&lt;</a:t>
            </a:r>
            <a:r>
              <a:rPr lang="en-US" sz="2800" i="1" dirty="0" err="1"/>
              <a:t>find_text</a:t>
            </a:r>
            <a:r>
              <a:rPr lang="en-US" sz="2800" i="1" dirty="0"/>
              <a:t>&gt;, &lt;</a:t>
            </a:r>
            <a:r>
              <a:rPr lang="en-US" sz="2800" i="1" dirty="0" err="1"/>
              <a:t>within_text</a:t>
            </a:r>
            <a:r>
              <a:rPr lang="en-US" sz="2800" i="1" dirty="0"/>
              <a:t>&gt;[, [&lt;</a:t>
            </a:r>
            <a:r>
              <a:rPr lang="en-US" sz="2800" i="1" dirty="0" err="1"/>
              <a:t>start_num</a:t>
            </a:r>
            <a:r>
              <a:rPr lang="en-US" sz="2800" i="1" dirty="0"/>
              <a:t>&gt;][, &lt;</a:t>
            </a:r>
            <a:r>
              <a:rPr lang="en-US" sz="2800" i="1" dirty="0" err="1"/>
              <a:t>NotFoundValue</a:t>
            </a:r>
            <a:r>
              <a:rPr lang="en-US" sz="2800" i="1" dirty="0"/>
              <a:t>&gt;]])</a:t>
            </a:r>
          </a:p>
          <a:p>
            <a:pPr>
              <a:lnSpc>
                <a:spcPct val="110000"/>
              </a:lnSpc>
            </a:pPr>
            <a:endParaRPr lang="en-US" sz="1400" dirty="0"/>
          </a:p>
        </p:txBody>
      </p:sp>
    </p:spTree>
    <p:extLst>
      <p:ext uri="{BB962C8B-B14F-4D97-AF65-F5344CB8AC3E}">
        <p14:creationId xmlns:p14="http://schemas.microsoft.com/office/powerpoint/2010/main" val="3644058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3C263-9F4D-CA11-45AF-7AE24E2BE494}"/>
              </a:ext>
            </a:extLst>
          </p:cNvPr>
          <p:cNvSpPr>
            <a:spLocks noGrp="1"/>
          </p:cNvSpPr>
          <p:nvPr>
            <p:ph type="title"/>
          </p:nvPr>
        </p:nvSpPr>
        <p:spPr>
          <a:xfrm>
            <a:off x="849683" y="1240076"/>
            <a:ext cx="2903169" cy="4584527"/>
          </a:xfrm>
        </p:spPr>
        <p:txBody>
          <a:bodyPr>
            <a:normAutofit/>
          </a:bodyPr>
          <a:lstStyle/>
          <a:p>
            <a:pPr algn="ctr"/>
            <a:r>
              <a:rPr lang="en-US" sz="2700" b="1" dirty="0">
                <a:solidFill>
                  <a:srgbClr val="FFFFFF"/>
                </a:solidFill>
              </a:rPr>
              <a:t>7. Statistical Functions in Power Bi</a:t>
            </a:r>
            <a:br>
              <a:rPr lang="en-US" sz="2700" b="1" dirty="0">
                <a:solidFill>
                  <a:srgbClr val="FFFFFF"/>
                </a:solidFill>
              </a:rPr>
            </a:br>
            <a:endParaRPr lang="en-US" sz="2700" dirty="0">
              <a:solidFill>
                <a:srgbClr val="FFFFFF"/>
              </a:solidFill>
            </a:endParaRPr>
          </a:p>
        </p:txBody>
      </p:sp>
      <p:sp>
        <p:nvSpPr>
          <p:cNvPr id="3" name="Content Placeholder 2">
            <a:extLst>
              <a:ext uri="{FF2B5EF4-FFF2-40B4-BE49-F238E27FC236}">
                <a16:creationId xmlns:a16="http://schemas.microsoft.com/office/drawing/2014/main" id="{E9A08EAB-2FFD-302C-6628-28021F95B798}"/>
              </a:ext>
            </a:extLst>
          </p:cNvPr>
          <p:cNvSpPr>
            <a:spLocks noGrp="1"/>
          </p:cNvSpPr>
          <p:nvPr>
            <p:ph idx="1"/>
          </p:nvPr>
        </p:nvSpPr>
        <p:spPr>
          <a:xfrm>
            <a:off x="4251960" y="285750"/>
            <a:ext cx="7440930" cy="6423659"/>
          </a:xfrm>
        </p:spPr>
        <p:txBody>
          <a:bodyPr anchor="t">
            <a:normAutofit fontScale="55000" lnSpcReduction="20000"/>
          </a:bodyPr>
          <a:lstStyle/>
          <a:p>
            <a:pPr fontAlgn="base">
              <a:lnSpc>
                <a:spcPct val="110000"/>
              </a:lnSpc>
            </a:pPr>
            <a:r>
              <a:rPr lang="en-US" sz="3800" b="1" dirty="0"/>
              <a:t>MEDIAN: </a:t>
            </a:r>
            <a:r>
              <a:rPr lang="en-US" sz="3800" dirty="0"/>
              <a:t>Returns the median value in a column.</a:t>
            </a:r>
          </a:p>
          <a:p>
            <a:pPr marL="0" indent="0" fontAlgn="base">
              <a:lnSpc>
                <a:spcPct val="110000"/>
              </a:lnSpc>
              <a:buNone/>
            </a:pPr>
            <a:r>
              <a:rPr lang="en-US" sz="3800" i="1" dirty="0"/>
              <a:t>	Syntax: MEDIAN([Column])</a:t>
            </a:r>
          </a:p>
          <a:p>
            <a:pPr fontAlgn="base">
              <a:lnSpc>
                <a:spcPct val="110000"/>
              </a:lnSpc>
            </a:pPr>
            <a:r>
              <a:rPr lang="en-US" sz="3800" b="1" dirty="0"/>
              <a:t>MODE: </a:t>
            </a:r>
            <a:r>
              <a:rPr lang="en-US" sz="3800" dirty="0"/>
              <a:t>Returns the mode (most frequently occurring value) in a column.</a:t>
            </a:r>
          </a:p>
          <a:p>
            <a:pPr marL="0" indent="0" fontAlgn="base">
              <a:lnSpc>
                <a:spcPct val="110000"/>
              </a:lnSpc>
              <a:buNone/>
            </a:pPr>
            <a:r>
              <a:rPr lang="en-US" sz="3800" i="1" dirty="0"/>
              <a:t>	Syntax: MODE([Column])</a:t>
            </a:r>
          </a:p>
          <a:p>
            <a:pPr fontAlgn="base">
              <a:lnSpc>
                <a:spcPct val="110000"/>
              </a:lnSpc>
            </a:pPr>
            <a:r>
              <a:rPr lang="en-US" sz="3800" b="1" dirty="0"/>
              <a:t>AVERAGE:</a:t>
            </a:r>
            <a:r>
              <a:rPr lang="en-US" sz="3800" dirty="0"/>
              <a:t> Calculates the average of a column of numeric values.</a:t>
            </a:r>
          </a:p>
          <a:p>
            <a:pPr marL="0" indent="0" fontAlgn="base">
              <a:lnSpc>
                <a:spcPct val="110000"/>
              </a:lnSpc>
              <a:buNone/>
            </a:pPr>
            <a:r>
              <a:rPr lang="en-US" sz="3800" i="1" dirty="0"/>
              <a:t>	Syntax: AVERAGE([Column])</a:t>
            </a:r>
          </a:p>
          <a:p>
            <a:pPr fontAlgn="base">
              <a:lnSpc>
                <a:spcPct val="110000"/>
              </a:lnSpc>
            </a:pPr>
            <a:r>
              <a:rPr lang="en-US" sz="3800" b="1" dirty="0"/>
              <a:t>STDEV.P: </a:t>
            </a:r>
            <a:r>
              <a:rPr lang="en-US" sz="3800" dirty="0"/>
              <a:t>Calculates the population standard deviation of a column.</a:t>
            </a:r>
          </a:p>
          <a:p>
            <a:pPr marL="0" indent="0" fontAlgn="base">
              <a:lnSpc>
                <a:spcPct val="110000"/>
              </a:lnSpc>
              <a:buNone/>
            </a:pPr>
            <a:r>
              <a:rPr lang="en-US" sz="3800" i="1" dirty="0"/>
              <a:t>	Syntax: STDEV.P([Column])</a:t>
            </a:r>
          </a:p>
          <a:p>
            <a:pPr fontAlgn="base">
              <a:lnSpc>
                <a:spcPct val="110000"/>
              </a:lnSpc>
            </a:pPr>
            <a:r>
              <a:rPr lang="en-US" sz="3800" b="1" dirty="0"/>
              <a:t>STDEV.S: </a:t>
            </a:r>
            <a:r>
              <a:rPr lang="en-US" sz="3800" dirty="0"/>
              <a:t>Calculates the sample standard deviation of a column.</a:t>
            </a:r>
          </a:p>
          <a:p>
            <a:pPr marL="0" indent="0" fontAlgn="base">
              <a:lnSpc>
                <a:spcPct val="110000"/>
              </a:lnSpc>
              <a:buNone/>
            </a:pPr>
            <a:r>
              <a:rPr lang="en-US" sz="3800" i="1" dirty="0"/>
              <a:t>	Syntax: STDEV.S([Column])</a:t>
            </a:r>
          </a:p>
          <a:p>
            <a:pPr fontAlgn="base">
              <a:lnSpc>
                <a:spcPct val="110000"/>
              </a:lnSpc>
            </a:pPr>
            <a:r>
              <a:rPr lang="en-US" sz="3800" b="1" dirty="0"/>
              <a:t>VAR.P:</a:t>
            </a:r>
            <a:r>
              <a:rPr lang="en-US" sz="3800" dirty="0"/>
              <a:t> Calculates the population variance of a column. Example:</a:t>
            </a:r>
          </a:p>
          <a:p>
            <a:pPr marL="0" indent="0" fontAlgn="base">
              <a:lnSpc>
                <a:spcPct val="110000"/>
              </a:lnSpc>
              <a:buNone/>
            </a:pPr>
            <a:r>
              <a:rPr lang="en-US" sz="3800" i="1" dirty="0"/>
              <a:t>	Syntax: VAR.P(Column)</a:t>
            </a:r>
          </a:p>
          <a:p>
            <a:pPr>
              <a:lnSpc>
                <a:spcPct val="110000"/>
              </a:lnSpc>
            </a:pPr>
            <a:endParaRPr lang="en-US" sz="1400" dirty="0"/>
          </a:p>
        </p:txBody>
      </p:sp>
    </p:spTree>
    <p:extLst>
      <p:ext uri="{BB962C8B-B14F-4D97-AF65-F5344CB8AC3E}">
        <p14:creationId xmlns:p14="http://schemas.microsoft.com/office/powerpoint/2010/main" val="294386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F0536-E7C6-9904-18EA-E3DF388715FA}"/>
              </a:ext>
            </a:extLst>
          </p:cNvPr>
          <p:cNvSpPr>
            <a:spLocks noGrp="1"/>
          </p:cNvSpPr>
          <p:nvPr>
            <p:ph type="ctrTitle"/>
          </p:nvPr>
        </p:nvSpPr>
        <p:spPr/>
        <p:txBody>
          <a:bodyPr>
            <a:normAutofit fontScale="90000"/>
          </a:bodyPr>
          <a:lstStyle/>
          <a:p>
            <a:r>
              <a:rPr lang="en-US" dirty="0"/>
              <a:t>Calculate, Sum, </a:t>
            </a:r>
            <a:r>
              <a:rPr lang="en-US" dirty="0" err="1"/>
              <a:t>sumx</a:t>
            </a:r>
            <a:r>
              <a:rPr lang="en-US" dirty="0"/>
              <a:t> and </a:t>
            </a:r>
            <a:r>
              <a:rPr lang="en-US" dirty="0" err="1"/>
              <a:t>calculatetable</a:t>
            </a:r>
            <a:r>
              <a:rPr lang="en-US" dirty="0"/>
              <a:t> functions</a:t>
            </a:r>
          </a:p>
        </p:txBody>
      </p:sp>
      <p:sp>
        <p:nvSpPr>
          <p:cNvPr id="3" name="Subtitle 2">
            <a:extLst>
              <a:ext uri="{FF2B5EF4-FFF2-40B4-BE49-F238E27FC236}">
                <a16:creationId xmlns:a16="http://schemas.microsoft.com/office/drawing/2014/main" id="{498747B9-8AA9-F053-53B8-B498025B8EB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32038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A74490-C521-518B-7D4C-6E6FD8A0AA86}"/>
              </a:ext>
            </a:extLst>
          </p:cNvPr>
          <p:cNvSpPr>
            <a:spLocks noGrp="1"/>
          </p:cNvSpPr>
          <p:nvPr>
            <p:ph type="title"/>
          </p:nvPr>
        </p:nvSpPr>
        <p:spPr>
          <a:xfrm>
            <a:off x="685801" y="1240076"/>
            <a:ext cx="2891696" cy="4584527"/>
          </a:xfrm>
        </p:spPr>
        <p:txBody>
          <a:bodyPr>
            <a:normAutofit/>
          </a:bodyPr>
          <a:lstStyle/>
          <a:p>
            <a:r>
              <a:rPr lang="en-US" dirty="0">
                <a:solidFill>
                  <a:srgbClr val="FFFFFF"/>
                </a:solidFill>
              </a:rPr>
              <a:t>1. CALCULATE</a:t>
            </a:r>
            <a:br>
              <a:rPr lang="en-US" dirty="0">
                <a:solidFill>
                  <a:srgbClr val="FFFFFF"/>
                </a:solidFill>
              </a:rPr>
            </a:br>
            <a:endParaRPr lang="en-US" dirty="0">
              <a:solidFill>
                <a:srgbClr val="FFFFFF"/>
              </a:solidFill>
            </a:endParaRPr>
          </a:p>
        </p:txBody>
      </p:sp>
      <p:sp>
        <p:nvSpPr>
          <p:cNvPr id="3" name="Content Placeholder 2">
            <a:extLst>
              <a:ext uri="{FF2B5EF4-FFF2-40B4-BE49-F238E27FC236}">
                <a16:creationId xmlns:a16="http://schemas.microsoft.com/office/drawing/2014/main" id="{522A23D5-20F4-D5A4-D87D-B5B1AAFE73B0}"/>
              </a:ext>
            </a:extLst>
          </p:cNvPr>
          <p:cNvSpPr>
            <a:spLocks noGrp="1"/>
          </p:cNvSpPr>
          <p:nvPr>
            <p:ph idx="1"/>
          </p:nvPr>
        </p:nvSpPr>
        <p:spPr>
          <a:xfrm>
            <a:off x="4426876" y="588567"/>
            <a:ext cx="7334594" cy="5057853"/>
          </a:xfrm>
        </p:spPr>
        <p:txBody>
          <a:bodyPr anchor="t">
            <a:normAutofit/>
          </a:bodyPr>
          <a:lstStyle/>
          <a:p>
            <a:pPr marL="0" indent="0">
              <a:buNone/>
            </a:pPr>
            <a:r>
              <a:rPr lang="en-US" sz="2400" dirty="0"/>
              <a:t>The CALCULATE function is among the strongest DAX formula. It evaluates an expression in the context of a changed filter.</a:t>
            </a:r>
          </a:p>
          <a:p>
            <a:pPr marL="0" indent="0">
              <a:buNone/>
            </a:pPr>
            <a:r>
              <a:rPr lang="en-US" sz="2400" dirty="0"/>
              <a:t>CALCULATE(&lt;expression&gt;, &lt;filter1&gt;, &lt;filter2&gt;...)</a:t>
            </a:r>
          </a:p>
          <a:p>
            <a:pPr marL="0" indent="0">
              <a:buNone/>
            </a:pPr>
            <a:endParaRPr lang="en-US" sz="2400" dirty="0"/>
          </a:p>
          <a:p>
            <a:pPr marL="0" indent="0">
              <a:buNone/>
            </a:pPr>
            <a:r>
              <a:rPr lang="en-US" sz="2400" dirty="0"/>
              <a:t>Electronics Sales = CALCULATE(SUM(Sales[Quantity]), Products[Category] = "Electronics")</a:t>
            </a:r>
          </a:p>
        </p:txBody>
      </p:sp>
    </p:spTree>
    <p:extLst>
      <p:ext uri="{BB962C8B-B14F-4D97-AF65-F5344CB8AC3E}">
        <p14:creationId xmlns:p14="http://schemas.microsoft.com/office/powerpoint/2010/main" val="3555198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398FE-986D-DBD7-012D-4B128281EBB7}"/>
              </a:ext>
            </a:extLst>
          </p:cNvPr>
          <p:cNvSpPr>
            <a:spLocks noGrp="1"/>
          </p:cNvSpPr>
          <p:nvPr>
            <p:ph type="title"/>
          </p:nvPr>
        </p:nvSpPr>
        <p:spPr>
          <a:xfrm>
            <a:off x="849683" y="1240076"/>
            <a:ext cx="2727813" cy="4584527"/>
          </a:xfrm>
        </p:spPr>
        <p:txBody>
          <a:bodyPr>
            <a:normAutofit/>
          </a:bodyPr>
          <a:lstStyle/>
          <a:p>
            <a:r>
              <a:rPr lang="en-US">
                <a:solidFill>
                  <a:srgbClr val="FFFFFF"/>
                </a:solidFill>
              </a:rPr>
              <a:t>2. SUM and SUMX</a:t>
            </a:r>
            <a:br>
              <a:rPr lang="en-US">
                <a:solidFill>
                  <a:srgbClr val="FFFFFF"/>
                </a:solidFill>
              </a:rPr>
            </a:br>
            <a:endParaRPr lang="en-US">
              <a:solidFill>
                <a:srgbClr val="FFFFFF"/>
              </a:solidFill>
            </a:endParaRPr>
          </a:p>
        </p:txBody>
      </p:sp>
      <p:sp>
        <p:nvSpPr>
          <p:cNvPr id="3" name="Content Placeholder 2">
            <a:extLst>
              <a:ext uri="{FF2B5EF4-FFF2-40B4-BE49-F238E27FC236}">
                <a16:creationId xmlns:a16="http://schemas.microsoft.com/office/drawing/2014/main" id="{806CB94B-C637-E6F8-2967-9FA5942A0C05}"/>
              </a:ext>
            </a:extLst>
          </p:cNvPr>
          <p:cNvSpPr>
            <a:spLocks noGrp="1"/>
          </p:cNvSpPr>
          <p:nvPr>
            <p:ph idx="1"/>
          </p:nvPr>
        </p:nvSpPr>
        <p:spPr>
          <a:xfrm>
            <a:off x="4225534" y="279957"/>
            <a:ext cx="7570226" cy="5949393"/>
          </a:xfrm>
        </p:spPr>
        <p:txBody>
          <a:bodyPr anchor="t">
            <a:noAutofit/>
          </a:bodyPr>
          <a:lstStyle/>
          <a:p>
            <a:pPr marL="0" indent="0">
              <a:buNone/>
            </a:pPr>
            <a:r>
              <a:rPr lang="en-US" sz="3000" dirty="0"/>
              <a:t>The SUM function is straightforward, summing up all values in a column. SUMX, on the other hand, is an iterator function that sums up the results of an expression evaluated for each row in a table.</a:t>
            </a:r>
          </a:p>
          <a:p>
            <a:pPr marL="0" indent="0">
              <a:buNone/>
            </a:pPr>
            <a:r>
              <a:rPr lang="en-US" sz="3000" dirty="0"/>
              <a:t>SUM(&lt;column&gt;)</a:t>
            </a:r>
          </a:p>
          <a:p>
            <a:pPr marL="0" indent="0">
              <a:buNone/>
            </a:pPr>
            <a:r>
              <a:rPr lang="en-US" sz="3000" dirty="0"/>
              <a:t>SUMX(&lt;table&gt;, &lt;expression&gt;)</a:t>
            </a:r>
          </a:p>
          <a:p>
            <a:pPr marL="0" indent="0">
              <a:buNone/>
            </a:pPr>
            <a:r>
              <a:rPr lang="en-US" sz="3000" dirty="0"/>
              <a:t>Total Quantity Sold = SUM(Sales[Quantity])</a:t>
            </a:r>
          </a:p>
          <a:p>
            <a:pPr marL="0" indent="0">
              <a:buNone/>
            </a:pPr>
            <a:r>
              <a:rPr lang="en-US" sz="3000" dirty="0"/>
              <a:t>Total Profit = SUMX(Sales, Sales[Quantity] * (Sales[</a:t>
            </a:r>
            <a:r>
              <a:rPr lang="en-US" sz="3000" dirty="0" err="1"/>
              <a:t>UnitPrice</a:t>
            </a:r>
            <a:r>
              <a:rPr lang="en-US" sz="3000" dirty="0"/>
              <a:t>] - RELATED(Products[Cost])))</a:t>
            </a:r>
          </a:p>
        </p:txBody>
      </p:sp>
    </p:spTree>
    <p:extLst>
      <p:ext uri="{BB962C8B-B14F-4D97-AF65-F5344CB8AC3E}">
        <p14:creationId xmlns:p14="http://schemas.microsoft.com/office/powerpoint/2010/main" val="3317997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9774ED-702C-6986-495F-7083F70CCEED}"/>
              </a:ext>
            </a:extLst>
          </p:cNvPr>
          <p:cNvSpPr>
            <a:spLocks noGrp="1"/>
          </p:cNvSpPr>
          <p:nvPr>
            <p:ph type="title"/>
          </p:nvPr>
        </p:nvSpPr>
        <p:spPr>
          <a:xfrm>
            <a:off x="849683" y="1240076"/>
            <a:ext cx="2727813" cy="4584527"/>
          </a:xfrm>
        </p:spPr>
        <p:txBody>
          <a:bodyPr>
            <a:normAutofit/>
          </a:bodyPr>
          <a:lstStyle/>
          <a:p>
            <a:r>
              <a:rPr lang="en-US" sz="2200">
                <a:solidFill>
                  <a:srgbClr val="FFFFFF"/>
                </a:solidFill>
              </a:rPr>
              <a:t>3. CALCULATETABLE</a:t>
            </a:r>
          </a:p>
        </p:txBody>
      </p:sp>
      <p:sp>
        <p:nvSpPr>
          <p:cNvPr id="3" name="Content Placeholder 2">
            <a:extLst>
              <a:ext uri="{FF2B5EF4-FFF2-40B4-BE49-F238E27FC236}">
                <a16:creationId xmlns:a16="http://schemas.microsoft.com/office/drawing/2014/main" id="{1D6EA167-598C-7DDC-5D44-96B36708CA3B}"/>
              </a:ext>
            </a:extLst>
          </p:cNvPr>
          <p:cNvSpPr>
            <a:spLocks noGrp="1"/>
          </p:cNvSpPr>
          <p:nvPr>
            <p:ph idx="1"/>
          </p:nvPr>
        </p:nvSpPr>
        <p:spPr>
          <a:xfrm>
            <a:off x="4426876" y="348537"/>
            <a:ext cx="7243154" cy="5835093"/>
          </a:xfrm>
        </p:spPr>
        <p:txBody>
          <a:bodyPr anchor="t">
            <a:normAutofit/>
          </a:bodyPr>
          <a:lstStyle/>
          <a:p>
            <a:r>
              <a:rPr lang="en-US" sz="2800" dirty="0"/>
              <a:t>CALCULATETABLE evaluates a table expression in a modified filter context, similar to how CALCULATE works with scalar expressions.</a:t>
            </a:r>
          </a:p>
          <a:p>
            <a:r>
              <a:rPr lang="en-US" sz="2800" dirty="0"/>
              <a:t>CALCULATETABLE(&lt;</a:t>
            </a:r>
            <a:r>
              <a:rPr lang="en-US" sz="2800" dirty="0" err="1"/>
              <a:t>table_expression</a:t>
            </a:r>
            <a:r>
              <a:rPr lang="en-US" sz="2800" dirty="0"/>
              <a:t>&gt;, &lt;filter1&gt;, &lt;filter2&gt;,...)</a:t>
            </a:r>
          </a:p>
          <a:p>
            <a:r>
              <a:rPr lang="en-US" sz="2800" dirty="0" err="1"/>
              <a:t>Electronics_Sales</a:t>
            </a:r>
            <a:r>
              <a:rPr lang="en-US" sz="2800" dirty="0"/>
              <a:t> =CALCULATETABLE(</a:t>
            </a:r>
            <a:r>
              <a:rPr lang="en-US" sz="2800" dirty="0" err="1"/>
              <a:t>Sales,Product</a:t>
            </a:r>
            <a:r>
              <a:rPr lang="en-US" sz="2800" dirty="0"/>
              <a:t>[Category] = "Electronics")</a:t>
            </a:r>
          </a:p>
        </p:txBody>
      </p:sp>
    </p:spTree>
    <p:extLst>
      <p:ext uri="{BB962C8B-B14F-4D97-AF65-F5344CB8AC3E}">
        <p14:creationId xmlns:p14="http://schemas.microsoft.com/office/powerpoint/2010/main" val="2220403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85861C-B193-BD9B-7B63-0998DBE33E4B}"/>
              </a:ext>
            </a:extLst>
          </p:cNvPr>
          <p:cNvPicPr>
            <a:picLocks noChangeAspect="1"/>
          </p:cNvPicPr>
          <p:nvPr/>
        </p:nvPicPr>
        <p:blipFill>
          <a:blip r:embed="rId2"/>
          <a:stretch>
            <a:fillRect/>
          </a:stretch>
        </p:blipFill>
        <p:spPr>
          <a:xfrm>
            <a:off x="0" y="1219840"/>
            <a:ext cx="12192000" cy="4418319"/>
          </a:xfrm>
          <a:prstGeom prst="rect">
            <a:avLst/>
          </a:prstGeom>
        </p:spPr>
      </p:pic>
    </p:spTree>
    <p:extLst>
      <p:ext uri="{BB962C8B-B14F-4D97-AF65-F5344CB8AC3E}">
        <p14:creationId xmlns:p14="http://schemas.microsoft.com/office/powerpoint/2010/main" val="3941623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A4D6D-EA05-AF63-06A5-8C8E30103C61}"/>
              </a:ext>
            </a:extLst>
          </p:cNvPr>
          <p:cNvSpPr>
            <a:spLocks noGrp="1"/>
          </p:cNvSpPr>
          <p:nvPr>
            <p:ph type="title"/>
          </p:nvPr>
        </p:nvSpPr>
        <p:spPr/>
        <p:txBody>
          <a:bodyPr/>
          <a:lstStyle/>
          <a:p>
            <a:r>
              <a:rPr lang="en-US" dirty="0"/>
              <a:t>Examples of </a:t>
            </a:r>
            <a:r>
              <a:rPr lang="en-US" dirty="0" err="1"/>
              <a:t>Calculatetable</a:t>
            </a:r>
            <a:endParaRPr lang="en-US" dirty="0"/>
          </a:p>
        </p:txBody>
      </p:sp>
      <p:sp>
        <p:nvSpPr>
          <p:cNvPr id="3" name="Content Placeholder 2">
            <a:extLst>
              <a:ext uri="{FF2B5EF4-FFF2-40B4-BE49-F238E27FC236}">
                <a16:creationId xmlns:a16="http://schemas.microsoft.com/office/drawing/2014/main" id="{2D06B155-5940-8FD5-DDD4-16A537110E1A}"/>
              </a:ext>
            </a:extLst>
          </p:cNvPr>
          <p:cNvSpPr>
            <a:spLocks noGrp="1"/>
          </p:cNvSpPr>
          <p:nvPr>
            <p:ph idx="1"/>
          </p:nvPr>
        </p:nvSpPr>
        <p:spPr>
          <a:xfrm>
            <a:off x="137129" y="2038592"/>
            <a:ext cx="4983511" cy="3450613"/>
          </a:xfrm>
        </p:spPr>
        <p:txBody>
          <a:bodyPr/>
          <a:lstStyle/>
          <a:p>
            <a:pPr marL="0" indent="0">
              <a:buNone/>
            </a:pPr>
            <a:r>
              <a:rPr lang="en-US" b="1" dirty="0"/>
              <a:t>Example 2 — High Quantity Orders</a:t>
            </a:r>
          </a:p>
          <a:p>
            <a:pPr marL="0" indent="0">
              <a:buNone/>
            </a:pPr>
            <a:r>
              <a:rPr lang="en-US" dirty="0"/>
              <a:t>Create a table where Quantity &gt; 3</a:t>
            </a:r>
          </a:p>
          <a:p>
            <a:pPr marL="0" indent="0">
              <a:buNone/>
            </a:pPr>
            <a:r>
              <a:rPr lang="en-US" dirty="0" err="1"/>
              <a:t>HighQuantitySales</a:t>
            </a:r>
            <a:r>
              <a:rPr lang="en-US" dirty="0"/>
              <a:t> =</a:t>
            </a:r>
          </a:p>
          <a:p>
            <a:pPr marL="0" indent="0">
              <a:buNone/>
            </a:pPr>
            <a:r>
              <a:rPr lang="en-US" dirty="0"/>
              <a:t>CALCULATETABLE(</a:t>
            </a:r>
          </a:p>
          <a:p>
            <a:pPr marL="0" indent="0">
              <a:buNone/>
            </a:pPr>
            <a:r>
              <a:rPr lang="en-US" dirty="0"/>
              <a:t>    Sales,</a:t>
            </a:r>
          </a:p>
          <a:p>
            <a:pPr marL="0" indent="0">
              <a:buNone/>
            </a:pPr>
            <a:r>
              <a:rPr lang="en-US" dirty="0"/>
              <a:t>    Sales[Quantity] &gt; 3</a:t>
            </a:r>
          </a:p>
          <a:p>
            <a:pPr marL="0" indent="0">
              <a:buNone/>
            </a:pPr>
            <a:r>
              <a:rPr lang="en-US" dirty="0"/>
              <a:t>)</a:t>
            </a:r>
          </a:p>
        </p:txBody>
      </p:sp>
      <p:sp>
        <p:nvSpPr>
          <p:cNvPr id="5" name="TextBox 4">
            <a:extLst>
              <a:ext uri="{FF2B5EF4-FFF2-40B4-BE49-F238E27FC236}">
                <a16:creationId xmlns:a16="http://schemas.microsoft.com/office/drawing/2014/main" id="{06760B03-4980-CA70-0F6A-59E1654D0761}"/>
              </a:ext>
            </a:extLst>
          </p:cNvPr>
          <p:cNvSpPr txBox="1"/>
          <p:nvPr/>
        </p:nvSpPr>
        <p:spPr>
          <a:xfrm>
            <a:off x="5383529" y="2038592"/>
            <a:ext cx="6671341" cy="3416320"/>
          </a:xfrm>
          <a:prstGeom prst="rect">
            <a:avLst/>
          </a:prstGeom>
          <a:noFill/>
        </p:spPr>
        <p:txBody>
          <a:bodyPr wrap="square">
            <a:spAutoFit/>
          </a:bodyPr>
          <a:lstStyle/>
          <a:p>
            <a:pPr>
              <a:buNone/>
            </a:pPr>
            <a:r>
              <a:rPr lang="en-US" sz="2400" b="1" dirty="0"/>
              <a:t>Example 3 — Multiple Filters</a:t>
            </a:r>
          </a:p>
          <a:p>
            <a:pPr>
              <a:buNone/>
            </a:pPr>
            <a:r>
              <a:rPr lang="en-US" sz="2400" dirty="0"/>
              <a:t>Suppose:  Category = Electronics  and Quantity &gt; 2</a:t>
            </a:r>
          </a:p>
          <a:p>
            <a:pPr>
              <a:buFont typeface="Arial" panose="020B0604020202020204" pitchFamily="34" charset="0"/>
              <a:buChar char="•"/>
            </a:pPr>
            <a:endParaRPr lang="en-US" sz="2400" dirty="0"/>
          </a:p>
          <a:p>
            <a:r>
              <a:rPr lang="en-US" sz="2400" dirty="0" err="1"/>
              <a:t>FilteredSales</a:t>
            </a:r>
            <a:r>
              <a:rPr lang="en-US" sz="2400" dirty="0"/>
              <a:t> =</a:t>
            </a:r>
          </a:p>
          <a:p>
            <a:r>
              <a:rPr lang="en-US" sz="2400" dirty="0"/>
              <a:t>CALCULATETABLE(</a:t>
            </a:r>
          </a:p>
          <a:p>
            <a:r>
              <a:rPr lang="en-US" sz="2400" dirty="0"/>
              <a:t>    Sales,</a:t>
            </a:r>
          </a:p>
          <a:p>
            <a:r>
              <a:rPr lang="en-US" sz="2400" dirty="0"/>
              <a:t>    Product[Category] = "Electronics",</a:t>
            </a:r>
          </a:p>
          <a:p>
            <a:r>
              <a:rPr lang="en-US" sz="2400" dirty="0"/>
              <a:t>    Sales[Quantity] &gt; 2</a:t>
            </a:r>
          </a:p>
          <a:p>
            <a:r>
              <a:rPr lang="en-US" sz="2400" dirty="0"/>
              <a:t>)</a:t>
            </a:r>
          </a:p>
        </p:txBody>
      </p:sp>
    </p:spTree>
    <p:extLst>
      <p:ext uri="{BB962C8B-B14F-4D97-AF65-F5344CB8AC3E}">
        <p14:creationId xmlns:p14="http://schemas.microsoft.com/office/powerpoint/2010/main" val="1917718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09FA1-723C-F12D-71CD-64B1F5AE8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DD79A-20FB-51F9-8C02-92C2F0FD2184}"/>
              </a:ext>
            </a:extLst>
          </p:cNvPr>
          <p:cNvSpPr>
            <a:spLocks noGrp="1"/>
          </p:cNvSpPr>
          <p:nvPr>
            <p:ph type="title"/>
          </p:nvPr>
        </p:nvSpPr>
        <p:spPr/>
        <p:txBody>
          <a:bodyPr/>
          <a:lstStyle/>
          <a:p>
            <a:r>
              <a:rPr lang="en-US" dirty="0"/>
              <a:t>Examples of </a:t>
            </a:r>
            <a:r>
              <a:rPr lang="en-US" dirty="0" err="1"/>
              <a:t>Calculatetable</a:t>
            </a:r>
            <a:endParaRPr lang="en-US" dirty="0"/>
          </a:p>
        </p:txBody>
      </p:sp>
      <p:sp>
        <p:nvSpPr>
          <p:cNvPr id="3" name="Content Placeholder 2">
            <a:extLst>
              <a:ext uri="{FF2B5EF4-FFF2-40B4-BE49-F238E27FC236}">
                <a16:creationId xmlns:a16="http://schemas.microsoft.com/office/drawing/2014/main" id="{6754515B-6E5B-D8BF-65EE-A02CA4AD472B}"/>
              </a:ext>
            </a:extLst>
          </p:cNvPr>
          <p:cNvSpPr>
            <a:spLocks noGrp="1"/>
          </p:cNvSpPr>
          <p:nvPr>
            <p:ph idx="1"/>
          </p:nvPr>
        </p:nvSpPr>
        <p:spPr>
          <a:xfrm>
            <a:off x="137129" y="2038592"/>
            <a:ext cx="4983511" cy="3450613"/>
          </a:xfrm>
        </p:spPr>
        <p:txBody>
          <a:bodyPr>
            <a:normAutofit/>
          </a:bodyPr>
          <a:lstStyle/>
          <a:p>
            <a:pPr marL="0" indent="0">
              <a:buNone/>
            </a:pPr>
            <a:r>
              <a:rPr lang="en-US" sz="2400" dirty="0"/>
              <a:t>Example 4 — Sales After Specific Date</a:t>
            </a:r>
          </a:p>
          <a:p>
            <a:pPr marL="0" indent="0">
              <a:buNone/>
            </a:pPr>
            <a:r>
              <a:rPr lang="en-US" sz="2400" dirty="0" err="1"/>
              <a:t>RecentSales</a:t>
            </a:r>
            <a:r>
              <a:rPr lang="en-US" sz="2400" dirty="0"/>
              <a:t> =</a:t>
            </a:r>
          </a:p>
          <a:p>
            <a:pPr marL="0" indent="0">
              <a:buNone/>
            </a:pPr>
            <a:r>
              <a:rPr lang="en-US" sz="2400" dirty="0"/>
              <a:t>CALCULATETABLE(</a:t>
            </a:r>
          </a:p>
          <a:p>
            <a:pPr marL="0" indent="0">
              <a:buNone/>
            </a:pPr>
            <a:r>
              <a:rPr lang="en-US" sz="2400" dirty="0"/>
              <a:t>    Sales,</a:t>
            </a:r>
          </a:p>
          <a:p>
            <a:pPr marL="0" indent="0">
              <a:buNone/>
            </a:pPr>
            <a:r>
              <a:rPr lang="en-US" sz="2400" dirty="0"/>
              <a:t>    Sales[Date] &gt;= DATE(2023,1,5)</a:t>
            </a:r>
          </a:p>
          <a:p>
            <a:pPr marL="0" indent="0">
              <a:buNone/>
            </a:pPr>
            <a:r>
              <a:rPr lang="en-US" sz="2400" dirty="0"/>
              <a:t>)</a:t>
            </a:r>
          </a:p>
        </p:txBody>
      </p:sp>
      <p:sp>
        <p:nvSpPr>
          <p:cNvPr id="5" name="TextBox 4">
            <a:extLst>
              <a:ext uri="{FF2B5EF4-FFF2-40B4-BE49-F238E27FC236}">
                <a16:creationId xmlns:a16="http://schemas.microsoft.com/office/drawing/2014/main" id="{D354EB55-39D2-EA8D-4472-01F6943444FC}"/>
              </a:ext>
            </a:extLst>
          </p:cNvPr>
          <p:cNvSpPr txBox="1"/>
          <p:nvPr/>
        </p:nvSpPr>
        <p:spPr>
          <a:xfrm>
            <a:off x="5120641" y="2038592"/>
            <a:ext cx="6934230" cy="3785652"/>
          </a:xfrm>
          <a:prstGeom prst="rect">
            <a:avLst/>
          </a:prstGeom>
          <a:noFill/>
        </p:spPr>
        <p:txBody>
          <a:bodyPr wrap="square">
            <a:spAutoFit/>
          </a:bodyPr>
          <a:lstStyle/>
          <a:p>
            <a:pPr>
              <a:buNone/>
            </a:pPr>
            <a:r>
              <a:rPr lang="en-US" sz="2400" dirty="0"/>
              <a:t>Example 5 — Using FILTER Inside CALCULATETABLE</a:t>
            </a:r>
            <a:endParaRPr lang="en-US" sz="2400" b="1" dirty="0"/>
          </a:p>
          <a:p>
            <a:pPr>
              <a:buNone/>
            </a:pPr>
            <a:endParaRPr lang="en-US" sz="2400" dirty="0"/>
          </a:p>
          <a:p>
            <a:pPr>
              <a:buNone/>
            </a:pPr>
            <a:r>
              <a:rPr lang="en-US" sz="2400" dirty="0" err="1"/>
              <a:t>ExpensiveProductSales</a:t>
            </a:r>
            <a:r>
              <a:rPr lang="en-US" sz="2400" dirty="0"/>
              <a:t> =</a:t>
            </a:r>
          </a:p>
          <a:p>
            <a:pPr>
              <a:buNone/>
            </a:pPr>
            <a:r>
              <a:rPr lang="en-US" sz="2400" dirty="0"/>
              <a:t>CALCULATETABLE(</a:t>
            </a:r>
          </a:p>
          <a:p>
            <a:pPr>
              <a:buNone/>
            </a:pPr>
            <a:r>
              <a:rPr lang="en-US" sz="2400" dirty="0"/>
              <a:t>    Sales,</a:t>
            </a:r>
          </a:p>
          <a:p>
            <a:pPr>
              <a:buNone/>
            </a:pPr>
            <a:r>
              <a:rPr lang="en-US" sz="2400" dirty="0"/>
              <a:t>    FILTER(</a:t>
            </a:r>
          </a:p>
          <a:p>
            <a:pPr>
              <a:buNone/>
            </a:pPr>
            <a:r>
              <a:rPr lang="en-US" sz="2400" dirty="0"/>
              <a:t>        Product,</a:t>
            </a:r>
          </a:p>
          <a:p>
            <a:pPr>
              <a:buNone/>
            </a:pPr>
            <a:r>
              <a:rPr lang="en-US" sz="2400" dirty="0"/>
              <a:t>        Product[Cost] &gt; 20</a:t>
            </a:r>
          </a:p>
          <a:p>
            <a:pPr>
              <a:buNone/>
            </a:pPr>
            <a:r>
              <a:rPr lang="en-US" sz="2400" dirty="0"/>
              <a:t>    )</a:t>
            </a:r>
          </a:p>
          <a:p>
            <a:pPr>
              <a:buNone/>
            </a:pPr>
            <a:r>
              <a:rPr lang="en-US" sz="2400" dirty="0"/>
              <a:t>)</a:t>
            </a:r>
          </a:p>
        </p:txBody>
      </p:sp>
    </p:spTree>
    <p:extLst>
      <p:ext uri="{BB962C8B-B14F-4D97-AF65-F5344CB8AC3E}">
        <p14:creationId xmlns:p14="http://schemas.microsoft.com/office/powerpoint/2010/main" val="2316016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C8CCD4-D8D1-67E8-1AA5-454126DBA4A8}"/>
              </a:ext>
            </a:extLst>
          </p:cNvPr>
          <p:cNvSpPr txBox="1"/>
          <p:nvPr/>
        </p:nvSpPr>
        <p:spPr>
          <a:xfrm>
            <a:off x="1805940" y="1997839"/>
            <a:ext cx="7383780" cy="2862322"/>
          </a:xfrm>
          <a:prstGeom prst="rect">
            <a:avLst/>
          </a:prstGeom>
          <a:noFill/>
        </p:spPr>
        <p:txBody>
          <a:bodyPr wrap="square">
            <a:spAutoFit/>
          </a:bodyPr>
          <a:lstStyle/>
          <a:p>
            <a:r>
              <a:rPr lang="en-US" dirty="0"/>
              <a:t>Total Sales Rank =</a:t>
            </a:r>
            <a:br>
              <a:rPr lang="en-US" dirty="0"/>
            </a:br>
            <a:r>
              <a:rPr lang="en-US" dirty="0"/>
              <a:t>RANKX(</a:t>
            </a:r>
            <a:br>
              <a:rPr lang="en-US" dirty="0"/>
            </a:br>
            <a:r>
              <a:rPr lang="en-US" dirty="0"/>
              <a:t>    ALL(Sales[</a:t>
            </a:r>
            <a:r>
              <a:rPr lang="en-US" dirty="0" err="1"/>
              <a:t>SalesPersonID</a:t>
            </a:r>
            <a:r>
              <a:rPr lang="en-US" dirty="0"/>
              <a:t>]),</a:t>
            </a:r>
            <a:br>
              <a:rPr lang="en-US" dirty="0"/>
            </a:br>
            <a:r>
              <a:rPr lang="en-US" dirty="0"/>
              <a:t>    CALCULATE(</a:t>
            </a:r>
            <a:br>
              <a:rPr lang="en-US" dirty="0"/>
            </a:br>
            <a:r>
              <a:rPr lang="en-US" dirty="0"/>
              <a:t>        SUMX(</a:t>
            </a:r>
            <a:br>
              <a:rPr lang="en-US" dirty="0"/>
            </a:br>
            <a:r>
              <a:rPr lang="en-US" dirty="0"/>
              <a:t>            Sales,</a:t>
            </a:r>
            <a:br>
              <a:rPr lang="en-US" dirty="0"/>
            </a:br>
            <a:r>
              <a:rPr lang="en-US" dirty="0"/>
              <a:t>            Sales[Quantity] * Sales[</a:t>
            </a:r>
            <a:r>
              <a:rPr lang="en-US" dirty="0" err="1"/>
              <a:t>UnitPrice</a:t>
            </a:r>
            <a:r>
              <a:rPr lang="en-US" dirty="0"/>
              <a:t>]</a:t>
            </a:r>
            <a:br>
              <a:rPr lang="en-US" dirty="0"/>
            </a:br>
            <a:r>
              <a:rPr lang="en-US" dirty="0"/>
              <a:t>        )</a:t>
            </a:r>
            <a:br>
              <a:rPr lang="en-US" dirty="0"/>
            </a:br>
            <a:r>
              <a:rPr lang="en-US" dirty="0"/>
              <a:t>    )</a:t>
            </a:r>
            <a:br>
              <a:rPr lang="en-US" dirty="0"/>
            </a:br>
            <a:r>
              <a:rPr lang="en-US" dirty="0"/>
              <a:t>)</a:t>
            </a:r>
          </a:p>
        </p:txBody>
      </p:sp>
    </p:spTree>
    <p:extLst>
      <p:ext uri="{BB962C8B-B14F-4D97-AF65-F5344CB8AC3E}">
        <p14:creationId xmlns:p14="http://schemas.microsoft.com/office/powerpoint/2010/main" val="3860045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C4EC9C-13A5-AA66-2E78-47CE6E47F78F}"/>
              </a:ext>
            </a:extLst>
          </p:cNvPr>
          <p:cNvSpPr>
            <a:spLocks noGrp="1"/>
          </p:cNvSpPr>
          <p:nvPr>
            <p:ph type="title"/>
          </p:nvPr>
        </p:nvSpPr>
        <p:spPr>
          <a:xfrm>
            <a:off x="849683" y="1240076"/>
            <a:ext cx="2727813" cy="4584527"/>
          </a:xfrm>
        </p:spPr>
        <p:txBody>
          <a:bodyPr>
            <a:normAutofit/>
          </a:bodyPr>
          <a:lstStyle/>
          <a:p>
            <a:r>
              <a:rPr lang="en-US">
                <a:solidFill>
                  <a:srgbClr val="FFFFFF"/>
                </a:solidFill>
              </a:rPr>
              <a:t>RANKX</a:t>
            </a:r>
            <a:br>
              <a:rPr lang="en-US">
                <a:solidFill>
                  <a:srgbClr val="FFFFFF"/>
                </a:solidFill>
              </a:rPr>
            </a:br>
            <a:endParaRPr lang="en-US">
              <a:solidFill>
                <a:srgbClr val="FFFFFF"/>
              </a:solidFill>
            </a:endParaRPr>
          </a:p>
        </p:txBody>
      </p:sp>
      <p:sp>
        <p:nvSpPr>
          <p:cNvPr id="3" name="Content Placeholder 2">
            <a:extLst>
              <a:ext uri="{FF2B5EF4-FFF2-40B4-BE49-F238E27FC236}">
                <a16:creationId xmlns:a16="http://schemas.microsoft.com/office/drawing/2014/main" id="{B113D209-9BC9-CDEE-F710-9A1F27699E8A}"/>
              </a:ext>
            </a:extLst>
          </p:cNvPr>
          <p:cNvSpPr>
            <a:spLocks noGrp="1"/>
          </p:cNvSpPr>
          <p:nvPr>
            <p:ph idx="1"/>
          </p:nvPr>
        </p:nvSpPr>
        <p:spPr>
          <a:xfrm>
            <a:off x="4263390" y="80010"/>
            <a:ext cx="7928307" cy="6857999"/>
          </a:xfrm>
        </p:spPr>
        <p:txBody>
          <a:bodyPr anchor="t">
            <a:normAutofit lnSpcReduction="10000"/>
          </a:bodyPr>
          <a:lstStyle/>
          <a:p>
            <a:pPr>
              <a:lnSpc>
                <a:spcPct val="110000"/>
              </a:lnSpc>
            </a:pPr>
            <a:r>
              <a:rPr lang="en-US" sz="2800" dirty="0"/>
              <a:t>RANKX ranks items in a table based on an expression. It helps create rankings within a data set. his process will help you:</a:t>
            </a:r>
          </a:p>
          <a:p>
            <a:pPr lvl="1">
              <a:lnSpc>
                <a:spcPct val="110000"/>
              </a:lnSpc>
            </a:pPr>
            <a:r>
              <a:rPr lang="en-US" sz="2600" dirty="0"/>
              <a:t>Create Total Sales </a:t>
            </a:r>
          </a:p>
          <a:p>
            <a:pPr lvl="1">
              <a:lnSpc>
                <a:spcPct val="110000"/>
              </a:lnSpc>
            </a:pPr>
            <a:r>
              <a:rPr lang="en-US" sz="2600" dirty="0"/>
              <a:t>Create Rank using RANKX </a:t>
            </a:r>
          </a:p>
          <a:p>
            <a:pPr lvl="1">
              <a:lnSpc>
                <a:spcPct val="110000"/>
              </a:lnSpc>
            </a:pPr>
            <a:r>
              <a:rPr lang="en-US" sz="2600" dirty="0"/>
              <a:t>Add visuals </a:t>
            </a:r>
          </a:p>
          <a:p>
            <a:pPr lvl="1">
              <a:lnSpc>
                <a:spcPct val="110000"/>
              </a:lnSpc>
            </a:pPr>
            <a:r>
              <a:rPr lang="en-US" sz="2600" dirty="0"/>
              <a:t>Display ranking on dashboard</a:t>
            </a:r>
          </a:p>
          <a:p>
            <a:pPr>
              <a:lnSpc>
                <a:spcPct val="110000"/>
              </a:lnSpc>
            </a:pPr>
            <a:r>
              <a:rPr lang="en-US" sz="2800" dirty="0" err="1"/>
              <a:t>Rankx</a:t>
            </a:r>
            <a:r>
              <a:rPr lang="en-US" sz="2800" dirty="0"/>
              <a:t>(&lt;table&gt;,&lt;expression&gt;,&lt;value&gt;(optional),&lt;order&gt;(optional),&lt;ties&gt;(optional))</a:t>
            </a:r>
          </a:p>
          <a:p>
            <a:pPr>
              <a:lnSpc>
                <a:spcPct val="110000"/>
              </a:lnSpc>
            </a:pPr>
            <a:r>
              <a:rPr lang="en-US" sz="2800" dirty="0"/>
              <a:t>RANKX(</a:t>
            </a:r>
          </a:p>
          <a:p>
            <a:pPr marL="0" indent="0">
              <a:lnSpc>
                <a:spcPct val="110000"/>
              </a:lnSpc>
              <a:buNone/>
            </a:pPr>
            <a:r>
              <a:rPr lang="en-US" sz="2800" dirty="0"/>
              <a:t>    ALL(Sales[</a:t>
            </a:r>
            <a:r>
              <a:rPr lang="en-US" sz="2800" dirty="0" err="1"/>
              <a:t>SalesPersonID</a:t>
            </a:r>
            <a:r>
              <a:rPr lang="en-US" sz="2800" dirty="0"/>
              <a:t>]),</a:t>
            </a:r>
          </a:p>
          <a:p>
            <a:pPr marL="0" indent="0">
              <a:lnSpc>
                <a:spcPct val="110000"/>
              </a:lnSpc>
              <a:buNone/>
            </a:pPr>
            <a:r>
              <a:rPr lang="en-US" sz="2800" dirty="0"/>
              <a:t>    CALCULATE(SUM(Sales[Quantity] * Sales[</a:t>
            </a:r>
            <a:r>
              <a:rPr lang="en-US" sz="2800" dirty="0" err="1"/>
              <a:t>UnitPrice</a:t>
            </a:r>
            <a:r>
              <a:rPr lang="en-US" sz="2800" dirty="0"/>
              <a:t>]))</a:t>
            </a:r>
          </a:p>
          <a:p>
            <a:pPr marL="0" indent="0">
              <a:lnSpc>
                <a:spcPct val="110000"/>
              </a:lnSpc>
              <a:buNone/>
            </a:pPr>
            <a:r>
              <a:rPr lang="en-US" sz="2800" dirty="0"/>
              <a:t>)</a:t>
            </a:r>
          </a:p>
        </p:txBody>
      </p:sp>
    </p:spTree>
    <p:extLst>
      <p:ext uri="{BB962C8B-B14F-4D97-AF65-F5344CB8AC3E}">
        <p14:creationId xmlns:p14="http://schemas.microsoft.com/office/powerpoint/2010/main" val="471957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C90E19-5FE9-9A11-C4BA-21224D44743B}"/>
              </a:ext>
            </a:extLst>
          </p:cNvPr>
          <p:cNvSpPr>
            <a:spLocks noGrp="1"/>
          </p:cNvSpPr>
          <p:nvPr>
            <p:ph type="title"/>
          </p:nvPr>
        </p:nvSpPr>
        <p:spPr>
          <a:xfrm>
            <a:off x="849683" y="1240076"/>
            <a:ext cx="2727813" cy="4584527"/>
          </a:xfrm>
        </p:spPr>
        <p:txBody>
          <a:bodyPr>
            <a:normAutofit/>
          </a:bodyPr>
          <a:lstStyle/>
          <a:p>
            <a:r>
              <a:rPr lang="en-US">
                <a:solidFill>
                  <a:srgbClr val="FFFFFF"/>
                </a:solidFill>
              </a:rPr>
              <a:t>steps</a:t>
            </a:r>
          </a:p>
        </p:txBody>
      </p:sp>
      <p:sp>
        <p:nvSpPr>
          <p:cNvPr id="3" name="Content Placeholder 2">
            <a:extLst>
              <a:ext uri="{FF2B5EF4-FFF2-40B4-BE49-F238E27FC236}">
                <a16:creationId xmlns:a16="http://schemas.microsoft.com/office/drawing/2014/main" id="{66397323-DE22-5214-6A5D-EDBE8CF62954}"/>
              </a:ext>
            </a:extLst>
          </p:cNvPr>
          <p:cNvSpPr>
            <a:spLocks noGrp="1"/>
          </p:cNvSpPr>
          <p:nvPr>
            <p:ph idx="1"/>
          </p:nvPr>
        </p:nvSpPr>
        <p:spPr>
          <a:xfrm>
            <a:off x="4426876" y="274320"/>
            <a:ext cx="7117424" cy="6583679"/>
          </a:xfrm>
        </p:spPr>
        <p:txBody>
          <a:bodyPr anchor="t">
            <a:noAutofit/>
          </a:bodyPr>
          <a:lstStyle/>
          <a:p>
            <a:pPr>
              <a:lnSpc>
                <a:spcPct val="110000"/>
              </a:lnSpc>
            </a:pPr>
            <a:r>
              <a:rPr lang="en-US" sz="2400" dirty="0"/>
              <a:t>Create relationships </a:t>
            </a:r>
          </a:p>
          <a:p>
            <a:pPr>
              <a:lnSpc>
                <a:spcPct val="110000"/>
              </a:lnSpc>
            </a:pPr>
            <a:r>
              <a:rPr lang="en-US" sz="2400" dirty="0"/>
              <a:t>Create Total Sales Column</a:t>
            </a:r>
          </a:p>
          <a:p>
            <a:pPr marL="0" indent="0">
              <a:lnSpc>
                <a:spcPct val="110000"/>
              </a:lnSpc>
              <a:buNone/>
            </a:pPr>
            <a:r>
              <a:rPr lang="en-US" sz="2400" dirty="0"/>
              <a:t>	</a:t>
            </a:r>
            <a:r>
              <a:rPr lang="en-US" sz="2400" dirty="0" err="1"/>
              <a:t>TotalSales</a:t>
            </a:r>
            <a:r>
              <a:rPr lang="en-US" sz="2400" dirty="0"/>
              <a:t> = Sales[Quantity] * Sales[</a:t>
            </a:r>
            <a:r>
              <a:rPr lang="en-US" sz="2400" dirty="0" err="1"/>
              <a:t>UnitPrice</a:t>
            </a:r>
            <a:r>
              <a:rPr lang="en-US" sz="2400" dirty="0"/>
              <a:t>]</a:t>
            </a:r>
          </a:p>
          <a:p>
            <a:pPr>
              <a:lnSpc>
                <a:spcPct val="110000"/>
              </a:lnSpc>
            </a:pPr>
            <a:r>
              <a:rPr lang="en-US" sz="2400" dirty="0"/>
              <a:t>Create Total Sales Measure</a:t>
            </a:r>
          </a:p>
          <a:p>
            <a:pPr>
              <a:lnSpc>
                <a:spcPct val="110000"/>
              </a:lnSpc>
            </a:pPr>
            <a:r>
              <a:rPr lang="en-US" sz="2400" dirty="0" err="1"/>
              <a:t>TotalSales</a:t>
            </a:r>
            <a:r>
              <a:rPr lang="en-US" sz="2400" dirty="0"/>
              <a:t> = Sales[Quantity] * Sales[</a:t>
            </a:r>
            <a:r>
              <a:rPr lang="en-US" sz="2400" dirty="0" err="1"/>
              <a:t>UnitPrice</a:t>
            </a:r>
            <a:r>
              <a:rPr lang="en-US" sz="2400" dirty="0"/>
              <a:t>]</a:t>
            </a:r>
          </a:p>
          <a:p>
            <a:pPr>
              <a:lnSpc>
                <a:spcPct val="110000"/>
              </a:lnSpc>
            </a:pPr>
            <a:r>
              <a:rPr lang="en-US" sz="2400" dirty="0"/>
              <a:t>Create RANKX Measure</a:t>
            </a:r>
          </a:p>
          <a:p>
            <a:pPr>
              <a:lnSpc>
                <a:spcPct val="110000"/>
              </a:lnSpc>
            </a:pPr>
            <a:r>
              <a:rPr lang="en-US" sz="2400" dirty="0"/>
              <a:t>Product Rank = RANKX( ALL(Product[ProductName]),     CALCULATE(SUM(Sales[</a:t>
            </a:r>
            <a:r>
              <a:rPr lang="en-US" sz="2400" dirty="0" err="1"/>
              <a:t>TotalSales</a:t>
            </a:r>
            <a:r>
              <a:rPr lang="en-US" sz="2400" dirty="0"/>
              <a:t>])), ,DESC,DENSE)</a:t>
            </a:r>
          </a:p>
          <a:p>
            <a:pPr>
              <a:lnSpc>
                <a:spcPct val="110000"/>
              </a:lnSpc>
            </a:pPr>
            <a:r>
              <a:rPr lang="en-US" sz="2400" dirty="0"/>
              <a:t>Add Table Visual for electronics table </a:t>
            </a:r>
          </a:p>
          <a:p>
            <a:pPr>
              <a:lnSpc>
                <a:spcPct val="110000"/>
              </a:lnSpc>
            </a:pPr>
            <a:r>
              <a:rPr lang="en-US" sz="2400" dirty="0"/>
              <a:t>Add Fields – product name,  total sales, rank</a:t>
            </a:r>
          </a:p>
        </p:txBody>
      </p:sp>
    </p:spTree>
    <p:extLst>
      <p:ext uri="{BB962C8B-B14F-4D97-AF65-F5344CB8AC3E}">
        <p14:creationId xmlns:p14="http://schemas.microsoft.com/office/powerpoint/2010/main" val="2143165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330AC3-520B-63C5-6E50-05606DA98255}"/>
              </a:ext>
            </a:extLst>
          </p:cNvPr>
          <p:cNvSpPr>
            <a:spLocks noGrp="1"/>
          </p:cNvSpPr>
          <p:nvPr>
            <p:ph type="title"/>
          </p:nvPr>
        </p:nvSpPr>
        <p:spPr>
          <a:xfrm>
            <a:off x="849683" y="1240076"/>
            <a:ext cx="2727813" cy="4584527"/>
          </a:xfrm>
        </p:spPr>
        <p:txBody>
          <a:bodyPr>
            <a:normAutofit/>
          </a:bodyPr>
          <a:lstStyle/>
          <a:p>
            <a:r>
              <a:rPr lang="en-US">
                <a:solidFill>
                  <a:srgbClr val="FFFFFF"/>
                </a:solidFill>
              </a:rPr>
              <a:t>VLookUP in Power BI</a:t>
            </a:r>
          </a:p>
        </p:txBody>
      </p:sp>
      <p:sp>
        <p:nvSpPr>
          <p:cNvPr id="3" name="Content Placeholder 2">
            <a:extLst>
              <a:ext uri="{FF2B5EF4-FFF2-40B4-BE49-F238E27FC236}">
                <a16:creationId xmlns:a16="http://schemas.microsoft.com/office/drawing/2014/main" id="{45CE1562-F3B0-BFDC-350B-222355BC2BC3}"/>
              </a:ext>
            </a:extLst>
          </p:cNvPr>
          <p:cNvSpPr>
            <a:spLocks noGrp="1"/>
          </p:cNvSpPr>
          <p:nvPr>
            <p:ph idx="1"/>
          </p:nvPr>
        </p:nvSpPr>
        <p:spPr>
          <a:xfrm>
            <a:off x="4705594" y="1240077"/>
            <a:ext cx="6034827" cy="4916465"/>
          </a:xfrm>
        </p:spPr>
        <p:txBody>
          <a:bodyPr anchor="t">
            <a:normAutofit/>
          </a:bodyPr>
          <a:lstStyle/>
          <a:p>
            <a:pPr marL="0" indent="0">
              <a:buNone/>
            </a:pPr>
            <a:r>
              <a:rPr lang="en-US" sz="3200" dirty="0"/>
              <a:t>In Power BI, there is no direct Excel VLOOKUP function. Instead, Power BI uses:</a:t>
            </a:r>
          </a:p>
          <a:p>
            <a:pPr marL="457200" indent="-457200">
              <a:buFont typeface="+mj-lt"/>
              <a:buAutoNum type="arabicPeriod"/>
            </a:pPr>
            <a:r>
              <a:rPr lang="en-US" sz="3200" dirty="0"/>
              <a:t>Relationships </a:t>
            </a:r>
          </a:p>
          <a:p>
            <a:pPr marL="457200" indent="-457200">
              <a:buFont typeface="+mj-lt"/>
              <a:buAutoNum type="arabicPeriod"/>
            </a:pPr>
            <a:r>
              <a:rPr lang="en-US" sz="3200" dirty="0"/>
              <a:t>RELATED() </a:t>
            </a:r>
          </a:p>
          <a:p>
            <a:pPr marL="457200" indent="-457200">
              <a:buFont typeface="+mj-lt"/>
              <a:buAutoNum type="arabicPeriod"/>
            </a:pPr>
            <a:r>
              <a:rPr lang="en-US" sz="3200" dirty="0"/>
              <a:t>LOOKUPVALUE() </a:t>
            </a:r>
          </a:p>
          <a:p>
            <a:pPr marL="457200" indent="-457200">
              <a:buFont typeface="+mj-lt"/>
              <a:buAutoNum type="arabicPeriod"/>
            </a:pPr>
            <a:r>
              <a:rPr lang="en-US" sz="3200" dirty="0"/>
              <a:t>Merge Queries (Power Query)</a:t>
            </a:r>
          </a:p>
          <a:p>
            <a:endParaRPr lang="en-US" sz="3200" dirty="0"/>
          </a:p>
        </p:txBody>
      </p:sp>
    </p:spTree>
    <p:extLst>
      <p:ext uri="{BB962C8B-B14F-4D97-AF65-F5344CB8AC3E}">
        <p14:creationId xmlns:p14="http://schemas.microsoft.com/office/powerpoint/2010/main" val="2130575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C75E2B-CACA-478C-B26B-182AF87A1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50FF2874-547C-4D14-9E18-28B19002FB8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36CF827D-A163-47F7-BD87-34EB4FA7D6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299D9A9-1DA8-433D-A9BC-FB48D93D42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6A413804-A596-9893-18F0-A6F87257F232}"/>
              </a:ext>
            </a:extLst>
          </p:cNvPr>
          <p:cNvSpPr>
            <a:spLocks noGrp="1"/>
          </p:cNvSpPr>
          <p:nvPr>
            <p:ph type="title"/>
          </p:nvPr>
        </p:nvSpPr>
        <p:spPr>
          <a:xfrm>
            <a:off x="1451579" y="804519"/>
            <a:ext cx="9603275" cy="1049235"/>
          </a:xfrm>
        </p:spPr>
        <p:txBody>
          <a:bodyPr vert="horz" lIns="91440" tIns="45720" rIns="91440" bIns="45720" rtlCol="0" anchor="t">
            <a:normAutofit/>
          </a:bodyPr>
          <a:lstStyle/>
          <a:p>
            <a:r>
              <a:rPr lang="en-US" dirty="0"/>
              <a:t>Best Equivalent of VLOOKUP in Power BI</a:t>
            </a:r>
          </a:p>
        </p:txBody>
      </p:sp>
      <p:graphicFrame>
        <p:nvGraphicFramePr>
          <p:cNvPr id="4" name="Table 3">
            <a:extLst>
              <a:ext uri="{FF2B5EF4-FFF2-40B4-BE49-F238E27FC236}">
                <a16:creationId xmlns:a16="http://schemas.microsoft.com/office/drawing/2014/main" id="{E56067C1-85F7-63F9-B872-33D3240584B1}"/>
              </a:ext>
            </a:extLst>
          </p:cNvPr>
          <p:cNvGraphicFramePr>
            <a:graphicFrameLocks noGrp="1"/>
          </p:cNvGraphicFramePr>
          <p:nvPr>
            <p:extLst>
              <p:ext uri="{D42A27DB-BD31-4B8C-83A1-F6EECF244321}">
                <p14:modId xmlns:p14="http://schemas.microsoft.com/office/powerpoint/2010/main" val="2248273182"/>
              </p:ext>
            </p:extLst>
          </p:nvPr>
        </p:nvGraphicFramePr>
        <p:xfrm>
          <a:off x="1787473" y="2265806"/>
          <a:ext cx="8931487" cy="2950464"/>
        </p:xfrm>
        <a:graphic>
          <a:graphicData uri="http://schemas.openxmlformats.org/drawingml/2006/table">
            <a:tbl>
              <a:tblPr>
                <a:tableStyleId>{8799B23B-EC83-4686-B30A-512413B5E67A}</a:tableStyleId>
              </a:tblPr>
              <a:tblGrid>
                <a:gridCol w="4582160">
                  <a:extLst>
                    <a:ext uri="{9D8B030D-6E8A-4147-A177-3AD203B41FA5}">
                      <a16:colId xmlns:a16="http://schemas.microsoft.com/office/drawing/2014/main" val="3943128256"/>
                    </a:ext>
                  </a:extLst>
                </a:gridCol>
                <a:gridCol w="4349327">
                  <a:extLst>
                    <a:ext uri="{9D8B030D-6E8A-4147-A177-3AD203B41FA5}">
                      <a16:colId xmlns:a16="http://schemas.microsoft.com/office/drawing/2014/main" val="2921648742"/>
                    </a:ext>
                  </a:extLst>
                </a:gridCol>
              </a:tblGrid>
              <a:tr h="737616">
                <a:tc>
                  <a:txBody>
                    <a:bodyPr/>
                    <a:lstStyle/>
                    <a:p>
                      <a:pPr>
                        <a:buNone/>
                      </a:pPr>
                      <a:r>
                        <a:rPr lang="en-US" sz="3300" b="1"/>
                        <a:t>Excel</a:t>
                      </a:r>
                    </a:p>
                  </a:txBody>
                  <a:tcPr marL="167640" marR="167640" marT="83820" marB="83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3300" b="1" dirty="0"/>
                        <a:t>Power BI Equivalent</a:t>
                      </a:r>
                    </a:p>
                  </a:txBody>
                  <a:tcPr marL="167640" marR="167640" marT="83820" marB="83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732036"/>
                  </a:ext>
                </a:extLst>
              </a:tr>
              <a:tr h="737616">
                <a:tc>
                  <a:txBody>
                    <a:bodyPr/>
                    <a:lstStyle/>
                    <a:p>
                      <a:pPr>
                        <a:buNone/>
                      </a:pPr>
                      <a:r>
                        <a:rPr lang="en-US" sz="3300" dirty="0"/>
                        <a:t>VLOOKUP</a:t>
                      </a:r>
                    </a:p>
                  </a:txBody>
                  <a:tcPr marL="167640" marR="167640" marT="83820" marB="83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3300"/>
                        <a:t>RELATED</a:t>
                      </a:r>
                    </a:p>
                  </a:txBody>
                  <a:tcPr marL="167640" marR="167640" marT="83820" marB="83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498057"/>
                  </a:ext>
                </a:extLst>
              </a:tr>
              <a:tr h="737616">
                <a:tc>
                  <a:txBody>
                    <a:bodyPr/>
                    <a:lstStyle/>
                    <a:p>
                      <a:pPr>
                        <a:buNone/>
                      </a:pPr>
                      <a:r>
                        <a:rPr lang="en-US" sz="3300"/>
                        <a:t>Advanced VLOOKUP</a:t>
                      </a:r>
                    </a:p>
                  </a:txBody>
                  <a:tcPr marL="167640" marR="167640" marT="83820" marB="83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3300"/>
                        <a:t>LOOKUPVALUE</a:t>
                      </a:r>
                    </a:p>
                  </a:txBody>
                  <a:tcPr marL="167640" marR="167640" marT="83820" marB="83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9508464"/>
                  </a:ext>
                </a:extLst>
              </a:tr>
              <a:tr h="737616">
                <a:tc>
                  <a:txBody>
                    <a:bodyPr/>
                    <a:lstStyle/>
                    <a:p>
                      <a:pPr>
                        <a:buNone/>
                      </a:pPr>
                      <a:r>
                        <a:rPr lang="en-US" sz="3300"/>
                        <a:t>Database Join</a:t>
                      </a:r>
                    </a:p>
                  </a:txBody>
                  <a:tcPr marL="167640" marR="167640" marT="83820" marB="83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3300" dirty="0"/>
                        <a:t>Merge Queries</a:t>
                      </a:r>
                    </a:p>
                  </a:txBody>
                  <a:tcPr marL="167640" marR="167640" marT="83820" marB="838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9855660"/>
                  </a:ext>
                </a:extLst>
              </a:tr>
            </a:tbl>
          </a:graphicData>
        </a:graphic>
      </p:graphicFrame>
    </p:spTree>
    <p:extLst>
      <p:ext uri="{BB962C8B-B14F-4D97-AF65-F5344CB8AC3E}">
        <p14:creationId xmlns:p14="http://schemas.microsoft.com/office/powerpoint/2010/main" val="1084039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51026-8888-1E0A-77FF-8F8E1D7D7DE0}"/>
              </a:ext>
            </a:extLst>
          </p:cNvPr>
          <p:cNvSpPr>
            <a:spLocks noGrp="1"/>
          </p:cNvSpPr>
          <p:nvPr>
            <p:ph type="title"/>
          </p:nvPr>
        </p:nvSpPr>
        <p:spPr/>
        <p:txBody>
          <a:bodyPr/>
          <a:lstStyle/>
          <a:p>
            <a:r>
              <a:rPr lang="en-US" dirty="0"/>
              <a:t>SCENARIO USING  FILE</a:t>
            </a:r>
          </a:p>
        </p:txBody>
      </p:sp>
      <p:sp>
        <p:nvSpPr>
          <p:cNvPr id="11" name="TextBox 10">
            <a:extLst>
              <a:ext uri="{FF2B5EF4-FFF2-40B4-BE49-F238E27FC236}">
                <a16:creationId xmlns:a16="http://schemas.microsoft.com/office/drawing/2014/main" id="{B32CFD61-C9B2-ACBA-CFDD-3C2633EEA27B}"/>
              </a:ext>
            </a:extLst>
          </p:cNvPr>
          <p:cNvSpPr txBox="1"/>
          <p:nvPr/>
        </p:nvSpPr>
        <p:spPr>
          <a:xfrm>
            <a:off x="1450974" y="1853754"/>
            <a:ext cx="9738995" cy="523220"/>
          </a:xfrm>
          <a:prstGeom prst="rect">
            <a:avLst/>
          </a:prstGeom>
          <a:noFill/>
        </p:spPr>
        <p:txBody>
          <a:bodyPr wrap="square">
            <a:spAutoFit/>
          </a:bodyPr>
          <a:lstStyle/>
          <a:p>
            <a:r>
              <a:rPr lang="en-US" sz="2800" dirty="0"/>
              <a:t>1. Sales Table having Fields </a:t>
            </a:r>
            <a:r>
              <a:rPr lang="en-US" sz="2800" dirty="0" err="1"/>
              <a:t>ProductID</a:t>
            </a:r>
            <a:r>
              <a:rPr lang="en-US" sz="2800" dirty="0"/>
              <a:t>, Quantity, </a:t>
            </a:r>
            <a:r>
              <a:rPr lang="en-US" sz="2800" dirty="0" err="1"/>
              <a:t>UnitPrice</a:t>
            </a:r>
            <a:endParaRPr lang="en-US" sz="2800" dirty="0"/>
          </a:p>
        </p:txBody>
      </p:sp>
      <p:sp>
        <p:nvSpPr>
          <p:cNvPr id="13" name="TextBox 12">
            <a:extLst>
              <a:ext uri="{FF2B5EF4-FFF2-40B4-BE49-F238E27FC236}">
                <a16:creationId xmlns:a16="http://schemas.microsoft.com/office/drawing/2014/main" id="{610C31D1-7C75-0BAB-ABCB-6E51CBE88E32}"/>
              </a:ext>
            </a:extLst>
          </p:cNvPr>
          <p:cNvSpPr txBox="1"/>
          <p:nvPr/>
        </p:nvSpPr>
        <p:spPr>
          <a:xfrm>
            <a:off x="1450975" y="2473534"/>
            <a:ext cx="9738994" cy="523220"/>
          </a:xfrm>
          <a:prstGeom prst="rect">
            <a:avLst/>
          </a:prstGeom>
          <a:noFill/>
        </p:spPr>
        <p:txBody>
          <a:bodyPr wrap="square">
            <a:spAutoFit/>
          </a:bodyPr>
          <a:lstStyle/>
          <a:p>
            <a:r>
              <a:rPr lang="en-US" sz="2800" dirty="0"/>
              <a:t>2. Product Table having fields </a:t>
            </a:r>
            <a:r>
              <a:rPr lang="en-US" sz="2800" dirty="0" err="1"/>
              <a:t>ProductID</a:t>
            </a:r>
            <a:r>
              <a:rPr lang="en-US" sz="2800" dirty="0"/>
              <a:t>, ProductName, Category</a:t>
            </a:r>
          </a:p>
        </p:txBody>
      </p:sp>
      <p:sp>
        <p:nvSpPr>
          <p:cNvPr id="22" name="TextBox 21">
            <a:extLst>
              <a:ext uri="{FF2B5EF4-FFF2-40B4-BE49-F238E27FC236}">
                <a16:creationId xmlns:a16="http://schemas.microsoft.com/office/drawing/2014/main" id="{93E460E3-E6D8-3AE1-6FD4-DA638FB13354}"/>
              </a:ext>
            </a:extLst>
          </p:cNvPr>
          <p:cNvSpPr txBox="1"/>
          <p:nvPr/>
        </p:nvSpPr>
        <p:spPr>
          <a:xfrm>
            <a:off x="1542414" y="2902989"/>
            <a:ext cx="8607426" cy="2677656"/>
          </a:xfrm>
          <a:prstGeom prst="rect">
            <a:avLst/>
          </a:prstGeom>
          <a:noFill/>
        </p:spPr>
        <p:txBody>
          <a:bodyPr wrap="square">
            <a:spAutoFit/>
          </a:bodyPr>
          <a:lstStyle/>
          <a:p>
            <a:pPr>
              <a:buNone/>
            </a:pPr>
            <a:br>
              <a:rPr lang="en-US" sz="2800" dirty="0"/>
            </a:br>
            <a:r>
              <a:rPr lang="en-US" sz="2800" dirty="0"/>
              <a:t>Problem statement – I want to fetch </a:t>
            </a:r>
          </a:p>
          <a:p>
            <a:pPr>
              <a:buFont typeface="Arial" panose="020B0604020202020204" pitchFamily="34" charset="0"/>
              <a:buChar char="•"/>
            </a:pPr>
            <a:r>
              <a:rPr lang="en-US" sz="2800" dirty="0"/>
              <a:t>ProductName </a:t>
            </a:r>
          </a:p>
          <a:p>
            <a:pPr>
              <a:buFont typeface="Arial" panose="020B0604020202020204" pitchFamily="34" charset="0"/>
              <a:buChar char="•"/>
            </a:pPr>
            <a:r>
              <a:rPr lang="en-US" sz="2800" dirty="0"/>
              <a:t>Category </a:t>
            </a:r>
          </a:p>
          <a:p>
            <a:pPr>
              <a:buNone/>
            </a:pPr>
            <a:r>
              <a:rPr lang="en-US" sz="2800" dirty="0"/>
              <a:t>inside Sales table.</a:t>
            </a:r>
          </a:p>
          <a:p>
            <a:pPr>
              <a:buNone/>
            </a:pPr>
            <a:r>
              <a:rPr lang="en-US" sz="2800" dirty="0"/>
              <a:t>This is exactly like Excel VLOOKUP.</a:t>
            </a:r>
          </a:p>
        </p:txBody>
      </p:sp>
    </p:spTree>
    <p:extLst>
      <p:ext uri="{BB962C8B-B14F-4D97-AF65-F5344CB8AC3E}">
        <p14:creationId xmlns:p14="http://schemas.microsoft.com/office/powerpoint/2010/main" val="31109674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D63B4-1102-14F3-0061-FD0A3BFFC0E4}"/>
              </a:ext>
            </a:extLst>
          </p:cNvPr>
          <p:cNvSpPr>
            <a:spLocks noGrp="1"/>
          </p:cNvSpPr>
          <p:nvPr>
            <p:ph type="title"/>
          </p:nvPr>
        </p:nvSpPr>
        <p:spPr>
          <a:xfrm>
            <a:off x="1451579" y="804519"/>
            <a:ext cx="9603275" cy="887121"/>
          </a:xfrm>
        </p:spPr>
        <p:txBody>
          <a:bodyPr/>
          <a:lstStyle/>
          <a:p>
            <a:r>
              <a:rPr lang="en-US" dirty="0"/>
              <a:t>METHOD 1 — Using RELATED()</a:t>
            </a:r>
          </a:p>
        </p:txBody>
      </p:sp>
      <p:sp>
        <p:nvSpPr>
          <p:cNvPr id="3" name="Content Placeholder 2">
            <a:extLst>
              <a:ext uri="{FF2B5EF4-FFF2-40B4-BE49-F238E27FC236}">
                <a16:creationId xmlns:a16="http://schemas.microsoft.com/office/drawing/2014/main" id="{881DCCE7-67DF-AC2F-3C8A-18FD2450F600}"/>
              </a:ext>
            </a:extLst>
          </p:cNvPr>
          <p:cNvSpPr>
            <a:spLocks noGrp="1"/>
          </p:cNvSpPr>
          <p:nvPr>
            <p:ph idx="1"/>
          </p:nvPr>
        </p:nvSpPr>
        <p:spPr>
          <a:xfrm>
            <a:off x="1074420" y="1853754"/>
            <a:ext cx="10332719" cy="4409885"/>
          </a:xfrm>
        </p:spPr>
        <p:txBody>
          <a:bodyPr>
            <a:normAutofit fontScale="92500" lnSpcReduction="10000"/>
          </a:bodyPr>
          <a:lstStyle/>
          <a:p>
            <a:r>
              <a:rPr lang="en-US" dirty="0"/>
              <a:t>STEP 1 — Load Excel File </a:t>
            </a:r>
          </a:p>
          <a:p>
            <a:r>
              <a:rPr lang="en-US" dirty="0"/>
              <a:t>STEP 2 — Create Relationship</a:t>
            </a:r>
          </a:p>
          <a:p>
            <a:endParaRPr lang="en-US" dirty="0"/>
          </a:p>
          <a:p>
            <a:endParaRPr lang="en-US" dirty="0"/>
          </a:p>
          <a:p>
            <a:endParaRPr lang="en-US" dirty="0"/>
          </a:p>
          <a:p>
            <a:r>
              <a:rPr lang="en-US" dirty="0"/>
              <a:t>STEP 3 — Use RELATED Function </a:t>
            </a:r>
          </a:p>
          <a:p>
            <a:pPr lvl="1"/>
            <a:r>
              <a:rPr lang="en-US" dirty="0"/>
              <a:t>Goto data view select sales table </a:t>
            </a:r>
          </a:p>
          <a:p>
            <a:pPr lvl="1"/>
            <a:r>
              <a:rPr lang="en-US" dirty="0"/>
              <a:t>Create a new column product name and give the following DAX function</a:t>
            </a:r>
          </a:p>
          <a:p>
            <a:pPr lvl="2"/>
            <a:r>
              <a:rPr lang="en-US" dirty="0"/>
              <a:t>Product Name = RELATED(Product[ProductName])</a:t>
            </a:r>
          </a:p>
          <a:p>
            <a:pPr lvl="1"/>
            <a:r>
              <a:rPr lang="en-US" dirty="0"/>
              <a:t>Create a new column and add new column and the following DAX function</a:t>
            </a:r>
          </a:p>
          <a:p>
            <a:pPr lvl="2"/>
            <a:r>
              <a:rPr lang="en-US" dirty="0"/>
              <a:t>Category =RELATED(Product[Category])</a:t>
            </a:r>
          </a:p>
          <a:p>
            <a:pPr lvl="1"/>
            <a:endParaRPr lang="en-US" dirty="0"/>
          </a:p>
        </p:txBody>
      </p:sp>
      <p:graphicFrame>
        <p:nvGraphicFramePr>
          <p:cNvPr id="4" name="Table 3">
            <a:extLst>
              <a:ext uri="{FF2B5EF4-FFF2-40B4-BE49-F238E27FC236}">
                <a16:creationId xmlns:a16="http://schemas.microsoft.com/office/drawing/2014/main" id="{0A29CC59-062D-496E-9D39-C671E0E9E6A6}"/>
              </a:ext>
            </a:extLst>
          </p:cNvPr>
          <p:cNvGraphicFramePr>
            <a:graphicFrameLocks noGrp="1"/>
          </p:cNvGraphicFramePr>
          <p:nvPr>
            <p:extLst>
              <p:ext uri="{D42A27DB-BD31-4B8C-83A1-F6EECF244321}">
                <p14:modId xmlns:p14="http://schemas.microsoft.com/office/powerpoint/2010/main" val="796220022"/>
              </p:ext>
            </p:extLst>
          </p:nvPr>
        </p:nvGraphicFramePr>
        <p:xfrm>
          <a:off x="1451579" y="2689478"/>
          <a:ext cx="5006975" cy="1097280"/>
        </p:xfrm>
        <a:graphic>
          <a:graphicData uri="http://schemas.openxmlformats.org/drawingml/2006/table">
            <a:tbl>
              <a:tblPr/>
              <a:tblGrid>
                <a:gridCol w="3266647">
                  <a:extLst>
                    <a:ext uri="{9D8B030D-6E8A-4147-A177-3AD203B41FA5}">
                      <a16:colId xmlns:a16="http://schemas.microsoft.com/office/drawing/2014/main" val="447910093"/>
                    </a:ext>
                  </a:extLst>
                </a:gridCol>
                <a:gridCol w="1740328">
                  <a:extLst>
                    <a:ext uri="{9D8B030D-6E8A-4147-A177-3AD203B41FA5}">
                      <a16:colId xmlns:a16="http://schemas.microsoft.com/office/drawing/2014/main" val="3420780770"/>
                    </a:ext>
                  </a:extLst>
                </a:gridCol>
              </a:tblGrid>
              <a:tr h="365760">
                <a:tc>
                  <a:txBody>
                    <a:bodyPr/>
                    <a:lstStyle/>
                    <a:p>
                      <a:pPr>
                        <a:buNone/>
                      </a:pPr>
                      <a:r>
                        <a:rPr lang="en-US" sz="1800"/>
                        <a:t>Setting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088617"/>
                  </a:ext>
                </a:extLst>
              </a:tr>
              <a:tr h="365760">
                <a:tc>
                  <a:txBody>
                    <a:bodyPr/>
                    <a:lstStyle/>
                    <a:p>
                      <a:pPr>
                        <a:buNone/>
                      </a:pPr>
                      <a:r>
                        <a:rPr lang="en-US" sz="1800"/>
                        <a:t>Cardinality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Many to 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8537305"/>
                  </a:ext>
                </a:extLst>
              </a:tr>
              <a:tr h="365760">
                <a:tc>
                  <a:txBody>
                    <a:bodyPr/>
                    <a:lstStyle/>
                    <a:p>
                      <a:pPr>
                        <a:buNone/>
                      </a:pPr>
                      <a:r>
                        <a:rPr lang="en-US" sz="1800"/>
                        <a:t>Cross Filter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Single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3792397"/>
                  </a:ext>
                </a:extLst>
              </a:tr>
            </a:tbl>
          </a:graphicData>
        </a:graphic>
      </p:graphicFrame>
    </p:spTree>
    <p:extLst>
      <p:ext uri="{BB962C8B-B14F-4D97-AF65-F5344CB8AC3E}">
        <p14:creationId xmlns:p14="http://schemas.microsoft.com/office/powerpoint/2010/main" val="23844429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5D952-FD6D-5DCD-1A88-DED2507232AE}"/>
              </a:ext>
            </a:extLst>
          </p:cNvPr>
          <p:cNvSpPr>
            <a:spLocks noGrp="1"/>
          </p:cNvSpPr>
          <p:nvPr>
            <p:ph type="title"/>
          </p:nvPr>
        </p:nvSpPr>
        <p:spPr/>
        <p:txBody>
          <a:bodyPr/>
          <a:lstStyle/>
          <a:p>
            <a:r>
              <a:rPr lang="en-US" dirty="0"/>
              <a:t>METHOD 2 — Using LOOKUPVALUE() – Advance Lookup</a:t>
            </a:r>
          </a:p>
        </p:txBody>
      </p:sp>
      <p:sp>
        <p:nvSpPr>
          <p:cNvPr id="3" name="Content Placeholder 2">
            <a:extLst>
              <a:ext uri="{FF2B5EF4-FFF2-40B4-BE49-F238E27FC236}">
                <a16:creationId xmlns:a16="http://schemas.microsoft.com/office/drawing/2014/main" id="{03C78634-249C-2307-4C6A-B7E3B4952181}"/>
              </a:ext>
            </a:extLst>
          </p:cNvPr>
          <p:cNvSpPr>
            <a:spLocks noGrp="1"/>
          </p:cNvSpPr>
          <p:nvPr>
            <p:ph idx="1"/>
          </p:nvPr>
        </p:nvSpPr>
        <p:spPr/>
        <p:txBody>
          <a:bodyPr>
            <a:normAutofit/>
          </a:bodyPr>
          <a:lstStyle/>
          <a:p>
            <a:r>
              <a:rPr lang="en-US" sz="2800" dirty="0"/>
              <a:t>Use this when:</a:t>
            </a:r>
          </a:p>
          <a:p>
            <a:pPr lvl="1"/>
            <a:r>
              <a:rPr lang="en-US" sz="2600" dirty="0"/>
              <a:t>No relationship exists </a:t>
            </a:r>
          </a:p>
          <a:p>
            <a:pPr lvl="1"/>
            <a:r>
              <a:rPr lang="en-US" sz="2600" dirty="0"/>
              <a:t>Multiple conditions needed </a:t>
            </a:r>
          </a:p>
          <a:p>
            <a:pPr lvl="1"/>
            <a:r>
              <a:rPr lang="en-US" sz="2600" dirty="0"/>
              <a:t>Advanced lookup required</a:t>
            </a:r>
          </a:p>
          <a:p>
            <a:endParaRPr lang="en-US" sz="2800" dirty="0"/>
          </a:p>
        </p:txBody>
      </p:sp>
    </p:spTree>
    <p:extLst>
      <p:ext uri="{BB962C8B-B14F-4D97-AF65-F5344CB8AC3E}">
        <p14:creationId xmlns:p14="http://schemas.microsoft.com/office/powerpoint/2010/main" val="11554056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DAF36-2FB4-B4C4-163A-A07833C50CCF}"/>
              </a:ext>
            </a:extLst>
          </p:cNvPr>
          <p:cNvSpPr>
            <a:spLocks noGrp="1"/>
          </p:cNvSpPr>
          <p:nvPr>
            <p:ph type="title"/>
          </p:nvPr>
        </p:nvSpPr>
        <p:spPr/>
        <p:txBody>
          <a:bodyPr/>
          <a:lstStyle/>
          <a:p>
            <a:r>
              <a:rPr lang="en-US" dirty="0"/>
              <a:t>Steps </a:t>
            </a:r>
          </a:p>
        </p:txBody>
      </p:sp>
      <p:sp>
        <p:nvSpPr>
          <p:cNvPr id="3" name="Content Placeholder 2">
            <a:extLst>
              <a:ext uri="{FF2B5EF4-FFF2-40B4-BE49-F238E27FC236}">
                <a16:creationId xmlns:a16="http://schemas.microsoft.com/office/drawing/2014/main" id="{2285AB68-8867-F5E6-54DC-4B0399C2B661}"/>
              </a:ext>
            </a:extLst>
          </p:cNvPr>
          <p:cNvSpPr>
            <a:spLocks noGrp="1"/>
          </p:cNvSpPr>
          <p:nvPr>
            <p:ph idx="1"/>
          </p:nvPr>
        </p:nvSpPr>
        <p:spPr>
          <a:xfrm>
            <a:off x="1451579" y="2015732"/>
            <a:ext cx="9603275" cy="4037749"/>
          </a:xfrm>
        </p:spPr>
        <p:txBody>
          <a:bodyPr>
            <a:normAutofit fontScale="92500" lnSpcReduction="10000"/>
          </a:bodyPr>
          <a:lstStyle/>
          <a:p>
            <a:pPr marL="0" indent="0">
              <a:buNone/>
            </a:pPr>
            <a:r>
              <a:rPr lang="en-US" dirty="0"/>
              <a:t>1. Create Product Name Column and give DAX function </a:t>
            </a:r>
          </a:p>
          <a:p>
            <a:pPr marL="0" indent="0">
              <a:buNone/>
            </a:pPr>
            <a:r>
              <a:rPr lang="en-US" dirty="0"/>
              <a:t>Product Name = LOOKUPVALUE(Product[ProductName], Product[</a:t>
            </a:r>
            <a:r>
              <a:rPr lang="en-US" dirty="0" err="1"/>
              <a:t>ProductID</a:t>
            </a:r>
            <a:r>
              <a:rPr lang="en-US" dirty="0"/>
              <a:t>],     Sales[</a:t>
            </a:r>
            <a:r>
              <a:rPr lang="en-US" dirty="0" err="1"/>
              <a:t>ProductID</a:t>
            </a: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2. Create Category Column and give DAX Function</a:t>
            </a:r>
          </a:p>
          <a:p>
            <a:pPr marL="0" indent="0">
              <a:buNone/>
            </a:pPr>
            <a:r>
              <a:rPr lang="en-US" dirty="0"/>
              <a:t>Category = LOOKUPVALUE(Product[Category],  Product[</a:t>
            </a:r>
            <a:r>
              <a:rPr lang="en-US" dirty="0" err="1"/>
              <a:t>ProductID</a:t>
            </a:r>
            <a:r>
              <a:rPr lang="en-US" dirty="0"/>
              <a:t>], Sales[</a:t>
            </a:r>
            <a:r>
              <a:rPr lang="en-US" dirty="0" err="1"/>
              <a:t>ProductID</a:t>
            </a:r>
            <a:r>
              <a:rPr lang="en-US" dirty="0"/>
              <a:t>] )</a:t>
            </a:r>
          </a:p>
          <a:p>
            <a:pPr marL="0" indent="0">
              <a:buNone/>
            </a:pPr>
            <a:endParaRPr lang="en-US" dirty="0"/>
          </a:p>
          <a:p>
            <a:pPr marL="0" indent="0">
              <a:buNone/>
            </a:pPr>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639DFDAB-E205-0A04-A952-F474098D3801}"/>
              </a:ext>
            </a:extLst>
          </p:cNvPr>
          <p:cNvGraphicFramePr>
            <a:graphicFrameLocks noGrp="1"/>
          </p:cNvGraphicFramePr>
          <p:nvPr>
            <p:extLst>
              <p:ext uri="{D42A27DB-BD31-4B8C-83A1-F6EECF244321}">
                <p14:modId xmlns:p14="http://schemas.microsoft.com/office/powerpoint/2010/main" val="1546290015"/>
              </p:ext>
            </p:extLst>
          </p:nvPr>
        </p:nvGraphicFramePr>
        <p:xfrm>
          <a:off x="1554449" y="3303086"/>
          <a:ext cx="7303801" cy="1463040"/>
        </p:xfrm>
        <a:graphic>
          <a:graphicData uri="http://schemas.openxmlformats.org/drawingml/2006/table">
            <a:tbl>
              <a:tblPr/>
              <a:tblGrid>
                <a:gridCol w="2407743">
                  <a:extLst>
                    <a:ext uri="{9D8B030D-6E8A-4147-A177-3AD203B41FA5}">
                      <a16:colId xmlns:a16="http://schemas.microsoft.com/office/drawing/2014/main" val="3959672679"/>
                    </a:ext>
                  </a:extLst>
                </a:gridCol>
                <a:gridCol w="4896058">
                  <a:extLst>
                    <a:ext uri="{9D8B030D-6E8A-4147-A177-3AD203B41FA5}">
                      <a16:colId xmlns:a16="http://schemas.microsoft.com/office/drawing/2014/main" val="4217072280"/>
                    </a:ext>
                  </a:extLst>
                </a:gridCol>
              </a:tblGrid>
              <a:tr h="365760">
                <a:tc>
                  <a:txBody>
                    <a:bodyPr/>
                    <a:lstStyle/>
                    <a:p>
                      <a:pPr>
                        <a:buNone/>
                      </a:pPr>
                      <a:r>
                        <a:rPr lang="en-US" sz="1800" dirty="0"/>
                        <a:t>Part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0231419"/>
                  </a:ext>
                </a:extLst>
              </a:tr>
              <a:tr h="365760">
                <a:tc>
                  <a:txBody>
                    <a:bodyPr/>
                    <a:lstStyle/>
                    <a:p>
                      <a:pPr>
                        <a:buNone/>
                      </a:pPr>
                      <a:r>
                        <a:rPr lang="en-US" sz="1800" dirty="0"/>
                        <a:t>Product[ProductName]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Return column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0502594"/>
                  </a:ext>
                </a:extLst>
              </a:tr>
              <a:tr h="365760">
                <a:tc>
                  <a:txBody>
                    <a:bodyPr/>
                    <a:lstStyle/>
                    <a:p>
                      <a:pPr>
                        <a:buNone/>
                      </a:pPr>
                      <a:r>
                        <a:rPr lang="en-US" sz="1800"/>
                        <a:t>Product[ProductID]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Search column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049038"/>
                  </a:ext>
                </a:extLst>
              </a:tr>
              <a:tr h="365760">
                <a:tc>
                  <a:txBody>
                    <a:bodyPr/>
                    <a:lstStyle/>
                    <a:p>
                      <a:pPr>
                        <a:buNone/>
                      </a:pPr>
                      <a:r>
                        <a:rPr lang="en-US" sz="1800"/>
                        <a:t>Sales[ProductID]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Matching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6887088"/>
                  </a:ext>
                </a:extLst>
              </a:tr>
            </a:tbl>
          </a:graphicData>
        </a:graphic>
      </p:graphicFrame>
    </p:spTree>
    <p:extLst>
      <p:ext uri="{BB962C8B-B14F-4D97-AF65-F5344CB8AC3E}">
        <p14:creationId xmlns:p14="http://schemas.microsoft.com/office/powerpoint/2010/main" val="1678718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56412368-7E6B-4064-B6FA-72DF6DA0C2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014FE20-9BCC-4219-A8AD-B1C110BD5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B4E738CD-10FC-5DEF-B4B0-E2FDA9E2AA8B}"/>
              </a:ext>
            </a:extLst>
          </p:cNvPr>
          <p:cNvSpPr>
            <a:spLocks noGrp="1"/>
          </p:cNvSpPr>
          <p:nvPr>
            <p:ph type="title"/>
          </p:nvPr>
        </p:nvSpPr>
        <p:spPr>
          <a:xfrm>
            <a:off x="1452617" y="976508"/>
            <a:ext cx="5525305" cy="2367221"/>
          </a:xfrm>
        </p:spPr>
        <p:txBody>
          <a:bodyPr vert="horz" lIns="91440" tIns="45720" rIns="91440" bIns="0" rtlCol="0" anchor="b">
            <a:normAutofit/>
          </a:bodyPr>
          <a:lstStyle/>
          <a:p>
            <a:r>
              <a:rPr lang="en-US" sz="5400"/>
              <a:t>Thank you</a:t>
            </a:r>
          </a:p>
        </p:txBody>
      </p:sp>
      <p:cxnSp>
        <p:nvCxnSpPr>
          <p:cNvPr id="21" name="Straight Connector 20">
            <a:extLst>
              <a:ext uri="{FF2B5EF4-FFF2-40B4-BE49-F238E27FC236}">
                <a16:creationId xmlns:a16="http://schemas.microsoft.com/office/drawing/2014/main" id="{A661C966-C6C8-4667-903D-E68521C357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8" y="3528543"/>
            <a:ext cx="5536119"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23" name="Group 22">
            <a:extLst>
              <a:ext uri="{FF2B5EF4-FFF2-40B4-BE49-F238E27FC236}">
                <a16:creationId xmlns:a16="http://schemas.microsoft.com/office/drawing/2014/main" id="{36439133-030D-427C-AADE-2B48B19917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77388" y="482171"/>
            <a:ext cx="4074533" cy="5149101"/>
            <a:chOff x="7477388" y="482171"/>
            <a:chExt cx="4074533" cy="5149101"/>
          </a:xfrm>
        </p:grpSpPr>
        <p:sp>
          <p:nvSpPr>
            <p:cNvPr id="24" name="Rectangle 23">
              <a:extLst>
                <a:ext uri="{FF2B5EF4-FFF2-40B4-BE49-F238E27FC236}">
                  <a16:creationId xmlns:a16="http://schemas.microsoft.com/office/drawing/2014/main" id="{2C11378B-6628-411A-9A79-CF10232D7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77388" y="482171"/>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8E6BF6A-26B8-45E6-887E-FE78A7984F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47" y="812507"/>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82388B0B-738B-4313-8674-79D97E74A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1624" y="977965"/>
            <a:ext cx="3119444"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Smiling Face with No Fill">
            <a:extLst>
              <a:ext uri="{FF2B5EF4-FFF2-40B4-BE49-F238E27FC236}">
                <a16:creationId xmlns:a16="http://schemas.microsoft.com/office/drawing/2014/main" id="{635C095A-D404-5790-1605-B4CB2A6433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16373" y="1649879"/>
            <a:ext cx="2799103" cy="2799103"/>
          </a:xfrm>
          <a:prstGeom prst="rect">
            <a:avLst/>
          </a:prstGeom>
        </p:spPr>
      </p:pic>
      <p:pic>
        <p:nvPicPr>
          <p:cNvPr id="29" name="Picture 28">
            <a:extLst>
              <a:ext uri="{FF2B5EF4-FFF2-40B4-BE49-F238E27FC236}">
                <a16:creationId xmlns:a16="http://schemas.microsoft.com/office/drawing/2014/main" id="{6DF84359-5DD6-461B-9519-90AA2F46C1B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1" name="Straight Connector 30">
            <a:extLst>
              <a:ext uri="{FF2B5EF4-FFF2-40B4-BE49-F238E27FC236}">
                <a16:creationId xmlns:a16="http://schemas.microsoft.com/office/drawing/2014/main" id="{E90BC892-CE86-41EE-8A3B-2178D5170C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550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Props1.xml><?xml version="1.0" encoding="utf-8"?>
<ds:datastoreItem xmlns:ds="http://schemas.openxmlformats.org/officeDocument/2006/customXml" ds:itemID="{4BEBB951-DE64-4CB8-9E1C-184A357AD7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EEE0F9-7BC9-4998-8617-7CC115AD97E2}">
  <ds:schemaRefs>
    <ds:schemaRef ds:uri="http://schemas.microsoft.com/sharepoint/v3/contenttype/forms"/>
  </ds:schemaRefs>
</ds:datastoreItem>
</file>

<file path=customXml/itemProps3.xml><?xml version="1.0" encoding="utf-8"?>
<ds:datastoreItem xmlns:ds="http://schemas.openxmlformats.org/officeDocument/2006/customXml" ds:itemID="{2A1BD8E5-A18E-435C-B431-90A6B59F4B6F}">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40262f94-9f35-4ac3-9a90-690165a166b7"/>
    <ds:schemaRef ds:uri="a4f35948-e619-41b3-aa29-22878b09cfd2"/>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Gallery</Template>
  <TotalTime>4397</TotalTime>
  <Words>2331</Words>
  <Application>Microsoft Office PowerPoint</Application>
  <PresentationFormat>Widescreen</PresentationFormat>
  <Paragraphs>270</Paragraphs>
  <Slides>37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Gill Sans MT</vt:lpstr>
      <vt:lpstr>Gallery</vt:lpstr>
      <vt:lpstr>DAX Functions in Power BI</vt:lpstr>
      <vt:lpstr>Data Analysis Expressions (DAX)</vt:lpstr>
      <vt:lpstr>PowerPoint Presentation</vt:lpstr>
      <vt:lpstr>PowerPoint Presentation</vt:lpstr>
      <vt:lpstr>PowerPoint Presentation</vt:lpstr>
      <vt:lpstr>Understanding DAX Fundamentals </vt:lpstr>
      <vt:lpstr>DAX Ca lculation Type </vt:lpstr>
      <vt:lpstr>Creating Measures for Advanced Calculations </vt:lpstr>
      <vt:lpstr>Working with Calculated Columns </vt:lpstr>
      <vt:lpstr>Time Intelligence </vt:lpstr>
      <vt:lpstr>Filtering and Aggregating Data </vt:lpstr>
      <vt:lpstr>Optimization Techniques </vt:lpstr>
      <vt:lpstr>DAX Functions for Power BI </vt:lpstr>
      <vt:lpstr>1. COUNT function in Power BI </vt:lpstr>
      <vt:lpstr>2. DATETIME function in Power BI </vt:lpstr>
      <vt:lpstr>3. AGGREGATE Functions in Power BI </vt:lpstr>
      <vt:lpstr>4. LOGICAL Functions in Power BI </vt:lpstr>
      <vt:lpstr>5. MATH Functions in Power BI </vt:lpstr>
      <vt:lpstr>6. TEXT Functions in Power BI </vt:lpstr>
      <vt:lpstr>7. Statistical Functions in Power Bi </vt:lpstr>
      <vt:lpstr>Calculate, Sum, sumx and calculatetable functions</vt:lpstr>
      <vt:lpstr>1. CALCULATE </vt:lpstr>
      <vt:lpstr>2. SUM and SUMX </vt:lpstr>
      <vt:lpstr>3. CALCULATETABLE</vt:lpstr>
      <vt:lpstr>PowerPoint Presentation</vt:lpstr>
      <vt:lpstr>Examples of Calculatetable</vt:lpstr>
      <vt:lpstr>Examples of Calculatetable</vt:lpstr>
      <vt:lpstr>PowerPoint Presentation</vt:lpstr>
      <vt:lpstr>RANKX </vt:lpstr>
      <vt:lpstr>steps</vt:lpstr>
      <vt:lpstr>VLookUP in Power BI</vt:lpstr>
      <vt:lpstr>Best Equivalent of VLOOKUP in Power BI</vt:lpstr>
      <vt:lpstr>SCENARIO USING  FILE</vt:lpstr>
      <vt:lpstr>METHOD 1 — Using RELATED()</vt:lpstr>
      <vt:lpstr>METHOD 2 — Using LOOKUPVALUE() – Advance Lookup</vt:lpstr>
      <vt:lpstr>Steps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4</cp:revision>
  <dcterms:created xsi:type="dcterms:W3CDTF">2026-05-22T17:15:32Z</dcterms:created>
  <dcterms:modified xsi:type="dcterms:W3CDTF">2026-07-31T09:17:09Z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74067900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