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6" r:id="rId4"/>
    <p:sldId id="277" r:id="rId5"/>
    <p:sldId id="275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8" r:id="rId20"/>
    <p:sldId id="272" r:id="rId21"/>
    <p:sldId id="273" r:id="rId22"/>
    <p:sldId id="280" r:id="rId23"/>
    <p:sldId id="281" r:id="rId24"/>
    <p:sldId id="282" r:id="rId25"/>
    <p:sldId id="279" r:id="rId26"/>
    <p:sldId id="283" r:id="rId27"/>
    <p:sldId id="284" r:id="rId28"/>
    <p:sldId id="285" r:id="rId29"/>
    <p:sldId id="287" r:id="rId30"/>
    <p:sldId id="286" r:id="rId31"/>
    <p:sldId id="288" r:id="rId32"/>
    <p:sldId id="289" r:id="rId33"/>
    <p:sldId id="290" r:id="rId34"/>
    <p:sldId id="291" r:id="rId35"/>
    <p:sldId id="271" r:id="rId36"/>
    <p:sldId id="25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2D40-92A4-8301-7EC3-6522C4BAA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7181C-8F98-D8EE-2042-1D98B6DCF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D093B-7419-E553-A2D8-DEFB9619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AF243-709A-6390-5452-FF6103BB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D31C-5CE6-7336-A74C-ED4C563C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2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2CCF-C4BF-F449-D4EC-16FDF4B6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5050C-1DE9-3D36-D3C6-2DFE10DD4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A981C-D93B-E10C-D42F-0C212A8F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16A32-8B1E-2C01-EAD1-00796FE8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EECE-6564-8A4F-9D41-33478803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5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E117-94D5-F364-1B1C-3DA2E3F47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E19D4-9B1A-E485-02C6-04B5707E9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AE37A-06F1-CB30-AC1A-F42CE208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9E5C4-1330-E3F4-A198-57B5A860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F54B4-FBA1-3E22-D306-FA90F15A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8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F3B0-3C3E-95A7-1272-B4A1994B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CEB33-1BEE-88C7-92FA-6B5A17D50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7EE3C-6108-4BCC-575F-F05CF0C1E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25024-9449-F70F-4A4F-28614FB2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211E4-09CE-E12B-9432-71BD9A5A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3863A-E0F5-A40D-A8EB-618C2C824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80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ED58-8006-CFFB-9B64-154E4860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0C496-936C-1DD6-CE40-DC1F1C20E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ADCD0-F425-6678-8A3C-DE251E3ED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19FBE-2A85-118D-7519-4C2E629E9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6A4B7-3AAC-7B6C-A15B-59AF14380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2184F-DFF2-37EB-C996-B104DF9B1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E2396-9212-012F-E376-17E99DCC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7E489-923D-203D-8C1B-3E13EDCF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1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CA35-A48B-4399-4BBC-FD54FA75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D49C3-5802-6593-A0D0-792F755D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6918D-3210-4BC9-8623-C9ECB64A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F31F5-4F67-F32A-B71B-77CB48FA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94231-5E58-7445-8B09-452EB87D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3E540-DB95-E25C-CB8E-55AE3E2D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669F2-AC8D-ADD1-AE58-C5B06090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12CB-83E1-2709-8FC4-6B9B0A03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C2B7B-E719-F9D6-8F3E-545550029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BF8A8-10C4-FC39-B574-4D9C6ED5C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D0F51-0139-81C1-2726-85E41BC9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8F246-0A98-9718-B50F-5FC78F01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5B181-DCA3-3019-E8DC-B190CA9B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2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6B2E-8A14-E38A-2671-2B12762A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974F7-4AE8-C1E5-643D-57EA6AA0D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DF263-0698-9E82-8420-DC415E784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A27B1-E0F2-5093-F2E7-E3B6AACA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72BE-A1C0-978F-C1F7-20A9401E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BF7E5-50B1-B92D-2F7A-DA6DEEE6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3A2D-48D5-9968-7AF2-FC50CDA8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4C8B5-93F9-D8F3-C194-29E4E2DFE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DF2D-81C1-70CF-5CB7-D9CB08B0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27952-8592-837B-8B9D-35A2BB0E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461C6-480D-CEF8-74C0-B7F038E9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6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0F1FDD-20AE-16D1-2E46-0F8B96536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4951-1201-F86C-ED5E-7688C39BD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608-815A-E09B-8A7E-E31A1659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5F923-1828-D660-D620-19E36458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A0E4C-C5CC-CBE4-32BD-F8CE320E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7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25EF3-7132-83AD-1531-7B976297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9D5B4-D4E7-B803-DEDD-ECE6B3C8F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54DEC-7D05-82C4-E498-32790E16B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B127D-888C-4348-9251-B6E38209591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B1904-C9F1-847A-AD7C-8F6783343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EA21-D087-8243-9EA4-F937EF9B2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32550-BC2B-4545-9FD5-3665FB456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7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Different Hand Drawn Graphs">
            <a:extLst>
              <a:ext uri="{FF2B5EF4-FFF2-40B4-BE49-F238E27FC236}">
                <a16:creationId xmlns:a16="http://schemas.microsoft.com/office/drawing/2014/main" id="{6D50477E-6C2E-655D-188F-01E8F01141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3" y="-22"/>
            <a:ext cx="12191997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206190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37374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0ACB-FFD0-E191-903E-C70BCA5DF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6" y="728897"/>
            <a:ext cx="5452529" cy="3728614"/>
          </a:xfrm>
        </p:spPr>
        <p:txBody>
          <a:bodyPr anchor="t">
            <a:normAutofit/>
          </a:bodyPr>
          <a:lstStyle/>
          <a:p>
            <a:pPr algn="r"/>
            <a:r>
              <a:rPr lang="en-US" sz="5200">
                <a:solidFill>
                  <a:srgbClr val="FFFFFF"/>
                </a:solidFill>
              </a:rPr>
              <a:t>HR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D556E-3DBE-6633-78EA-878DF4ED4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9055" y="4629217"/>
            <a:ext cx="5449479" cy="149987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Dr. 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180808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1A15-CB86-65F8-33E9-EE86A624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405"/>
            <a:ext cx="10515600" cy="1325563"/>
          </a:xfrm>
        </p:spPr>
        <p:txBody>
          <a:bodyPr/>
          <a:lstStyle/>
          <a:p>
            <a:r>
              <a:rPr lang="en-US" dirty="0"/>
              <a:t>Steps to Build a complete interactive dash 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DBFD-E454-BC17-1069-87CECD637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297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Load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Clean Data </a:t>
            </a:r>
          </a:p>
          <a:p>
            <a:pPr lvl="1"/>
            <a:r>
              <a:rPr lang="en-US" dirty="0"/>
              <a:t>Quality check for Finding missing or null values</a:t>
            </a:r>
          </a:p>
          <a:p>
            <a:pPr lvl="1"/>
            <a:r>
              <a:rPr lang="en-US" dirty="0"/>
              <a:t>Remove Duplicates</a:t>
            </a:r>
          </a:p>
          <a:p>
            <a:pPr lvl="1"/>
            <a:r>
              <a:rPr lang="en-US" dirty="0"/>
              <a:t>Remove inconsistencies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Designing the </a:t>
            </a:r>
            <a:r>
              <a:rPr lang="en-US" dirty="0" err="1"/>
              <a:t>DashBoard</a:t>
            </a:r>
            <a:endParaRPr lang="en-US" dirty="0"/>
          </a:p>
          <a:p>
            <a:pPr lvl="1"/>
            <a:r>
              <a:rPr lang="en-US" dirty="0"/>
              <a:t>Design a header </a:t>
            </a:r>
          </a:p>
          <a:p>
            <a:pPr lvl="1"/>
            <a:r>
              <a:rPr lang="en-US" dirty="0"/>
              <a:t>Design logo</a:t>
            </a:r>
          </a:p>
          <a:p>
            <a:pPr lvl="1"/>
            <a:r>
              <a:rPr lang="en-US" dirty="0"/>
              <a:t>Design KPIS</a:t>
            </a:r>
          </a:p>
          <a:p>
            <a:pPr lvl="1"/>
            <a:r>
              <a:rPr lang="en-US" dirty="0" err="1"/>
              <a:t>Desgin</a:t>
            </a:r>
            <a:r>
              <a:rPr lang="en-US" dirty="0"/>
              <a:t> charts </a:t>
            </a:r>
          </a:p>
          <a:p>
            <a:pPr lvl="1"/>
            <a:r>
              <a:rPr lang="en-US" dirty="0"/>
              <a:t>Add a slicer for </a:t>
            </a:r>
            <a:r>
              <a:rPr lang="en-US"/>
              <a:t>interactive dashboard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3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75D6-2F0F-064D-23A7-F737C4B4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&amp;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6537D-1929-9D1C-63CA-5C6868B32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2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D4C6-034C-FB1D-1FE8-DEE09D43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&amp; 2 - Load and transform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59F00-67B6-788C-A00B-9C206BD8F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any of the file which contains data </a:t>
            </a:r>
          </a:p>
          <a:p>
            <a:r>
              <a:rPr lang="en-US" dirty="0"/>
              <a:t>Now, Transform the data to change any data types size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08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FE22-C3D5-24FD-C868-C8E2E44D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– 3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1C5A7-FEAC-1B90-D061-A7AB8B056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Check for finding missing values, Duplicate values and removal of inconsistencies</a:t>
            </a:r>
          </a:p>
        </p:txBody>
      </p:sp>
    </p:spTree>
    <p:extLst>
      <p:ext uri="{BB962C8B-B14F-4D97-AF65-F5344CB8AC3E}">
        <p14:creationId xmlns:p14="http://schemas.microsoft.com/office/powerpoint/2010/main" val="179572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9FB1-B8DF-9B06-4803-46942461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Quality Check for data to find missing value and delete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E014-A664-466A-7E5C-BBB96487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Go in transform </a:t>
            </a:r>
          </a:p>
          <a:p>
            <a:r>
              <a:rPr lang="en-US" dirty="0"/>
              <a:t>Select one or all columns</a:t>
            </a:r>
          </a:p>
          <a:p>
            <a:r>
              <a:rPr lang="en-US" dirty="0"/>
              <a:t>Select view and column Quality Check 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2BE91-4060-8C8A-347B-1571455B9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207"/>
          <a:stretch>
            <a:fillRect/>
          </a:stretch>
        </p:blipFill>
        <p:spPr>
          <a:xfrm>
            <a:off x="693621" y="3326130"/>
            <a:ext cx="10244889" cy="1441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B05614-4A1F-E81E-0330-593745D7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" y="4902258"/>
            <a:ext cx="11750040" cy="159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7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F5211-97E0-0C58-05D5-DECB2A7CA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find empty % not 0 then we can clean column by removing the null values</a:t>
            </a:r>
          </a:p>
          <a:p>
            <a:r>
              <a:rPr lang="en-US" dirty="0"/>
              <a:t>Select the column </a:t>
            </a:r>
            <a:r>
              <a:rPr lang="en-US" dirty="0">
                <a:sym typeface="Wingdings" panose="05000000000000000000" pitchFamily="2" charset="2"/>
              </a:rPr>
              <a:t> Right Click  sort Ascending  check the row numbers till it is showing null</a:t>
            </a:r>
          </a:p>
          <a:p>
            <a:r>
              <a:rPr lang="en-US" dirty="0">
                <a:sym typeface="Wingdings" panose="05000000000000000000" pitchFamily="2" charset="2"/>
              </a:rPr>
              <a:t>Go on home tab of transform data  select remove rows  remove top rows and specify the row numbers till it is blank for example – 10, 20 or so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B062E-1DA4-FB80-7CE7-ADC054B7A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235008"/>
            <a:ext cx="11750040" cy="1590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A18018-8974-332D-AEFE-E869DD59B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4874982"/>
            <a:ext cx="11750040" cy="170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85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89C6-CD67-41C4-FE7C-B1912B46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Duplicate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66F66-3E8F-0EF6-2A9F-118F206D1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9610" cy="4351338"/>
          </a:xfrm>
        </p:spPr>
        <p:txBody>
          <a:bodyPr/>
          <a:lstStyle/>
          <a:p>
            <a:r>
              <a:rPr lang="en-US" dirty="0"/>
              <a:t>Select any column </a:t>
            </a:r>
            <a:r>
              <a:rPr lang="en-US" dirty="0">
                <a:sym typeface="Wingdings" panose="05000000000000000000" pitchFamily="2" charset="2"/>
              </a:rPr>
              <a:t> right click  Remove Duplicates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But it may possible there are different month or year of data so for that to check complete duplicity.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56CBDB-8854-5BC0-D509-AC3723D6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4491"/>
            <a:ext cx="5659943" cy="62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1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6EFB-4BA7-91DC-27EC-9589587E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for duplicate using all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76AE-AD9A-A021-2973-CC3B98CC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6245"/>
          </a:xfrm>
        </p:spPr>
        <p:txBody>
          <a:bodyPr/>
          <a:lstStyle/>
          <a:p>
            <a:r>
              <a:rPr lang="en-US" dirty="0"/>
              <a:t>Before removing all duplicates we have to check.</a:t>
            </a:r>
          </a:p>
          <a:p>
            <a:r>
              <a:rPr lang="en-US" dirty="0"/>
              <a:t>Select employee id </a:t>
            </a:r>
            <a:r>
              <a:rPr lang="en-US" dirty="0">
                <a:sym typeface="Wingdings" panose="05000000000000000000" pitchFamily="2" charset="2"/>
              </a:rPr>
              <a:t> home tab in transform data  select group by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74BC4-3B0C-CF96-A9BD-47D04ED4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" y="3531870"/>
            <a:ext cx="11677650" cy="156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95737-D655-F457-980F-7F4D9DF6D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290454"/>
            <a:ext cx="12192000" cy="43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5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8AF40-CF4F-6E43-0A56-A4C2D307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5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42621C-5E63-7201-0E26-E6278F420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BF24D-003D-3218-6AD4-5BEF9E21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166232"/>
            <a:ext cx="10088383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56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65B3-3995-338E-2D9B-948B89CF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7832-AB48-553C-3123-AA4569E79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remove filter and group by from query settings to get whole data.</a:t>
            </a:r>
          </a:p>
          <a:p>
            <a:r>
              <a:rPr lang="en-US" dirty="0"/>
              <a:t>Select all columns and right click on any column </a:t>
            </a:r>
            <a:r>
              <a:rPr lang="en-US" dirty="0">
                <a:sym typeface="Wingdings" panose="05000000000000000000" pitchFamily="2" charset="2"/>
              </a:rPr>
              <a:t> remove duplicates</a:t>
            </a:r>
          </a:p>
          <a:p>
            <a:r>
              <a:rPr lang="en-US" dirty="0">
                <a:sym typeface="Wingdings" panose="05000000000000000000" pitchFamily="2" charset="2"/>
              </a:rPr>
              <a:t>Now our dataset is clean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28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15075-FAC2-B7F0-9316-EC7841909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390"/>
            <a:ext cx="12192000" cy="636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962E-EE43-A0BB-8C0F-5D40AC46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inconsistency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BC3C4-4623-F6E3-FE4C-C5CCB5C7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" y="1690688"/>
            <a:ext cx="4213860" cy="4351338"/>
          </a:xfrm>
        </p:spPr>
        <p:txBody>
          <a:bodyPr/>
          <a:lstStyle/>
          <a:p>
            <a:r>
              <a:rPr lang="en-US" dirty="0"/>
              <a:t>For example – in business travel we have 2 values </a:t>
            </a:r>
          </a:p>
          <a:p>
            <a:r>
              <a:rPr lang="en-US" dirty="0" err="1"/>
              <a:t>TravelRarely</a:t>
            </a:r>
            <a:r>
              <a:rPr lang="en-US" dirty="0"/>
              <a:t> and </a:t>
            </a:r>
            <a:r>
              <a:rPr lang="en-US" dirty="0" err="1"/>
              <a:t>Travel_Rarely</a:t>
            </a:r>
            <a:endParaRPr lang="en-US" dirty="0"/>
          </a:p>
          <a:p>
            <a:r>
              <a:rPr lang="en-US" dirty="0"/>
              <a:t>Both are same so we can find all these values and replace with one value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763E6-6A18-2B01-1BF6-95BA86AE3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1632586"/>
            <a:ext cx="7476388" cy="48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8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272BEC-5E45-9271-A193-CC19DEA7F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90" y="1485106"/>
            <a:ext cx="895731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EB1C950-980C-5AAA-7D86-752F35E8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13A08E-66B2-27CC-D7DF-B85F09FAC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978184"/>
            <a:ext cx="29337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Select the column value </a:t>
            </a:r>
            <a:r>
              <a:rPr lang="en-US" dirty="0">
                <a:sym typeface="Wingdings" panose="05000000000000000000" pitchFamily="2" charset="2"/>
              </a:rPr>
              <a:t> right click  select replace value and give </a:t>
            </a:r>
            <a:r>
              <a:rPr lang="en-US" dirty="0" err="1">
                <a:sym typeface="Wingdings" panose="05000000000000000000" pitchFamily="2" charset="2"/>
              </a:rPr>
              <a:t>TravelRarely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Now select close and apply to apply all transformation in dataset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589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610728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343079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5" y="340424"/>
            <a:ext cx="4630139" cy="5265795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8A998-B21E-326C-CC60-4738681C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2" y="983891"/>
            <a:ext cx="3100808" cy="3993126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1780" y="1071563"/>
            <a:ext cx="7290218" cy="5242298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B9BDE-867D-7013-57FE-B43B6B540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69" y="1455821"/>
            <a:ext cx="6674636" cy="415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77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FDC8-C1B8-930F-54E2-E1D348B7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the </a:t>
            </a:r>
            <a:r>
              <a:rPr lang="en-US" dirty="0" err="1"/>
              <a:t>DashBoard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C41DE-BAE4-0E5F-1688-27F1E6469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54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2AB0-DD2E-7B20-B8EA-AD8D185C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15" y="0"/>
            <a:ext cx="11081385" cy="1325563"/>
          </a:xfrm>
        </p:spPr>
        <p:txBody>
          <a:bodyPr/>
          <a:lstStyle/>
          <a:p>
            <a:r>
              <a:rPr lang="en-US" dirty="0"/>
              <a:t>Step 4 - Design The </a:t>
            </a:r>
            <a:r>
              <a:rPr lang="en-US" dirty="0" err="1"/>
              <a:t>DashBoard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69501-69D2-6FC3-D2C5-8FCF15637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415" y="991235"/>
            <a:ext cx="11647170" cy="4351338"/>
          </a:xfrm>
        </p:spPr>
        <p:txBody>
          <a:bodyPr/>
          <a:lstStyle/>
          <a:p>
            <a:r>
              <a:rPr lang="en-US" dirty="0"/>
              <a:t>Select page 1 </a:t>
            </a:r>
            <a:r>
              <a:rPr lang="en-US" dirty="0">
                <a:sym typeface="Wingdings" panose="05000000000000000000" pitchFamily="2" charset="2"/>
              </a:rPr>
              <a:t> insert  text Box for header</a:t>
            </a:r>
          </a:p>
          <a:p>
            <a:r>
              <a:rPr lang="en-US" dirty="0">
                <a:sym typeface="Wingdings" panose="05000000000000000000" pitchFamily="2" charset="2"/>
              </a:rPr>
              <a:t>Set its properties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Height – 85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Width – 1259</a:t>
            </a:r>
          </a:p>
          <a:p>
            <a:r>
              <a:rPr lang="en-US" dirty="0">
                <a:sym typeface="Wingdings" panose="05000000000000000000" pitchFamily="2" charset="2"/>
              </a:rPr>
              <a:t>Select effect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Background color - #1F38A8 for professional look</a:t>
            </a:r>
          </a:p>
          <a:p>
            <a:r>
              <a:rPr lang="en-US" dirty="0">
                <a:sym typeface="Wingdings" panose="05000000000000000000" pitchFamily="2" charset="2"/>
              </a:rPr>
              <a:t>Select Text font size 36 and color white</a:t>
            </a:r>
          </a:p>
          <a:p>
            <a:r>
              <a:rPr lang="en-US" dirty="0">
                <a:sym typeface="Wingdings" panose="05000000000000000000" pitchFamily="2" charset="2"/>
              </a:rPr>
              <a:t>If you have any logo can insert as image and place it on header of page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651ED-88A7-3806-0946-C3A2E0F3C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4823460"/>
            <a:ext cx="11117226" cy="203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19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AF878-718C-AC98-625E-2D487058A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5" y="0"/>
            <a:ext cx="281549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D7388F-3769-7740-8FD1-AD77FB03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0" y="1002982"/>
            <a:ext cx="8625840" cy="485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72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0B42-4B81-55A8-5EDE-63A4F37C6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210" y="0"/>
            <a:ext cx="10515600" cy="982979"/>
          </a:xfrm>
        </p:spPr>
        <p:txBody>
          <a:bodyPr/>
          <a:lstStyle/>
          <a:p>
            <a:r>
              <a:rPr lang="en-US" dirty="0"/>
              <a:t>Add KPI’s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2EDB-BBE4-02E4-7A36-BF1AF6E9D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" y="1574164"/>
            <a:ext cx="11155680" cy="49523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KPI 1. No of employees</a:t>
            </a:r>
          </a:p>
          <a:p>
            <a:pPr lvl="1"/>
            <a:r>
              <a:rPr lang="en-US" dirty="0"/>
              <a:t>Select card </a:t>
            </a:r>
            <a:r>
              <a:rPr lang="en-US" dirty="0">
                <a:sym typeface="Wingdings" panose="05000000000000000000" pitchFamily="2" charset="2"/>
              </a:rPr>
              <a:t> add count on </a:t>
            </a:r>
            <a:r>
              <a:rPr lang="en-US" dirty="0" err="1">
                <a:sym typeface="Wingdings" panose="05000000000000000000" pitchFamily="2" charset="2"/>
              </a:rPr>
              <a:t>employeeid</a:t>
            </a:r>
            <a:r>
              <a:rPr lang="en-US" dirty="0">
                <a:sym typeface="Wingdings" panose="05000000000000000000" pitchFamily="2" charset="2"/>
              </a:rPr>
              <a:t> as value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Formatting of card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Format pane 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general 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size  Height = 104 width = 197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Position  horizontal =12 vertical =110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Title – on, Font  20, Bold, Horizontal Alignment  center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Visual </a:t>
            </a:r>
            <a:r>
              <a:rPr lang="en-US" dirty="0" err="1">
                <a:sym typeface="Wingdings" panose="05000000000000000000" pitchFamily="2" charset="2"/>
              </a:rPr>
              <a:t>Baord</a:t>
            </a:r>
            <a:r>
              <a:rPr lang="en-US" dirty="0">
                <a:sym typeface="Wingdings" panose="05000000000000000000" pitchFamily="2" charset="2"/>
              </a:rPr>
              <a:t>  select color, rounded corner  12 </a:t>
            </a:r>
            <a:r>
              <a:rPr lang="en-US" dirty="0" err="1">
                <a:sym typeface="Wingdings" panose="05000000000000000000" pitchFamily="2" charset="2"/>
              </a:rPr>
              <a:t>px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Select shadow on and select the color of shadow</a:t>
            </a:r>
            <a:endParaRPr lang="en-US" dirty="0"/>
          </a:p>
          <a:p>
            <a:pPr lvl="1"/>
            <a:r>
              <a:rPr lang="en-US" dirty="0"/>
              <a:t>Visual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lvl="2"/>
            <a:r>
              <a:rPr lang="en-US" dirty="0"/>
              <a:t>Callout </a:t>
            </a:r>
            <a:r>
              <a:rPr lang="en-US" dirty="0">
                <a:sym typeface="Wingdings" panose="05000000000000000000" pitchFamily="2" charset="2"/>
              </a:rPr>
              <a:t> turn off Label</a:t>
            </a:r>
          </a:p>
          <a:p>
            <a:pPr marL="0" indent="0">
              <a:buNone/>
            </a:pPr>
            <a:r>
              <a:rPr lang="en-US" sz="3600" b="1" dirty="0"/>
              <a:t>Create 5 more KPI ‘s by using </a:t>
            </a:r>
            <a:r>
              <a:rPr lang="en-US" sz="3600" b="1" dirty="0" err="1"/>
              <a:t>ctrl+c</a:t>
            </a:r>
            <a:r>
              <a:rPr lang="en-US" sz="3600" b="1" dirty="0"/>
              <a:t> and ctrl +v so formatting for all KPI cards will be remain same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541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8489-225C-A4B0-6F46-7E97AA4C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The formatting properties for all KPI’s so all will looks same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524F8-DB7F-9BFD-C692-C9C1ABDC2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53" y="1902939"/>
            <a:ext cx="11307753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62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12F6-9EF6-ABC2-DB6A-2259DC51B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2 – Active Employee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D8877-EC0C-32D8-1BA2-FF07D94F1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974080" cy="49730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Select 2</a:t>
            </a:r>
            <a:r>
              <a:rPr lang="en-US" baseline="30000" dirty="0"/>
              <a:t>nd</a:t>
            </a:r>
            <a:r>
              <a:rPr lang="en-US" dirty="0"/>
              <a:t> card and set properties </a:t>
            </a:r>
          </a:p>
          <a:p>
            <a:pPr lvl="1"/>
            <a:r>
              <a:rPr lang="en-US" dirty="0"/>
              <a:t>Add value – count on </a:t>
            </a:r>
            <a:r>
              <a:rPr lang="en-US" dirty="0" err="1"/>
              <a:t>empId</a:t>
            </a:r>
            <a:endParaRPr lang="en-US" dirty="0"/>
          </a:p>
          <a:p>
            <a:pPr lvl="1"/>
            <a:r>
              <a:rPr lang="en-US" dirty="0"/>
              <a:t>Filter of attrition and select no to see only active employees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Format pane 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general 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size  Height = 104 width = 197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Position  horizontal =12 vertical =110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Title – on, Font  20, Bold, Horizontal Alignment  center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Visual </a:t>
            </a:r>
            <a:r>
              <a:rPr lang="en-US" dirty="0" err="1">
                <a:sym typeface="Wingdings" panose="05000000000000000000" pitchFamily="2" charset="2"/>
              </a:rPr>
              <a:t>Baord</a:t>
            </a:r>
            <a:r>
              <a:rPr lang="en-US" dirty="0">
                <a:sym typeface="Wingdings" panose="05000000000000000000" pitchFamily="2" charset="2"/>
              </a:rPr>
              <a:t>  select color, rounded corner  12 </a:t>
            </a:r>
            <a:r>
              <a:rPr lang="en-US" dirty="0" err="1">
                <a:sym typeface="Wingdings" panose="05000000000000000000" pitchFamily="2" charset="2"/>
              </a:rPr>
              <a:t>px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Select shadow on and select the color of shadow</a:t>
            </a:r>
            <a:endParaRPr lang="en-US" dirty="0"/>
          </a:p>
          <a:p>
            <a:pPr lvl="1"/>
            <a:r>
              <a:rPr lang="en-US" dirty="0"/>
              <a:t>Visual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lvl="2"/>
            <a:r>
              <a:rPr lang="en-US" dirty="0"/>
              <a:t>Callout </a:t>
            </a:r>
            <a:r>
              <a:rPr lang="en-US" dirty="0">
                <a:sym typeface="Wingdings" panose="05000000000000000000" pitchFamily="2" charset="2"/>
              </a:rPr>
              <a:t> turn off Label</a:t>
            </a:r>
          </a:p>
          <a:p>
            <a:pPr lvl="1"/>
            <a:r>
              <a:rPr lang="en-US" dirty="0"/>
              <a:t>General </a:t>
            </a:r>
            <a:r>
              <a:rPr lang="en-US" dirty="0">
                <a:sym typeface="Wingdings" panose="05000000000000000000" pitchFamily="2" charset="2"/>
              </a:rPr>
              <a:t> title  Active Employees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E2886-4A45-C726-3530-7D787450A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032" y="1302804"/>
            <a:ext cx="3893988" cy="500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86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493579-5E05-7B06-5E91-BDE15724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20" y="2183129"/>
            <a:ext cx="8298180" cy="368682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A952A64-3B73-B75D-3B23-5E7F1115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KPI 3 – Attrition Count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add a new column and do the conditional formatting as given below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AE95D8-ACAD-8340-37FB-EC414393C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848485"/>
            <a:ext cx="3482340" cy="4644390"/>
          </a:xfrm>
        </p:spPr>
        <p:txBody>
          <a:bodyPr>
            <a:normAutofit/>
          </a:bodyPr>
          <a:lstStyle/>
          <a:p>
            <a:r>
              <a:rPr lang="en-US" dirty="0"/>
              <a:t>Goto Transform Data </a:t>
            </a:r>
            <a:r>
              <a:rPr lang="en-US" dirty="0">
                <a:sym typeface="Wingdings" panose="05000000000000000000" pitchFamily="2" charset="2"/>
              </a:rPr>
              <a:t> add Column  select conditional column</a:t>
            </a:r>
          </a:p>
          <a:p>
            <a:r>
              <a:rPr lang="en-US" dirty="0">
                <a:sym typeface="Wingdings" panose="05000000000000000000" pitchFamily="2" charset="2"/>
              </a:rPr>
              <a:t>Select the data type as whole number</a:t>
            </a:r>
          </a:p>
          <a:p>
            <a:r>
              <a:rPr lang="en-US" dirty="0">
                <a:sym typeface="Wingdings" panose="05000000000000000000" pitchFamily="2" charset="2"/>
              </a:rPr>
              <a:t>Set all the </a:t>
            </a:r>
            <a:r>
              <a:rPr lang="en-US" dirty="0" err="1">
                <a:sym typeface="Wingdings" panose="05000000000000000000" pitchFamily="2" charset="2"/>
              </a:rPr>
              <a:t>formating</a:t>
            </a:r>
            <a:r>
              <a:rPr lang="en-US" dirty="0">
                <a:sym typeface="Wingdings" panose="05000000000000000000" pitchFamily="2" charset="2"/>
              </a:rPr>
              <a:t> properties as the above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01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A762-848A-EA4E-EF71-06713B80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4- Attrition Rate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8706F-A350-CB36-58A6-339E6494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measure </a:t>
            </a:r>
          </a:p>
          <a:p>
            <a:pPr lvl="1"/>
            <a:r>
              <a:rPr lang="en-US" dirty="0"/>
              <a:t>Attrition Rate % = DIVIDE(sum('HR_Analytics-4'[Count </a:t>
            </a:r>
            <a:r>
              <a:rPr lang="en-US" dirty="0" err="1"/>
              <a:t>Atrition</a:t>
            </a:r>
            <a:r>
              <a:rPr lang="en-US" dirty="0"/>
              <a:t>]),sum('HR_Analytics-4'[</a:t>
            </a:r>
            <a:r>
              <a:rPr lang="en-US" dirty="0" err="1"/>
              <a:t>EmployeeCount</a:t>
            </a:r>
            <a:r>
              <a:rPr lang="en-US" dirty="0"/>
              <a:t>]),0)</a:t>
            </a:r>
          </a:p>
          <a:p>
            <a:r>
              <a:rPr lang="en-US" dirty="0"/>
              <a:t>Add this measure on 4</a:t>
            </a:r>
            <a:r>
              <a:rPr lang="en-US" baseline="30000" dirty="0"/>
              <a:t>th</a:t>
            </a:r>
            <a:r>
              <a:rPr lang="en-US" dirty="0"/>
              <a:t> KPI card and do the formatting </a:t>
            </a:r>
          </a:p>
        </p:txBody>
      </p:sp>
    </p:spTree>
    <p:extLst>
      <p:ext uri="{BB962C8B-B14F-4D97-AF65-F5344CB8AC3E}">
        <p14:creationId xmlns:p14="http://schemas.microsoft.com/office/powerpoint/2010/main" val="1754637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A1DD-C85F-F975-7F64-9289EF63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5 – Average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CBB9-025D-3B83-493F-AF48C3C5C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KPI 5 card </a:t>
            </a:r>
            <a:r>
              <a:rPr lang="en-US" dirty="0">
                <a:sym typeface="Wingdings" panose="05000000000000000000" pitchFamily="2" charset="2"/>
              </a:rPr>
              <a:t> drag the age column and set as average 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34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2348-BE4C-B611-2BB0-DD6CCC63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6 – Average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2597-E83B-A574-91D8-27E34966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a card and </a:t>
            </a:r>
            <a:r>
              <a:rPr lang="en-US" dirty="0">
                <a:sym typeface="Wingdings" panose="05000000000000000000" pitchFamily="2" charset="2"/>
              </a:rPr>
              <a:t> age as value and select average</a:t>
            </a:r>
          </a:p>
          <a:p>
            <a:r>
              <a:rPr lang="en-US" dirty="0">
                <a:sym typeface="Wingdings" panose="05000000000000000000" pitchFamily="2" charset="2"/>
              </a:rPr>
              <a:t>Add icon images also.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Insert  image and upload image  do it for all icons and adjust them with the KPI cards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E552D-4C5A-78B2-8BDB-8000EE9E8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80460"/>
            <a:ext cx="11136279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22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0CF9-E6E0-9E06-EF4C-81F7FC90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Charts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7C82F-CC56-6CDC-3CA1-5AF2A17B3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05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5899-D566-7868-42C5-B9D076532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Attrition by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2941D-CFE5-26FD-FAAF-745415D75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Add a Donut Chart</a:t>
            </a:r>
          </a:p>
          <a:p>
            <a:r>
              <a:rPr lang="en-US" sz="2000" dirty="0"/>
              <a:t>Legend</a:t>
            </a:r>
            <a:r>
              <a:rPr lang="en-US" sz="2000" dirty="0">
                <a:sym typeface="Wingdings" panose="05000000000000000000" pitchFamily="2" charset="2"/>
              </a:rPr>
              <a:t> Department</a:t>
            </a:r>
          </a:p>
          <a:p>
            <a:r>
              <a:rPr lang="en-US" sz="2000" dirty="0">
                <a:sym typeface="Wingdings" panose="05000000000000000000" pitchFamily="2" charset="2"/>
              </a:rPr>
              <a:t>Values  count Attrition</a:t>
            </a:r>
          </a:p>
          <a:p>
            <a:r>
              <a:rPr lang="en-US" sz="2000" dirty="0">
                <a:sym typeface="Wingdings" panose="05000000000000000000" pitchFamily="2" charset="2"/>
              </a:rPr>
              <a:t>Format the chart through formatting panel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70DD8-8E70-32CE-D7A5-15EE757E6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99" y="741390"/>
            <a:ext cx="8014340" cy="46992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4078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FD16-7614-203D-30D2-F2EF87CD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chart as Attrition By Salary Slab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DCA0-2216-CF56-DFEC-05A746645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bar chart</a:t>
            </a:r>
          </a:p>
          <a:p>
            <a:pPr lvl="1"/>
            <a:r>
              <a:rPr lang="en-US" dirty="0"/>
              <a:t>Y-Axis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SalarySlab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X-Axis  </a:t>
            </a:r>
            <a:r>
              <a:rPr lang="en-US" dirty="0" err="1">
                <a:sym typeface="Wingdings" panose="05000000000000000000" pitchFamily="2" charset="2"/>
              </a:rPr>
              <a:t>sumof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EmployeeCount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Legend  Attrition</a:t>
            </a:r>
          </a:p>
          <a:p>
            <a:r>
              <a:rPr lang="en-US" dirty="0"/>
              <a:t>Add formatting </a:t>
            </a:r>
          </a:p>
          <a:p>
            <a:pPr lvl="1"/>
            <a:r>
              <a:rPr lang="en-US" dirty="0"/>
              <a:t>General </a:t>
            </a:r>
            <a:r>
              <a:rPr lang="en-US" dirty="0">
                <a:sym typeface="Wingdings" panose="05000000000000000000" pitchFamily="2" charset="2"/>
              </a:rPr>
              <a:t> height, width,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Effects  border width, rounded corner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69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C82D-1D9B-DCAE-28B8-9D5D890E5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8500-530C-2772-597A-D6D06D77B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Values as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pPr lvl="1"/>
            <a:r>
              <a:rPr lang="en-US" dirty="0"/>
              <a:t>Rows</a:t>
            </a:r>
            <a:r>
              <a:rPr lang="en-US" dirty="0">
                <a:sym typeface="Wingdings" panose="05000000000000000000" pitchFamily="2" charset="2"/>
              </a:rPr>
              <a:t> job role</a:t>
            </a:r>
          </a:p>
          <a:p>
            <a:pPr lvl="1"/>
            <a:r>
              <a:rPr lang="en-US" dirty="0"/>
              <a:t>Columns </a:t>
            </a:r>
            <a:r>
              <a:rPr lang="en-US" dirty="0">
                <a:sym typeface="Wingdings" panose="05000000000000000000" pitchFamily="2" charset="2"/>
              </a:rPr>
              <a:t> job satisfaction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Values  sum of count Attrition</a:t>
            </a:r>
          </a:p>
          <a:p>
            <a:r>
              <a:rPr lang="en-US" dirty="0"/>
              <a:t>Sets formatting from format pane</a:t>
            </a:r>
          </a:p>
          <a:p>
            <a:pPr lvl="1"/>
            <a:r>
              <a:rPr lang="en-US" dirty="0"/>
              <a:t>Row headers </a:t>
            </a:r>
            <a:r>
              <a:rPr lang="en-US" dirty="0">
                <a:sym typeface="Wingdings" panose="05000000000000000000" pitchFamily="2" charset="2"/>
              </a:rPr>
              <a:t> bold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Column Headers  bold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92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2E64-640F-62DD-0E64-5E9F5810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some more charts like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8B5F5-82E1-0FE2-DC9F-303403A9A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54" y="1482881"/>
            <a:ext cx="9955226" cy="231489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293AD2-540A-F6B7-0B5B-DC7792CD8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869089"/>
              </p:ext>
            </p:extLst>
          </p:nvPr>
        </p:nvGraphicFramePr>
        <p:xfrm>
          <a:off x="1200454" y="4125806"/>
          <a:ext cx="9955228" cy="1463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8807">
                  <a:extLst>
                    <a:ext uri="{9D8B030D-6E8A-4147-A177-3AD203B41FA5}">
                      <a16:colId xmlns:a16="http://schemas.microsoft.com/office/drawing/2014/main" val="1809947152"/>
                    </a:ext>
                  </a:extLst>
                </a:gridCol>
                <a:gridCol w="2488807">
                  <a:extLst>
                    <a:ext uri="{9D8B030D-6E8A-4147-A177-3AD203B41FA5}">
                      <a16:colId xmlns:a16="http://schemas.microsoft.com/office/drawing/2014/main" val="1235033620"/>
                    </a:ext>
                  </a:extLst>
                </a:gridCol>
                <a:gridCol w="2488807">
                  <a:extLst>
                    <a:ext uri="{9D8B030D-6E8A-4147-A177-3AD203B41FA5}">
                      <a16:colId xmlns:a16="http://schemas.microsoft.com/office/drawing/2014/main" val="2141297156"/>
                    </a:ext>
                  </a:extLst>
                </a:gridCol>
                <a:gridCol w="2488807">
                  <a:extLst>
                    <a:ext uri="{9D8B030D-6E8A-4147-A177-3AD203B41FA5}">
                      <a16:colId xmlns:a16="http://schemas.microsoft.com/office/drawing/2014/main" val="1256780196"/>
                    </a:ext>
                  </a:extLst>
                </a:gridCol>
              </a:tblGrid>
              <a:tr h="1463464">
                <a:tc>
                  <a:txBody>
                    <a:bodyPr/>
                    <a:lstStyle/>
                    <a:p>
                      <a:r>
                        <a:rPr lang="en-US" dirty="0"/>
                        <a:t>X axis – age Group</a:t>
                      </a:r>
                    </a:p>
                    <a:p>
                      <a:r>
                        <a:rPr lang="en-US" dirty="0"/>
                        <a:t>Y Axis – count of emp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Legend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Gender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Values  Count of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EMpID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chart</a:t>
                      </a:r>
                    </a:p>
                    <a:p>
                      <a:r>
                        <a:rPr lang="en-US" dirty="0"/>
                        <a:t>X-axis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total years of experience</a:t>
                      </a:r>
                    </a:p>
                    <a:p>
                      <a:r>
                        <a:rPr lang="en-US" dirty="0" err="1">
                          <a:sym typeface="Wingdings" panose="05000000000000000000" pitchFamily="2" charset="2"/>
                        </a:rPr>
                        <a:t>Yaxis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  Sum of Count Attrition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Funnel Chart</a:t>
                      </a:r>
                    </a:p>
                    <a:p>
                      <a:r>
                        <a:rPr lang="en-US" dirty="0"/>
                        <a:t>Category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Department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Values  Count of EMPID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59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295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C388-4140-49B6-6A83-D5E8455D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slicer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843D6-4DB8-B800-AB92-B5FABE66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31680" cy="4351338"/>
          </a:xfrm>
        </p:spPr>
        <p:txBody>
          <a:bodyPr/>
          <a:lstStyle/>
          <a:p>
            <a:r>
              <a:rPr lang="en-US" dirty="0"/>
              <a:t>TO make it interactive with department add a slicer</a:t>
            </a:r>
          </a:p>
          <a:p>
            <a:r>
              <a:rPr lang="en-US" dirty="0"/>
              <a:t>Slicer setting </a:t>
            </a:r>
            <a:r>
              <a:rPr lang="en-US" dirty="0">
                <a:sym typeface="Wingdings" panose="05000000000000000000" pitchFamily="2" charset="2"/>
              </a:rPr>
              <a:t> tiles</a:t>
            </a:r>
          </a:p>
          <a:p>
            <a:r>
              <a:rPr lang="en-US" dirty="0">
                <a:sym typeface="Wingdings" panose="05000000000000000000" pitchFamily="2" charset="2"/>
              </a:rPr>
              <a:t>Set the background color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96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99C0B0-8469-506F-0C97-0D55ACA8C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1" y="161469"/>
            <a:ext cx="11555438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14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01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3873</TotalTime>
  <Words>928</Words>
  <Application>Microsoft Office PowerPoint</Application>
  <PresentationFormat>Widescreen</PresentationFormat>
  <Paragraphs>136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Office Theme</vt:lpstr>
      <vt:lpstr>HR Analytics Dashboard</vt:lpstr>
      <vt:lpstr>Steps to Build a complete interactive dash board </vt:lpstr>
      <vt:lpstr>Step 1 &amp; 2</vt:lpstr>
      <vt:lpstr>Step 1 &amp; 2 - Load and transform data</vt:lpstr>
      <vt:lpstr>Step – 3 </vt:lpstr>
      <vt:lpstr>1. Quality Check for data to find missing value and delete them</vt:lpstr>
      <vt:lpstr>PowerPoint Presentation</vt:lpstr>
      <vt:lpstr>Remove Duplicate</vt:lpstr>
      <vt:lpstr>Check for duplicate using all columns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Remove inconsistency</vt:lpstr>
      <vt:lpstr>Solution</vt:lpstr>
      <vt:lpstr>PowerPoint Presentation</vt:lpstr>
      <vt:lpstr>Design the DashBoard</vt:lpstr>
      <vt:lpstr>Step 4 - Design The DashBoard</vt:lpstr>
      <vt:lpstr>PowerPoint Presentation</vt:lpstr>
      <vt:lpstr>Add KPI’s </vt:lpstr>
      <vt:lpstr>Set The formatting properties for all KPI’s so all will looks same </vt:lpstr>
      <vt:lpstr>KPI 2 – Active Employee</vt:lpstr>
      <vt:lpstr>KPI 3 – Attrition Count  add a new column and do the conditional formatting as given below</vt:lpstr>
      <vt:lpstr>KPI 4- Attrition Rate </vt:lpstr>
      <vt:lpstr>KPI 5 – Average Age</vt:lpstr>
      <vt:lpstr>KPI 6 – Average Experience</vt:lpstr>
      <vt:lpstr>Add Charts </vt:lpstr>
      <vt:lpstr>Attrition by Department</vt:lpstr>
      <vt:lpstr>Add chart as Attrition By Salary Slab</vt:lpstr>
      <vt:lpstr>Add matrix</vt:lpstr>
      <vt:lpstr>Add some more charts like </vt:lpstr>
      <vt:lpstr>Create A slicer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rakhee chhibber</dc:creator>
  <cp:lastModifiedBy>rakhee chhibber</cp:lastModifiedBy>
  <cp:revision>3</cp:revision>
  <dcterms:created xsi:type="dcterms:W3CDTF">2026-05-29T05:20:20Z</dcterms:created>
  <dcterms:modified xsi:type="dcterms:W3CDTF">2026-06-01T07:45:46Z</dcterms:modified>
</cp:coreProperties>
</file>