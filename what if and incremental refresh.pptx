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6" r:id="rId4"/>
    <p:sldId id="307" r:id="rId5"/>
    <p:sldId id="308" r:id="rId6"/>
    <p:sldId id="309" r:id="rId7"/>
    <p:sldId id="310" r:id="rId8"/>
    <p:sldId id="311" r:id="rId9"/>
    <p:sldId id="312" r:id="rId10"/>
    <p:sldId id="313" r:id="rId11"/>
    <p:sldId id="314" r:id="rId12"/>
    <p:sldId id="315" r:id="rId13"/>
    <p:sldId id="258" r:id="rId14"/>
    <p:sldId id="299" r:id="rId15"/>
    <p:sldId id="300" r:id="rId16"/>
    <p:sldId id="301" r:id="rId17"/>
    <p:sldId id="302" r:id="rId18"/>
    <p:sldId id="304" r:id="rId19"/>
    <p:sldId id="305" r:id="rId20"/>
    <p:sldId id="303" r:id="rId21"/>
    <p:sldId id="274" r:id="rId22"/>
    <p:sldId id="259" r:id="rId23"/>
    <p:sldId id="275" r:id="rId24"/>
    <p:sldId id="264" r:id="rId25"/>
    <p:sldId id="265" r:id="rId26"/>
    <p:sldId id="266" r:id="rId27"/>
    <p:sldId id="260" r:id="rId28"/>
    <p:sldId id="267" r:id="rId29"/>
    <p:sldId id="268" r:id="rId30"/>
    <p:sldId id="269" r:id="rId31"/>
    <p:sldId id="270" r:id="rId32"/>
    <p:sldId id="271" r:id="rId33"/>
    <p:sldId id="272" r:id="rId34"/>
    <p:sldId id="273" r:id="rId35"/>
    <p:sldId id="261" r:id="rId36"/>
    <p:sldId id="262" r:id="rId37"/>
    <p:sldId id="263" r:id="rId38"/>
    <p:sldId id="276" r:id="rId39"/>
    <p:sldId id="277" r:id="rId40"/>
    <p:sldId id="280" r:id="rId41"/>
    <p:sldId id="281" r:id="rId42"/>
    <p:sldId id="282" r:id="rId43"/>
    <p:sldId id="283" r:id="rId44"/>
    <p:sldId id="284" r:id="rId45"/>
    <p:sldId id="287" r:id="rId46"/>
    <p:sldId id="289" r:id="rId47"/>
    <p:sldId id="290" r:id="rId48"/>
    <p:sldId id="291" r:id="rId49"/>
    <p:sldId id="288" r:id="rId50"/>
    <p:sldId id="292" r:id="rId51"/>
    <p:sldId id="293" r:id="rId52"/>
    <p:sldId id="294" r:id="rId53"/>
    <p:sldId id="296" r:id="rId54"/>
    <p:sldId id="295" r:id="rId55"/>
    <p:sldId id="297" r:id="rId56"/>
    <p:sldId id="298"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0F535-899B-935A-D616-EB3325494A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0EF875-E49B-1009-A762-5D28511114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043237-4131-38FB-483C-C204950B471E}"/>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5" name="Footer Placeholder 4">
            <a:extLst>
              <a:ext uri="{FF2B5EF4-FFF2-40B4-BE49-F238E27FC236}">
                <a16:creationId xmlns:a16="http://schemas.microsoft.com/office/drawing/2014/main" id="{DB741EF7-CC99-573D-0CBA-A9CAD20EAC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AD7D19-B2C0-50F1-3451-8E34620435AC}"/>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1504817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51F9D-7ACB-8E2F-53A6-E0F811EEB2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FD692C-0D01-C6D1-D1E1-1399E964BF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AE9CA0-99B0-4FB2-6816-9676828A4DAB}"/>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5" name="Footer Placeholder 4">
            <a:extLst>
              <a:ext uri="{FF2B5EF4-FFF2-40B4-BE49-F238E27FC236}">
                <a16:creationId xmlns:a16="http://schemas.microsoft.com/office/drawing/2014/main" id="{6F94784D-C4D2-E48E-D370-77A13485C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E53A9-933D-392A-17B6-7A9AFF3AAB54}"/>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1356484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8031-3E41-4B05-4057-ADA838C75F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7E0263-E78D-9362-CAF4-49FE50B29A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8B5B1A-B7D8-4672-EF0A-C63AD6AE7706}"/>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5" name="Footer Placeholder 4">
            <a:extLst>
              <a:ext uri="{FF2B5EF4-FFF2-40B4-BE49-F238E27FC236}">
                <a16:creationId xmlns:a16="http://schemas.microsoft.com/office/drawing/2014/main" id="{9FE02610-DF1E-7CA5-4160-68E01AC711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ABA03-D747-52AB-2CA6-E5F9B67C70BE}"/>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275185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51DE-02A5-5E18-473E-7FEEF8E7C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70A1B8-4042-4A05-4AF2-B197381942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AF9845-F52E-EBE3-257C-FE909FE03B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8F4D35-A905-A06C-649E-41C72EFB4040}"/>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6" name="Footer Placeholder 5">
            <a:extLst>
              <a:ext uri="{FF2B5EF4-FFF2-40B4-BE49-F238E27FC236}">
                <a16:creationId xmlns:a16="http://schemas.microsoft.com/office/drawing/2014/main" id="{0831500F-5466-317D-A18E-99D86BCBD2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5D98CB-0CE1-FCAE-CA68-0FDCED326B45}"/>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2831583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6F443-83A2-5F81-64F8-DA606D29C1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B434A7-B9E2-CFBA-3693-F235D81E46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880289-DAC8-6FCF-7797-EFC0EC838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5ED03A-6064-C624-AADE-403CE47DF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557652-8E48-F2EA-CE20-9481F4E5B7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6C0235-DB4E-FFED-D64C-C4B607974E78}"/>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8" name="Footer Placeholder 7">
            <a:extLst>
              <a:ext uri="{FF2B5EF4-FFF2-40B4-BE49-F238E27FC236}">
                <a16:creationId xmlns:a16="http://schemas.microsoft.com/office/drawing/2014/main" id="{D75DED04-CFAA-2CA2-82E6-F0B1E483F1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8CED50-59B1-94BC-020E-71818607E88D}"/>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2846981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F1B1-183D-9664-A196-926A512889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5F46C1-D4FD-632F-D464-60233DA377D7}"/>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4" name="Footer Placeholder 3">
            <a:extLst>
              <a:ext uri="{FF2B5EF4-FFF2-40B4-BE49-F238E27FC236}">
                <a16:creationId xmlns:a16="http://schemas.microsoft.com/office/drawing/2014/main" id="{EC4ECEAF-E1C6-89FF-0FC0-5DFD5A307D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A8D34A-6211-2E61-5747-EA6823C7B29E}"/>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1184699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69272-515F-DE1C-6C97-349B87806034}"/>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3" name="Footer Placeholder 2">
            <a:extLst>
              <a:ext uri="{FF2B5EF4-FFF2-40B4-BE49-F238E27FC236}">
                <a16:creationId xmlns:a16="http://schemas.microsoft.com/office/drawing/2014/main" id="{4F63B7FE-EE00-3B34-1227-D8FC1C501B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8FCCF8-3FBA-CB47-2DB6-1725AFC3574D}"/>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2456990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598A6-F6AA-9B74-B9D1-A9F7400C9A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AA8BF3-ECE0-7494-5796-B8A82B1602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FD617D-3825-3C59-D6A2-56B8D493A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1A8FEB-FC4C-09D1-E7F5-5B059555E04A}"/>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6" name="Footer Placeholder 5">
            <a:extLst>
              <a:ext uri="{FF2B5EF4-FFF2-40B4-BE49-F238E27FC236}">
                <a16:creationId xmlns:a16="http://schemas.microsoft.com/office/drawing/2014/main" id="{393C7171-15EB-F1F1-E640-F6806262D7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002B64-DC8F-2871-5D96-55B2173C0715}"/>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2815880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0CA7C-A75D-7A1D-923E-9AA478B90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A51815-9BAD-4F21-80C7-E5243742E4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6D145D-87F5-6191-C27A-1AC851FE8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9C6D46-94B6-80DA-84F9-6C56D611CDA0}"/>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6" name="Footer Placeholder 5">
            <a:extLst>
              <a:ext uri="{FF2B5EF4-FFF2-40B4-BE49-F238E27FC236}">
                <a16:creationId xmlns:a16="http://schemas.microsoft.com/office/drawing/2014/main" id="{713BE948-07FB-CE64-1955-853A3BB68D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D7A94-1F34-8881-0F30-FC716B0F8DAA}"/>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3862225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B7B6-6CBF-3591-5BA1-E4DE7DA94C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2AFB8B-A8DE-5C4D-5E5B-28975A791D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8078E0-BC6B-17B0-8F96-B20D52E432BD}"/>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5" name="Footer Placeholder 4">
            <a:extLst>
              <a:ext uri="{FF2B5EF4-FFF2-40B4-BE49-F238E27FC236}">
                <a16:creationId xmlns:a16="http://schemas.microsoft.com/office/drawing/2014/main" id="{174FBB12-210F-F5DE-B8C7-54254CCF5A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528C77-AFE0-C85B-4B27-BE8AD22CEBA1}"/>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821169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51ABC4-FE2C-224C-E532-D2FA040B5C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8E6012-7DE4-4B4A-4EAC-68EDA2ADBF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58FB2-DB8D-C3F9-68CB-FC94462AA9B5}"/>
              </a:ext>
            </a:extLst>
          </p:cNvPr>
          <p:cNvSpPr>
            <a:spLocks noGrp="1"/>
          </p:cNvSpPr>
          <p:nvPr>
            <p:ph type="dt" sz="half" idx="10"/>
          </p:nvPr>
        </p:nvSpPr>
        <p:spPr/>
        <p:txBody>
          <a:bodyPr/>
          <a:lstStyle/>
          <a:p>
            <a:fld id="{93F36498-2296-4335-A7D0-970BCB690FA9}" type="datetimeFigureOut">
              <a:rPr lang="en-US" smtClean="0"/>
              <a:t>8/7/2026</a:t>
            </a:fld>
            <a:endParaRPr lang="en-US"/>
          </a:p>
        </p:txBody>
      </p:sp>
      <p:sp>
        <p:nvSpPr>
          <p:cNvPr id="5" name="Footer Placeholder 4">
            <a:extLst>
              <a:ext uri="{FF2B5EF4-FFF2-40B4-BE49-F238E27FC236}">
                <a16:creationId xmlns:a16="http://schemas.microsoft.com/office/drawing/2014/main" id="{2A0EE465-985B-78AC-7472-61E5F8DFC0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986F6F-D764-3FE7-0B3C-73841C2A30BB}"/>
              </a:ext>
            </a:extLst>
          </p:cNvPr>
          <p:cNvSpPr>
            <a:spLocks noGrp="1"/>
          </p:cNvSpPr>
          <p:nvPr>
            <p:ph type="sldNum" sz="quarter" idx="12"/>
          </p:nvPr>
        </p:nvSpPr>
        <p:spPr/>
        <p:txBody>
          <a:bodyPr/>
          <a:lstStyle/>
          <a:p>
            <a:fld id="{57DFCDFB-CC13-47EE-803A-1FF82E84ABDB}" type="slidenum">
              <a:rPr lang="en-US" smtClean="0"/>
              <a:t>‹#›</a:t>
            </a:fld>
            <a:endParaRPr lang="en-US"/>
          </a:p>
        </p:txBody>
      </p:sp>
    </p:spTree>
    <p:extLst>
      <p:ext uri="{BB962C8B-B14F-4D97-AF65-F5344CB8AC3E}">
        <p14:creationId xmlns:p14="http://schemas.microsoft.com/office/powerpoint/2010/main" val="3517035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7B7A6-652D-37AF-8CCF-1D32823C1C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D8332F-D3F4-6EA1-D81E-7274253324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59D5B-85C0-7C64-4951-3FD7F79B34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F36498-2296-4335-A7D0-970BCB690FA9}" type="datetimeFigureOut">
              <a:rPr lang="en-US" smtClean="0"/>
              <a:t>8/7/2026</a:t>
            </a:fld>
            <a:endParaRPr lang="en-US"/>
          </a:p>
        </p:txBody>
      </p:sp>
      <p:sp>
        <p:nvSpPr>
          <p:cNvPr id="5" name="Footer Placeholder 4">
            <a:extLst>
              <a:ext uri="{FF2B5EF4-FFF2-40B4-BE49-F238E27FC236}">
                <a16:creationId xmlns:a16="http://schemas.microsoft.com/office/drawing/2014/main" id="{CAF6ABFF-7528-9B70-EEBA-A4558ED383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FFFC9A-063F-0E1B-50DE-DD02C795B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DFCDFB-CC13-47EE-803A-1FF82E84ABDB}" type="slidenum">
              <a:rPr lang="en-US" smtClean="0"/>
              <a:t>‹#›</a:t>
            </a:fld>
            <a:endParaRPr lang="en-US"/>
          </a:p>
        </p:txBody>
      </p:sp>
    </p:spTree>
    <p:extLst>
      <p:ext uri="{BB962C8B-B14F-4D97-AF65-F5344CB8AC3E}">
        <p14:creationId xmlns:p14="http://schemas.microsoft.com/office/powerpoint/2010/main" val="380623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D3D1-8C67-4621-B684-25AC65B22943}"/>
              </a:ext>
            </a:extLst>
          </p:cNvPr>
          <p:cNvSpPr>
            <a:spLocks noGrp="1"/>
          </p:cNvSpPr>
          <p:nvPr>
            <p:ph type="ctrTitle"/>
          </p:nvPr>
        </p:nvSpPr>
        <p:spPr/>
        <p:txBody>
          <a:bodyPr/>
          <a:lstStyle/>
          <a:p>
            <a:r>
              <a:rPr lang="en-US" dirty="0"/>
              <a:t>Advanced Features</a:t>
            </a:r>
          </a:p>
        </p:txBody>
      </p:sp>
      <p:sp>
        <p:nvSpPr>
          <p:cNvPr id="3" name="Subtitle 2">
            <a:extLst>
              <a:ext uri="{FF2B5EF4-FFF2-40B4-BE49-F238E27FC236}">
                <a16:creationId xmlns:a16="http://schemas.microsoft.com/office/drawing/2014/main" id="{C7B8B61B-E895-4E40-3A34-55D453882E92}"/>
              </a:ext>
            </a:extLst>
          </p:cNvPr>
          <p:cNvSpPr>
            <a:spLocks noGrp="1"/>
          </p:cNvSpPr>
          <p:nvPr>
            <p:ph type="subTitle" idx="1"/>
          </p:nvPr>
        </p:nvSpPr>
        <p:spPr/>
        <p:txBody>
          <a:bodyPr/>
          <a:lstStyle/>
          <a:p>
            <a:r>
              <a:rPr lang="en-US" dirty="0"/>
              <a:t>Dr, Rakhee Chhibber</a:t>
            </a:r>
          </a:p>
        </p:txBody>
      </p:sp>
    </p:spTree>
    <p:extLst>
      <p:ext uri="{BB962C8B-B14F-4D97-AF65-F5344CB8AC3E}">
        <p14:creationId xmlns:p14="http://schemas.microsoft.com/office/powerpoint/2010/main" val="2236090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19F8-D5D2-18D0-0DFC-25D0459A5826}"/>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2C9229FC-19C4-2246-815D-7F0DB1A085A4}"/>
              </a:ext>
            </a:extLst>
          </p:cNvPr>
          <p:cNvSpPr>
            <a:spLocks noGrp="1"/>
          </p:cNvSpPr>
          <p:nvPr>
            <p:ph idx="1"/>
          </p:nvPr>
        </p:nvSpPr>
        <p:spPr/>
        <p:txBody>
          <a:bodyPr/>
          <a:lstStyle/>
          <a:p>
            <a:pPr indent="0">
              <a:buNone/>
            </a:pPr>
            <a:br>
              <a:rPr lang="en-US" dirty="0"/>
            </a:br>
            <a:r>
              <a:rPr lang="en-US" dirty="0"/>
              <a:t>•pivot and unpivot </a:t>
            </a:r>
          </a:p>
          <a:p>
            <a:pPr indent="0">
              <a:buNone/>
            </a:pPr>
            <a:r>
              <a:rPr lang="en-US" dirty="0"/>
              <a:t>•Parameters and what if analysis</a:t>
            </a:r>
            <a:br>
              <a:rPr lang="en-US" dirty="0"/>
            </a:br>
            <a:r>
              <a:rPr lang="en-US" dirty="0"/>
              <a:t>• Incremental refresh</a:t>
            </a:r>
            <a:br>
              <a:rPr lang="en-US" dirty="0"/>
            </a:br>
            <a:r>
              <a:rPr lang="en-US" dirty="0"/>
              <a:t>• Composite models</a:t>
            </a:r>
            <a:br>
              <a:rPr lang="en-US" dirty="0"/>
            </a:br>
            <a:r>
              <a:rPr lang="en-US" dirty="0"/>
              <a:t>• Using AI visuals</a:t>
            </a:r>
            <a:br>
              <a:rPr lang="en-US" dirty="0"/>
            </a:br>
            <a:r>
              <a:rPr lang="en-US" dirty="0"/>
              <a:t>• Integration with Excel and other tools</a:t>
            </a:r>
          </a:p>
        </p:txBody>
      </p:sp>
    </p:spTree>
    <p:extLst>
      <p:ext uri="{BB962C8B-B14F-4D97-AF65-F5344CB8AC3E}">
        <p14:creationId xmlns:p14="http://schemas.microsoft.com/office/powerpoint/2010/main" val="4036565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29E8C-5ACC-8B06-4CC6-3063791BCACB}"/>
              </a:ext>
            </a:extLst>
          </p:cNvPr>
          <p:cNvSpPr>
            <a:spLocks noGrp="1"/>
          </p:cNvSpPr>
          <p:nvPr>
            <p:ph type="title"/>
          </p:nvPr>
        </p:nvSpPr>
        <p:spPr/>
        <p:txBody>
          <a:bodyPr/>
          <a:lstStyle/>
          <a:p>
            <a:r>
              <a:rPr lang="en-US" dirty="0"/>
              <a:t>Pivot and unpivot</a:t>
            </a:r>
          </a:p>
        </p:txBody>
      </p:sp>
      <p:sp>
        <p:nvSpPr>
          <p:cNvPr id="3" name="Content Placeholder 2">
            <a:extLst>
              <a:ext uri="{FF2B5EF4-FFF2-40B4-BE49-F238E27FC236}">
                <a16:creationId xmlns:a16="http://schemas.microsoft.com/office/drawing/2014/main" id="{2FAB1AB5-2EA3-B9CE-20F6-1BDEF2C660EC}"/>
              </a:ext>
            </a:extLst>
          </p:cNvPr>
          <p:cNvSpPr>
            <a:spLocks noGrp="1"/>
          </p:cNvSpPr>
          <p:nvPr>
            <p:ph idx="1"/>
          </p:nvPr>
        </p:nvSpPr>
        <p:spPr/>
        <p:txBody>
          <a:bodyPr>
            <a:normAutofit/>
          </a:bodyPr>
          <a:lstStyle/>
          <a:p>
            <a:pPr marL="0" indent="0" algn="just">
              <a:buNone/>
            </a:pPr>
            <a:r>
              <a:rPr lang="en-US" sz="3200" dirty="0"/>
              <a:t>Pivoting and Unpivoting are useful data transformation techniques in Power BI that help reshape data into a structure that is easier to analyze and </a:t>
            </a:r>
            <a:r>
              <a:rPr lang="en-US" sz="3200" dirty="0" err="1"/>
              <a:t>visualise</a:t>
            </a:r>
            <a:r>
              <a:rPr lang="en-US" sz="3200" dirty="0"/>
              <a:t>. Using these features in Power Query, you can convert rows into columns or columns into rows depending on how your data is </a:t>
            </a:r>
            <a:r>
              <a:rPr lang="en-US" sz="3200" dirty="0" err="1"/>
              <a:t>organised</a:t>
            </a:r>
            <a:r>
              <a:rPr lang="en-US" sz="3200" dirty="0"/>
              <a:t> and how you want to work on it.</a:t>
            </a:r>
          </a:p>
        </p:txBody>
      </p:sp>
    </p:spTree>
    <p:extLst>
      <p:ext uri="{BB962C8B-B14F-4D97-AF65-F5344CB8AC3E}">
        <p14:creationId xmlns:p14="http://schemas.microsoft.com/office/powerpoint/2010/main" val="1888921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DA0-AA45-D937-5ECE-F1D0E291E6D7}"/>
              </a:ext>
            </a:extLst>
          </p:cNvPr>
          <p:cNvSpPr>
            <a:spLocks noGrp="1"/>
          </p:cNvSpPr>
          <p:nvPr>
            <p:ph type="title"/>
          </p:nvPr>
        </p:nvSpPr>
        <p:spPr/>
        <p:txBody>
          <a:bodyPr/>
          <a:lstStyle/>
          <a:p>
            <a:r>
              <a:rPr lang="en-US" b="1" dirty="0"/>
              <a:t>Understanding Pivoting in Power BI</a:t>
            </a:r>
            <a:endParaRPr lang="en-US" dirty="0"/>
          </a:p>
        </p:txBody>
      </p:sp>
      <p:sp>
        <p:nvSpPr>
          <p:cNvPr id="3" name="Content Placeholder 2">
            <a:extLst>
              <a:ext uri="{FF2B5EF4-FFF2-40B4-BE49-F238E27FC236}">
                <a16:creationId xmlns:a16="http://schemas.microsoft.com/office/drawing/2014/main" id="{1F5C43B6-8A78-B0CE-CCA2-5558BD8D057D}"/>
              </a:ext>
            </a:extLst>
          </p:cNvPr>
          <p:cNvSpPr>
            <a:spLocks noGrp="1"/>
          </p:cNvSpPr>
          <p:nvPr>
            <p:ph idx="1"/>
          </p:nvPr>
        </p:nvSpPr>
        <p:spPr/>
        <p:txBody>
          <a:bodyPr>
            <a:normAutofit fontScale="92500" lnSpcReduction="10000"/>
          </a:bodyPr>
          <a:lstStyle/>
          <a:p>
            <a:pPr marL="0" indent="0" fontAlgn="base">
              <a:buNone/>
            </a:pPr>
            <a:r>
              <a:rPr lang="en-US" dirty="0"/>
              <a:t>Pivoting in Power BI is a data transformation technique used to </a:t>
            </a:r>
            <a:r>
              <a:rPr lang="en-US" dirty="0" err="1"/>
              <a:t>reorganise</a:t>
            </a:r>
            <a:r>
              <a:rPr lang="en-US" dirty="0"/>
              <a:t> data by turning category values from rows into separate columns. This results in a wider, more structured table that is easier to analyze and compare.</a:t>
            </a:r>
          </a:p>
          <a:p>
            <a:pPr fontAlgn="base"/>
            <a:r>
              <a:rPr lang="en-US" dirty="0"/>
              <a:t>Converts unique row-level category values into individual column headers</a:t>
            </a:r>
          </a:p>
          <a:p>
            <a:pPr fontAlgn="base"/>
            <a:r>
              <a:rPr lang="en-US" dirty="0"/>
              <a:t>Summarizes corresponding data using aggregation methods such as sum, average or count</a:t>
            </a:r>
          </a:p>
          <a:p>
            <a:pPr fontAlgn="base"/>
            <a:r>
              <a:rPr lang="en-US" dirty="0"/>
              <a:t>Improves data readability and supports side-by-side comparison across categories</a:t>
            </a:r>
          </a:p>
          <a:p>
            <a:pPr fontAlgn="base"/>
            <a:r>
              <a:rPr lang="en-US" dirty="0"/>
              <a:t>Helps create analysis-ready tables for reports and dashboards</a:t>
            </a:r>
          </a:p>
          <a:p>
            <a:endParaRPr lang="en-US" dirty="0"/>
          </a:p>
        </p:txBody>
      </p:sp>
    </p:spTree>
    <p:extLst>
      <p:ext uri="{BB962C8B-B14F-4D97-AF65-F5344CB8AC3E}">
        <p14:creationId xmlns:p14="http://schemas.microsoft.com/office/powerpoint/2010/main" val="354139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932BD-D583-8160-6714-68F5022B24E0}"/>
              </a:ext>
            </a:extLst>
          </p:cNvPr>
          <p:cNvSpPr>
            <a:spLocks noGrp="1"/>
          </p:cNvSpPr>
          <p:nvPr>
            <p:ph type="title"/>
          </p:nvPr>
        </p:nvSpPr>
        <p:spPr/>
        <p:txBody>
          <a:bodyPr/>
          <a:lstStyle/>
          <a:p>
            <a:r>
              <a:rPr lang="en-US" b="1" dirty="0"/>
              <a:t>When to Use Pivoting</a:t>
            </a:r>
            <a:endParaRPr lang="en-US" dirty="0"/>
          </a:p>
        </p:txBody>
      </p:sp>
      <p:sp>
        <p:nvSpPr>
          <p:cNvPr id="3" name="Content Placeholder 2">
            <a:extLst>
              <a:ext uri="{FF2B5EF4-FFF2-40B4-BE49-F238E27FC236}">
                <a16:creationId xmlns:a16="http://schemas.microsoft.com/office/drawing/2014/main" id="{51302EDB-B81B-AFF4-F0B6-683788B15800}"/>
              </a:ext>
            </a:extLst>
          </p:cNvPr>
          <p:cNvSpPr>
            <a:spLocks noGrp="1"/>
          </p:cNvSpPr>
          <p:nvPr>
            <p:ph idx="1"/>
          </p:nvPr>
        </p:nvSpPr>
        <p:spPr/>
        <p:txBody>
          <a:bodyPr/>
          <a:lstStyle/>
          <a:p>
            <a:pPr fontAlgn="base"/>
            <a:r>
              <a:rPr lang="en-US" dirty="0"/>
              <a:t>When categorical data is stored vertically but needs to be analyzed side by side</a:t>
            </a:r>
          </a:p>
          <a:p>
            <a:pPr fontAlgn="base"/>
            <a:r>
              <a:rPr lang="en-US" dirty="0"/>
              <a:t>When building summary tables for high-level reporting</a:t>
            </a:r>
          </a:p>
          <a:p>
            <a:pPr fontAlgn="base"/>
            <a:r>
              <a:rPr lang="en-US" dirty="0"/>
              <a:t>When preparing data for matrix, table or KPI visuals</a:t>
            </a:r>
          </a:p>
          <a:p>
            <a:pPr fontAlgn="base"/>
            <a:r>
              <a:rPr lang="en-US" dirty="0"/>
              <a:t>When reducing repetitive rows to create a compact and interpretable dataset</a:t>
            </a:r>
          </a:p>
          <a:p>
            <a:endParaRPr lang="en-US" dirty="0"/>
          </a:p>
        </p:txBody>
      </p:sp>
    </p:spTree>
    <p:extLst>
      <p:ext uri="{BB962C8B-B14F-4D97-AF65-F5344CB8AC3E}">
        <p14:creationId xmlns:p14="http://schemas.microsoft.com/office/powerpoint/2010/main" val="2982520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D076-241E-DA4D-552A-2B7385302905}"/>
              </a:ext>
            </a:extLst>
          </p:cNvPr>
          <p:cNvSpPr>
            <a:spLocks noGrp="1"/>
          </p:cNvSpPr>
          <p:nvPr>
            <p:ph type="title"/>
          </p:nvPr>
        </p:nvSpPr>
        <p:spPr/>
        <p:txBody>
          <a:bodyPr/>
          <a:lstStyle/>
          <a:p>
            <a:r>
              <a:rPr lang="en-US" b="1" dirty="0"/>
              <a:t>Example</a:t>
            </a:r>
            <a:endParaRPr lang="en-US" dirty="0"/>
          </a:p>
        </p:txBody>
      </p:sp>
      <p:sp>
        <p:nvSpPr>
          <p:cNvPr id="3" name="Content Placeholder 2">
            <a:extLst>
              <a:ext uri="{FF2B5EF4-FFF2-40B4-BE49-F238E27FC236}">
                <a16:creationId xmlns:a16="http://schemas.microsoft.com/office/drawing/2014/main" id="{2D289D36-A049-F27C-9D80-90050C40AE69}"/>
              </a:ext>
            </a:extLst>
          </p:cNvPr>
          <p:cNvSpPr>
            <a:spLocks noGrp="1"/>
          </p:cNvSpPr>
          <p:nvPr>
            <p:ph idx="1"/>
          </p:nvPr>
        </p:nvSpPr>
        <p:spPr>
          <a:xfrm>
            <a:off x="838200" y="1825625"/>
            <a:ext cx="10515600" cy="2117725"/>
          </a:xfrm>
        </p:spPr>
        <p:txBody>
          <a:bodyPr>
            <a:normAutofit fontScale="77500" lnSpcReduction="20000"/>
          </a:bodyPr>
          <a:lstStyle/>
          <a:p>
            <a:pPr marL="0" indent="0" fontAlgn="base">
              <a:buNone/>
            </a:pPr>
            <a:r>
              <a:rPr lang="en-US" dirty="0"/>
              <a:t>Imagine a table where each row contains:</a:t>
            </a:r>
          </a:p>
          <a:p>
            <a:pPr fontAlgn="base"/>
            <a:r>
              <a:rPr lang="en-US" dirty="0"/>
              <a:t>Store ID</a:t>
            </a:r>
          </a:p>
          <a:p>
            <a:pPr fontAlgn="base"/>
            <a:r>
              <a:rPr lang="en-US" dirty="0"/>
              <a:t>Cost Type (Construction, Maintenance, Utilities)</a:t>
            </a:r>
          </a:p>
          <a:p>
            <a:pPr fontAlgn="base"/>
            <a:r>
              <a:rPr lang="en-US" dirty="0"/>
              <a:t>Cost Amount</a:t>
            </a:r>
          </a:p>
          <a:p>
            <a:pPr marL="0" indent="0">
              <a:buNone/>
            </a:pPr>
            <a:br>
              <a:rPr lang="en-US" dirty="0"/>
            </a:br>
            <a:endParaRPr lang="en-US" dirty="0"/>
          </a:p>
        </p:txBody>
      </p:sp>
      <p:pic>
        <p:nvPicPr>
          <p:cNvPr id="5" name="Picture 4">
            <a:extLst>
              <a:ext uri="{FF2B5EF4-FFF2-40B4-BE49-F238E27FC236}">
                <a16:creationId xmlns:a16="http://schemas.microsoft.com/office/drawing/2014/main" id="{6BF7A9A4-FF9C-C00A-53A0-9B75F421BE74}"/>
              </a:ext>
            </a:extLst>
          </p:cNvPr>
          <p:cNvPicPr>
            <a:picLocks noChangeAspect="1"/>
          </p:cNvPicPr>
          <p:nvPr/>
        </p:nvPicPr>
        <p:blipFill>
          <a:blip r:embed="rId2"/>
          <a:stretch>
            <a:fillRect/>
          </a:stretch>
        </p:blipFill>
        <p:spPr>
          <a:xfrm>
            <a:off x="838200" y="3272548"/>
            <a:ext cx="10317015" cy="3467584"/>
          </a:xfrm>
          <a:prstGeom prst="rect">
            <a:avLst/>
          </a:prstGeom>
        </p:spPr>
      </p:pic>
    </p:spTree>
    <p:extLst>
      <p:ext uri="{BB962C8B-B14F-4D97-AF65-F5344CB8AC3E}">
        <p14:creationId xmlns:p14="http://schemas.microsoft.com/office/powerpoint/2010/main" val="174307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C77E0-3CCF-9F10-239A-CEAB299A992F}"/>
              </a:ext>
            </a:extLst>
          </p:cNvPr>
          <p:cNvSpPr>
            <a:spLocks noGrp="1"/>
          </p:cNvSpPr>
          <p:nvPr>
            <p:ph type="title"/>
          </p:nvPr>
        </p:nvSpPr>
        <p:spPr/>
        <p:txBody>
          <a:bodyPr/>
          <a:lstStyle/>
          <a:p>
            <a:r>
              <a:rPr lang="en-US" b="1" dirty="0"/>
              <a:t>Understanding Unpivoting in Power BI</a:t>
            </a:r>
            <a:br>
              <a:rPr lang="en-US" b="1" dirty="0"/>
            </a:br>
            <a:endParaRPr lang="en-US" dirty="0"/>
          </a:p>
        </p:txBody>
      </p:sp>
      <p:sp>
        <p:nvSpPr>
          <p:cNvPr id="3" name="Content Placeholder 2">
            <a:extLst>
              <a:ext uri="{FF2B5EF4-FFF2-40B4-BE49-F238E27FC236}">
                <a16:creationId xmlns:a16="http://schemas.microsoft.com/office/drawing/2014/main" id="{65EA6313-8DB5-E747-1C4A-3DE9253EB804}"/>
              </a:ext>
            </a:extLst>
          </p:cNvPr>
          <p:cNvSpPr>
            <a:spLocks noGrp="1"/>
          </p:cNvSpPr>
          <p:nvPr>
            <p:ph idx="1"/>
          </p:nvPr>
        </p:nvSpPr>
        <p:spPr/>
        <p:txBody>
          <a:bodyPr/>
          <a:lstStyle/>
          <a:p>
            <a:r>
              <a:rPr lang="en-US" dirty="0"/>
              <a:t>Unpivoting is the reverse of pivoting. It converts multiple columns into rows, creating a more normalized dataset. It moves values from multiple related columns into rows, making the dataset more flexible, consistent and easier to analyze.</a:t>
            </a:r>
          </a:p>
        </p:txBody>
      </p:sp>
    </p:spTree>
    <p:extLst>
      <p:ext uri="{BB962C8B-B14F-4D97-AF65-F5344CB8AC3E}">
        <p14:creationId xmlns:p14="http://schemas.microsoft.com/office/powerpoint/2010/main" val="3681131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97D5F-139C-D0CD-0474-2373BA6A0157}"/>
              </a:ext>
            </a:extLst>
          </p:cNvPr>
          <p:cNvSpPr>
            <a:spLocks noGrp="1"/>
          </p:cNvSpPr>
          <p:nvPr>
            <p:ph type="title"/>
          </p:nvPr>
        </p:nvSpPr>
        <p:spPr/>
        <p:txBody>
          <a:bodyPr/>
          <a:lstStyle/>
          <a:p>
            <a:r>
              <a:rPr lang="en-US" b="1" dirty="0"/>
              <a:t>When to Use Unpivoting</a:t>
            </a:r>
            <a:endParaRPr lang="en-US" dirty="0"/>
          </a:p>
        </p:txBody>
      </p:sp>
      <p:sp>
        <p:nvSpPr>
          <p:cNvPr id="3" name="Content Placeholder 2">
            <a:extLst>
              <a:ext uri="{FF2B5EF4-FFF2-40B4-BE49-F238E27FC236}">
                <a16:creationId xmlns:a16="http://schemas.microsoft.com/office/drawing/2014/main" id="{6EDA348B-9D91-F95E-C2AD-B571700703AF}"/>
              </a:ext>
            </a:extLst>
          </p:cNvPr>
          <p:cNvSpPr>
            <a:spLocks noGrp="1"/>
          </p:cNvSpPr>
          <p:nvPr>
            <p:ph idx="1"/>
          </p:nvPr>
        </p:nvSpPr>
        <p:spPr/>
        <p:txBody>
          <a:bodyPr/>
          <a:lstStyle/>
          <a:p>
            <a:pPr marL="0" indent="0" fontAlgn="base">
              <a:buNone/>
            </a:pPr>
            <a:r>
              <a:rPr lang="en-US" dirty="0"/>
              <a:t>Unpivoting is especially useful in the following situations:</a:t>
            </a:r>
          </a:p>
          <a:p>
            <a:pPr fontAlgn="base"/>
            <a:r>
              <a:rPr lang="en-US" dirty="0"/>
              <a:t>When working with wide datasets that are difficult to analyze or scale</a:t>
            </a:r>
          </a:p>
          <a:p>
            <a:pPr fontAlgn="base"/>
            <a:r>
              <a:rPr lang="en-US" dirty="0"/>
              <a:t>When preparing data for charts, slicers and DAX calculations</a:t>
            </a:r>
          </a:p>
          <a:p>
            <a:pPr fontAlgn="base"/>
            <a:r>
              <a:rPr lang="en-US" dirty="0"/>
              <a:t>When applying uniform calculations or filters across similar categories</a:t>
            </a:r>
          </a:p>
          <a:p>
            <a:endParaRPr lang="en-US" dirty="0"/>
          </a:p>
        </p:txBody>
      </p:sp>
    </p:spTree>
    <p:extLst>
      <p:ext uri="{BB962C8B-B14F-4D97-AF65-F5344CB8AC3E}">
        <p14:creationId xmlns:p14="http://schemas.microsoft.com/office/powerpoint/2010/main" val="2879312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9B13-054B-2A76-560F-E79459FC73C8}"/>
              </a:ext>
            </a:extLst>
          </p:cNvPr>
          <p:cNvSpPr>
            <a:spLocks noGrp="1"/>
          </p:cNvSpPr>
          <p:nvPr>
            <p:ph type="title"/>
          </p:nvPr>
        </p:nvSpPr>
        <p:spPr/>
        <p:txBody>
          <a:bodyPr/>
          <a:lstStyle/>
          <a:p>
            <a:r>
              <a:rPr lang="en-US" b="1" dirty="0"/>
              <a:t>Example</a:t>
            </a:r>
            <a:br>
              <a:rPr lang="en-US" b="1" dirty="0"/>
            </a:br>
            <a:endParaRPr lang="en-US" dirty="0"/>
          </a:p>
        </p:txBody>
      </p:sp>
      <p:sp>
        <p:nvSpPr>
          <p:cNvPr id="3" name="Content Placeholder 2">
            <a:extLst>
              <a:ext uri="{FF2B5EF4-FFF2-40B4-BE49-F238E27FC236}">
                <a16:creationId xmlns:a16="http://schemas.microsoft.com/office/drawing/2014/main" id="{755A9232-3507-048A-3579-7F3238095E7A}"/>
              </a:ext>
            </a:extLst>
          </p:cNvPr>
          <p:cNvSpPr>
            <a:spLocks noGrp="1"/>
          </p:cNvSpPr>
          <p:nvPr>
            <p:ph idx="1"/>
          </p:nvPr>
        </p:nvSpPr>
        <p:spPr>
          <a:xfrm>
            <a:off x="186690" y="1345565"/>
            <a:ext cx="5779770" cy="4351338"/>
          </a:xfrm>
        </p:spPr>
        <p:txBody>
          <a:bodyPr>
            <a:normAutofit fontScale="92500" lnSpcReduction="20000"/>
          </a:bodyPr>
          <a:lstStyle/>
          <a:p>
            <a:pPr marL="0" indent="0" fontAlgn="base">
              <a:buNone/>
            </a:pPr>
            <a:r>
              <a:rPr lang="en-US" dirty="0"/>
              <a:t>Consider a dataset that contains separate columns such as Construction Cost, Maintenance Cost and Utility Cost. While this wide structure may look organized, it limits flexibility when filtering or visualizing data. By unpivoting these cost columns, Power BI transforms the dataset into:</a:t>
            </a:r>
          </a:p>
          <a:p>
            <a:pPr fontAlgn="base"/>
            <a:r>
              <a:rPr lang="en-US" dirty="0"/>
              <a:t>A single Cost Type column that identifies the category</a:t>
            </a:r>
          </a:p>
          <a:p>
            <a:pPr fontAlgn="base"/>
            <a:r>
              <a:rPr lang="en-US" dirty="0"/>
              <a:t>A single Cost Amount column that stores the values</a:t>
            </a:r>
          </a:p>
          <a:p>
            <a:endParaRPr lang="en-US" dirty="0"/>
          </a:p>
        </p:txBody>
      </p:sp>
      <p:pic>
        <p:nvPicPr>
          <p:cNvPr id="5" name="Picture 4">
            <a:extLst>
              <a:ext uri="{FF2B5EF4-FFF2-40B4-BE49-F238E27FC236}">
                <a16:creationId xmlns:a16="http://schemas.microsoft.com/office/drawing/2014/main" id="{A06AA834-7E6D-3066-F9B6-0EFDBF06738E}"/>
              </a:ext>
            </a:extLst>
          </p:cNvPr>
          <p:cNvPicPr>
            <a:picLocks noChangeAspect="1"/>
          </p:cNvPicPr>
          <p:nvPr/>
        </p:nvPicPr>
        <p:blipFill>
          <a:blip r:embed="rId2"/>
          <a:stretch>
            <a:fillRect/>
          </a:stretch>
        </p:blipFill>
        <p:spPr>
          <a:xfrm>
            <a:off x="5970992" y="1345565"/>
            <a:ext cx="6034318" cy="4781252"/>
          </a:xfrm>
          <a:prstGeom prst="rect">
            <a:avLst/>
          </a:prstGeom>
        </p:spPr>
      </p:pic>
    </p:spTree>
    <p:extLst>
      <p:ext uri="{BB962C8B-B14F-4D97-AF65-F5344CB8AC3E}">
        <p14:creationId xmlns:p14="http://schemas.microsoft.com/office/powerpoint/2010/main" val="2824419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E5D07-7D67-C4A7-E37C-9ADF5B9508A2}"/>
              </a:ext>
            </a:extLst>
          </p:cNvPr>
          <p:cNvSpPr>
            <a:spLocks noGrp="1"/>
          </p:cNvSpPr>
          <p:nvPr>
            <p:ph type="title"/>
          </p:nvPr>
        </p:nvSpPr>
        <p:spPr>
          <a:xfrm>
            <a:off x="613597" y="57992"/>
            <a:ext cx="10515600" cy="1325563"/>
          </a:xfrm>
        </p:spPr>
        <p:txBody>
          <a:bodyPr/>
          <a:lstStyle/>
          <a:p>
            <a:r>
              <a:rPr lang="en-US" dirty="0"/>
              <a:t>Dataset.csv</a:t>
            </a:r>
          </a:p>
        </p:txBody>
      </p:sp>
      <p:pic>
        <p:nvPicPr>
          <p:cNvPr id="5" name="Picture 4">
            <a:extLst>
              <a:ext uri="{FF2B5EF4-FFF2-40B4-BE49-F238E27FC236}">
                <a16:creationId xmlns:a16="http://schemas.microsoft.com/office/drawing/2014/main" id="{67C4009F-36DF-3CAB-E300-67D1513346A6}"/>
              </a:ext>
            </a:extLst>
          </p:cNvPr>
          <p:cNvPicPr>
            <a:picLocks noChangeAspect="1"/>
          </p:cNvPicPr>
          <p:nvPr/>
        </p:nvPicPr>
        <p:blipFill>
          <a:blip r:embed="rId2"/>
          <a:stretch>
            <a:fillRect/>
          </a:stretch>
        </p:blipFill>
        <p:spPr>
          <a:xfrm>
            <a:off x="705037" y="1120402"/>
            <a:ext cx="10964805" cy="5440418"/>
          </a:xfrm>
          <a:prstGeom prst="rect">
            <a:avLst/>
          </a:prstGeom>
        </p:spPr>
      </p:pic>
    </p:spTree>
    <p:extLst>
      <p:ext uri="{BB962C8B-B14F-4D97-AF65-F5344CB8AC3E}">
        <p14:creationId xmlns:p14="http://schemas.microsoft.com/office/powerpoint/2010/main" val="2729571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94E05-BCCA-5FF8-A9EE-65D7C166B292}"/>
              </a:ext>
            </a:extLst>
          </p:cNvPr>
          <p:cNvSpPr>
            <a:spLocks noGrp="1"/>
          </p:cNvSpPr>
          <p:nvPr>
            <p:ph type="title"/>
          </p:nvPr>
        </p:nvSpPr>
        <p:spPr>
          <a:xfrm>
            <a:off x="796967" y="0"/>
            <a:ext cx="10515600" cy="1325563"/>
          </a:xfrm>
        </p:spPr>
        <p:txBody>
          <a:bodyPr/>
          <a:lstStyle/>
          <a:p>
            <a:r>
              <a:rPr lang="en-US" dirty="0"/>
              <a:t>Steps to pivot</a:t>
            </a:r>
          </a:p>
        </p:txBody>
      </p:sp>
      <p:sp>
        <p:nvSpPr>
          <p:cNvPr id="3" name="Content Placeholder 2">
            <a:extLst>
              <a:ext uri="{FF2B5EF4-FFF2-40B4-BE49-F238E27FC236}">
                <a16:creationId xmlns:a16="http://schemas.microsoft.com/office/drawing/2014/main" id="{E346675A-5CA4-0EFF-1BB7-4AF5B9320601}"/>
              </a:ext>
            </a:extLst>
          </p:cNvPr>
          <p:cNvSpPr>
            <a:spLocks noGrp="1"/>
          </p:cNvSpPr>
          <p:nvPr>
            <p:ph idx="1"/>
          </p:nvPr>
        </p:nvSpPr>
        <p:spPr>
          <a:xfrm>
            <a:off x="796967" y="1325563"/>
            <a:ext cx="10515600" cy="4351338"/>
          </a:xfrm>
        </p:spPr>
        <p:txBody>
          <a:bodyPr>
            <a:normAutofit/>
          </a:bodyPr>
          <a:lstStyle/>
          <a:p>
            <a:pPr fontAlgn="base"/>
            <a:r>
              <a:rPr lang="en-US" dirty="0"/>
              <a:t>Open the Transform tab in the Power Query Editor.</a:t>
            </a:r>
          </a:p>
          <a:p>
            <a:pPr fontAlgn="base"/>
            <a:r>
              <a:rPr lang="en-US" dirty="0"/>
              <a:t>Select the column you want to pivot (for example, Month).</a:t>
            </a:r>
          </a:p>
          <a:p>
            <a:pPr fontAlgn="base"/>
            <a:r>
              <a:rPr lang="en-US" dirty="0"/>
              <a:t>Click Pivot Column  and Choose Sales as the Values Column for populating the pivoted data. And</a:t>
            </a:r>
          </a:p>
          <a:p>
            <a:pPr fontAlgn="base"/>
            <a:r>
              <a:rPr lang="en-US" dirty="0"/>
              <a:t> In Advanced Options, select don’t aggregate for unique values or choose an aggregation like Sum or Average as required.</a:t>
            </a:r>
          </a:p>
          <a:p>
            <a:pPr fontAlgn="base"/>
            <a:r>
              <a:rPr lang="en-US" dirty="0"/>
              <a:t>Click Close and Apply to apply the transformation</a:t>
            </a:r>
            <a:br>
              <a:rPr lang="en-US" dirty="0"/>
            </a:br>
            <a:endParaRPr lang="en-US" dirty="0"/>
          </a:p>
        </p:txBody>
      </p:sp>
    </p:spTree>
    <p:extLst>
      <p:ext uri="{BB962C8B-B14F-4D97-AF65-F5344CB8AC3E}">
        <p14:creationId xmlns:p14="http://schemas.microsoft.com/office/powerpoint/2010/main" val="1622818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9DA27-D649-C23E-5EE5-5E314F391711}"/>
              </a:ext>
            </a:extLst>
          </p:cNvPr>
          <p:cNvSpPr>
            <a:spLocks noGrp="1"/>
          </p:cNvSpPr>
          <p:nvPr>
            <p:ph type="title"/>
          </p:nvPr>
        </p:nvSpPr>
        <p:spPr/>
        <p:txBody>
          <a:bodyPr/>
          <a:lstStyle/>
          <a:p>
            <a:r>
              <a:rPr lang="en-US" b="1" dirty="0"/>
              <a:t>Steps to Unpivoting Data</a:t>
            </a:r>
            <a:endParaRPr lang="en-US" dirty="0"/>
          </a:p>
        </p:txBody>
      </p:sp>
      <p:sp>
        <p:nvSpPr>
          <p:cNvPr id="3" name="Content Placeholder 2">
            <a:extLst>
              <a:ext uri="{FF2B5EF4-FFF2-40B4-BE49-F238E27FC236}">
                <a16:creationId xmlns:a16="http://schemas.microsoft.com/office/drawing/2014/main" id="{01C91615-AA66-CE5C-F570-7011A534DA26}"/>
              </a:ext>
            </a:extLst>
          </p:cNvPr>
          <p:cNvSpPr>
            <a:spLocks noGrp="1"/>
          </p:cNvSpPr>
          <p:nvPr>
            <p:ph idx="1"/>
          </p:nvPr>
        </p:nvSpPr>
        <p:spPr/>
        <p:txBody>
          <a:bodyPr>
            <a:normAutofit/>
          </a:bodyPr>
          <a:lstStyle/>
          <a:p>
            <a:pPr fontAlgn="base"/>
            <a:r>
              <a:rPr lang="en-US" dirty="0"/>
              <a:t> Load the pivoted dataset into Power BI Desktop.</a:t>
            </a:r>
          </a:p>
          <a:p>
            <a:pPr fontAlgn="base"/>
            <a:r>
              <a:rPr lang="en-US" dirty="0"/>
              <a:t> Open the Power Query Editor by clicking Transform Data.</a:t>
            </a:r>
          </a:p>
          <a:p>
            <a:pPr fontAlgn="base"/>
            <a:r>
              <a:rPr lang="en-US" dirty="0"/>
              <a:t> Select the columns to unpivot such as January, February and March.</a:t>
            </a:r>
          </a:p>
          <a:p>
            <a:pPr fontAlgn="base"/>
            <a:r>
              <a:rPr lang="en-US" dirty="0"/>
              <a:t>Go to the Transform tab and choose Unpivot Columns.</a:t>
            </a:r>
          </a:p>
          <a:p>
            <a:pPr fontAlgn="base"/>
            <a:r>
              <a:rPr lang="en-US" dirty="0"/>
              <a:t> Power BI converts the selected columns into two new columns: Month (attribute) and Sales (value).</a:t>
            </a:r>
          </a:p>
          <a:p>
            <a:pPr fontAlgn="base"/>
            <a:r>
              <a:rPr lang="en-US" dirty="0"/>
              <a:t>Click Close and Apply to confirm </a:t>
            </a:r>
            <a:r>
              <a:rPr lang="en-US"/>
              <a:t>the changes</a:t>
            </a:r>
            <a:endParaRPr lang="en-US" dirty="0"/>
          </a:p>
        </p:txBody>
      </p:sp>
    </p:spTree>
    <p:extLst>
      <p:ext uri="{BB962C8B-B14F-4D97-AF65-F5344CB8AC3E}">
        <p14:creationId xmlns:p14="http://schemas.microsoft.com/office/powerpoint/2010/main" val="291316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0923-6C49-08A5-3CDE-A1FA3961EF2A}"/>
              </a:ext>
            </a:extLst>
          </p:cNvPr>
          <p:cNvSpPr>
            <a:spLocks noGrp="1"/>
          </p:cNvSpPr>
          <p:nvPr>
            <p:ph type="title"/>
          </p:nvPr>
        </p:nvSpPr>
        <p:spPr/>
        <p:txBody>
          <a:bodyPr/>
          <a:lstStyle/>
          <a:p>
            <a:r>
              <a:rPr lang="en-US" dirty="0"/>
              <a:t>Parameters and what-if Analysis</a:t>
            </a:r>
          </a:p>
        </p:txBody>
      </p:sp>
      <p:sp>
        <p:nvSpPr>
          <p:cNvPr id="3" name="Content Placeholder 2">
            <a:extLst>
              <a:ext uri="{FF2B5EF4-FFF2-40B4-BE49-F238E27FC236}">
                <a16:creationId xmlns:a16="http://schemas.microsoft.com/office/drawing/2014/main" id="{E4BA4830-E1E2-5871-EBB1-93F7091CE208}"/>
              </a:ext>
            </a:extLst>
          </p:cNvPr>
          <p:cNvSpPr>
            <a:spLocks noGrp="1"/>
          </p:cNvSpPr>
          <p:nvPr>
            <p:ph idx="1"/>
          </p:nvPr>
        </p:nvSpPr>
        <p:spPr/>
        <p:txBody>
          <a:bodyPr>
            <a:normAutofit/>
          </a:bodyPr>
          <a:lstStyle/>
          <a:p>
            <a:pPr marL="0" indent="0">
              <a:buNone/>
            </a:pPr>
            <a:r>
              <a:rPr lang="en-US" sz="3600" b="1" dirty="0"/>
              <a:t>What-If analysis in Power BI</a:t>
            </a:r>
            <a:r>
              <a:rPr lang="en-US" sz="3600" dirty="0"/>
              <a:t> allows you to create interactive scenarios by adding a "what-if parameter". Users can adjust inputs using a slider, and the report instantly recalculates and displays how those changes impact your metrics (e.g., seeing how a 10% price increase affects total revenue)</a:t>
            </a:r>
          </a:p>
        </p:txBody>
      </p:sp>
    </p:spTree>
    <p:extLst>
      <p:ext uri="{BB962C8B-B14F-4D97-AF65-F5344CB8AC3E}">
        <p14:creationId xmlns:p14="http://schemas.microsoft.com/office/powerpoint/2010/main" val="2966821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2A4FB-4978-2F93-8837-6536FB152EE9}"/>
              </a:ext>
            </a:extLst>
          </p:cNvPr>
          <p:cNvSpPr>
            <a:spLocks noGrp="1"/>
          </p:cNvSpPr>
          <p:nvPr>
            <p:ph type="title"/>
          </p:nvPr>
        </p:nvSpPr>
        <p:spPr/>
        <p:txBody>
          <a:bodyPr/>
          <a:lstStyle/>
          <a:p>
            <a:r>
              <a:rPr lang="en-US" dirty="0"/>
              <a:t>Steps </a:t>
            </a:r>
          </a:p>
        </p:txBody>
      </p:sp>
      <p:sp>
        <p:nvSpPr>
          <p:cNvPr id="3" name="Content Placeholder 2">
            <a:extLst>
              <a:ext uri="{FF2B5EF4-FFF2-40B4-BE49-F238E27FC236}">
                <a16:creationId xmlns:a16="http://schemas.microsoft.com/office/drawing/2014/main" id="{45586232-2132-F15D-4E6D-93B48B49008B}"/>
              </a:ext>
            </a:extLst>
          </p:cNvPr>
          <p:cNvSpPr>
            <a:spLocks noGrp="1"/>
          </p:cNvSpPr>
          <p:nvPr>
            <p:ph idx="1"/>
          </p:nvPr>
        </p:nvSpPr>
        <p:spPr/>
        <p:txBody>
          <a:bodyPr/>
          <a:lstStyle/>
          <a:p>
            <a:r>
              <a:rPr lang="en-US" dirty="0"/>
              <a:t>Load data </a:t>
            </a:r>
          </a:p>
          <a:p>
            <a:r>
              <a:rPr lang="en-US" dirty="0"/>
              <a:t>Create a new measure table and add </a:t>
            </a:r>
            <a:r>
              <a:rPr lang="en-US" dirty="0">
                <a:sym typeface="Wingdings" panose="05000000000000000000" pitchFamily="2" charset="2"/>
              </a:rPr>
              <a:t> total sales measure as </a:t>
            </a:r>
          </a:p>
          <a:p>
            <a:pPr marL="0" indent="0">
              <a:buNone/>
            </a:pPr>
            <a:r>
              <a:rPr lang="en-US" dirty="0"/>
              <a:t>Total Sales = sum(</a:t>
            </a:r>
            <a:r>
              <a:rPr lang="en-US" dirty="0" err="1"/>
              <a:t>sales_data_sample</a:t>
            </a:r>
            <a:r>
              <a:rPr lang="en-US" dirty="0"/>
              <a:t>[QUANTITYORDERED]) * sum(</a:t>
            </a:r>
            <a:r>
              <a:rPr lang="en-US" dirty="0" err="1"/>
              <a:t>sales_data_sample</a:t>
            </a:r>
            <a:r>
              <a:rPr lang="en-US" dirty="0"/>
              <a:t>[PRICEEACH])</a:t>
            </a:r>
          </a:p>
          <a:p>
            <a:pPr marL="0" indent="0">
              <a:buNone/>
            </a:pPr>
            <a:endParaRPr lang="en-US" dirty="0"/>
          </a:p>
          <a:p>
            <a:r>
              <a:rPr lang="en-US" dirty="0"/>
              <a:t>Add a bar graph</a:t>
            </a:r>
          </a:p>
          <a:p>
            <a:pPr lvl="1"/>
            <a:r>
              <a:rPr lang="en-US" dirty="0"/>
              <a:t>Set properties as X-Axis </a:t>
            </a:r>
            <a:r>
              <a:rPr lang="en-US" dirty="0">
                <a:sym typeface="Wingdings" panose="05000000000000000000" pitchFamily="2" charset="2"/>
              </a:rPr>
              <a:t> Year and Y-Axis  total sales (measure)</a:t>
            </a:r>
            <a:endParaRPr lang="en-US" dirty="0"/>
          </a:p>
          <a:p>
            <a:r>
              <a:rPr lang="en-US" dirty="0"/>
              <a:t>Create a parameter from modeling tab		</a:t>
            </a:r>
          </a:p>
          <a:p>
            <a:pPr marL="0" indent="0">
              <a:buNone/>
            </a:pPr>
            <a:endParaRPr lang="en-US" dirty="0"/>
          </a:p>
        </p:txBody>
      </p:sp>
    </p:spTree>
    <p:extLst>
      <p:ext uri="{BB962C8B-B14F-4D97-AF65-F5344CB8AC3E}">
        <p14:creationId xmlns:p14="http://schemas.microsoft.com/office/powerpoint/2010/main" val="1188510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ABD6EB-EC7D-F45E-FF89-260B072F9C68}"/>
              </a:ext>
            </a:extLst>
          </p:cNvPr>
          <p:cNvPicPr>
            <a:picLocks noChangeAspect="1"/>
          </p:cNvPicPr>
          <p:nvPr/>
        </p:nvPicPr>
        <p:blipFill>
          <a:blip r:embed="rId2"/>
          <a:stretch>
            <a:fillRect/>
          </a:stretch>
        </p:blipFill>
        <p:spPr>
          <a:xfrm>
            <a:off x="220980" y="262890"/>
            <a:ext cx="6774180" cy="6080760"/>
          </a:xfrm>
          <a:prstGeom prst="rect">
            <a:avLst/>
          </a:prstGeom>
        </p:spPr>
      </p:pic>
      <p:pic>
        <p:nvPicPr>
          <p:cNvPr id="5" name="Picture 4">
            <a:extLst>
              <a:ext uri="{FF2B5EF4-FFF2-40B4-BE49-F238E27FC236}">
                <a16:creationId xmlns:a16="http://schemas.microsoft.com/office/drawing/2014/main" id="{FEA92C98-B383-D429-06B0-E9894A30B12E}"/>
              </a:ext>
            </a:extLst>
          </p:cNvPr>
          <p:cNvPicPr>
            <a:picLocks noChangeAspect="1"/>
          </p:cNvPicPr>
          <p:nvPr/>
        </p:nvPicPr>
        <p:blipFill>
          <a:blip r:embed="rId3"/>
          <a:stretch>
            <a:fillRect/>
          </a:stretch>
        </p:blipFill>
        <p:spPr>
          <a:xfrm>
            <a:off x="7699840" y="126732"/>
            <a:ext cx="2438740" cy="6468378"/>
          </a:xfrm>
          <a:prstGeom prst="rect">
            <a:avLst/>
          </a:prstGeom>
        </p:spPr>
      </p:pic>
    </p:spTree>
    <p:extLst>
      <p:ext uri="{BB962C8B-B14F-4D97-AF65-F5344CB8AC3E}">
        <p14:creationId xmlns:p14="http://schemas.microsoft.com/office/powerpoint/2010/main" val="2303740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CF510B-5859-9897-7029-350B5FBD9220}"/>
              </a:ext>
            </a:extLst>
          </p:cNvPr>
          <p:cNvPicPr>
            <a:picLocks noChangeAspect="1"/>
          </p:cNvPicPr>
          <p:nvPr/>
        </p:nvPicPr>
        <p:blipFill>
          <a:blip r:embed="rId2"/>
          <a:stretch>
            <a:fillRect/>
          </a:stretch>
        </p:blipFill>
        <p:spPr>
          <a:xfrm>
            <a:off x="1852020" y="490127"/>
            <a:ext cx="8487960" cy="5877745"/>
          </a:xfrm>
          <a:prstGeom prst="rect">
            <a:avLst/>
          </a:prstGeom>
        </p:spPr>
      </p:pic>
    </p:spTree>
    <p:extLst>
      <p:ext uri="{BB962C8B-B14F-4D97-AF65-F5344CB8AC3E}">
        <p14:creationId xmlns:p14="http://schemas.microsoft.com/office/powerpoint/2010/main" val="1959276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3C3A5E-105E-A1A4-9FB5-D9801B90EF01}"/>
              </a:ext>
            </a:extLst>
          </p:cNvPr>
          <p:cNvPicPr>
            <a:picLocks noChangeAspect="1"/>
          </p:cNvPicPr>
          <p:nvPr/>
        </p:nvPicPr>
        <p:blipFill>
          <a:blip r:embed="rId2"/>
          <a:stretch>
            <a:fillRect/>
          </a:stretch>
        </p:blipFill>
        <p:spPr>
          <a:xfrm>
            <a:off x="0" y="1170044"/>
            <a:ext cx="12192000" cy="4517912"/>
          </a:xfrm>
          <a:prstGeom prst="rect">
            <a:avLst/>
          </a:prstGeom>
        </p:spPr>
      </p:pic>
    </p:spTree>
    <p:extLst>
      <p:ext uri="{BB962C8B-B14F-4D97-AF65-F5344CB8AC3E}">
        <p14:creationId xmlns:p14="http://schemas.microsoft.com/office/powerpoint/2010/main" val="4236827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A7834-B471-B455-FC13-698FDC94C228}"/>
              </a:ext>
            </a:extLst>
          </p:cNvPr>
          <p:cNvSpPr>
            <a:spLocks noGrp="1"/>
          </p:cNvSpPr>
          <p:nvPr>
            <p:ph type="title"/>
          </p:nvPr>
        </p:nvSpPr>
        <p:spPr/>
        <p:txBody>
          <a:bodyPr/>
          <a:lstStyle/>
          <a:p>
            <a:r>
              <a:rPr lang="en-US" dirty="0"/>
              <a:t>Modify the graph</a:t>
            </a:r>
          </a:p>
        </p:txBody>
      </p:sp>
      <p:sp>
        <p:nvSpPr>
          <p:cNvPr id="3" name="Content Placeholder 2">
            <a:extLst>
              <a:ext uri="{FF2B5EF4-FFF2-40B4-BE49-F238E27FC236}">
                <a16:creationId xmlns:a16="http://schemas.microsoft.com/office/drawing/2014/main" id="{FABE727B-FA44-5F6D-7234-CBC59A27D4B3}"/>
              </a:ext>
            </a:extLst>
          </p:cNvPr>
          <p:cNvSpPr>
            <a:spLocks noGrp="1"/>
          </p:cNvSpPr>
          <p:nvPr>
            <p:ph idx="1"/>
          </p:nvPr>
        </p:nvSpPr>
        <p:spPr>
          <a:xfrm>
            <a:off x="838200" y="1825625"/>
            <a:ext cx="7551420" cy="2220595"/>
          </a:xfrm>
        </p:spPr>
        <p:txBody>
          <a:bodyPr/>
          <a:lstStyle/>
          <a:p>
            <a:r>
              <a:rPr lang="en-US" dirty="0"/>
              <a:t>Create a new measure in calculations table</a:t>
            </a:r>
          </a:p>
          <a:p>
            <a:r>
              <a:rPr lang="en-US" dirty="0"/>
              <a:t>Total Sales % = [Total Sales] * [Sales % Value]</a:t>
            </a:r>
          </a:p>
          <a:p>
            <a:r>
              <a:rPr lang="en-US" dirty="0"/>
              <a:t>Select graph and add total sales % also on Y-axis</a:t>
            </a:r>
          </a:p>
          <a:p>
            <a:endParaRPr lang="en-US" dirty="0"/>
          </a:p>
        </p:txBody>
      </p:sp>
      <p:pic>
        <p:nvPicPr>
          <p:cNvPr id="5" name="Picture 4">
            <a:extLst>
              <a:ext uri="{FF2B5EF4-FFF2-40B4-BE49-F238E27FC236}">
                <a16:creationId xmlns:a16="http://schemas.microsoft.com/office/drawing/2014/main" id="{221B8D4E-4FE7-5B6D-CA11-2DAA168888DE}"/>
              </a:ext>
            </a:extLst>
          </p:cNvPr>
          <p:cNvPicPr>
            <a:picLocks noChangeAspect="1"/>
          </p:cNvPicPr>
          <p:nvPr/>
        </p:nvPicPr>
        <p:blipFill>
          <a:blip r:embed="rId2"/>
          <a:stretch>
            <a:fillRect/>
          </a:stretch>
        </p:blipFill>
        <p:spPr>
          <a:xfrm>
            <a:off x="9381778" y="151067"/>
            <a:ext cx="2486372" cy="4512374"/>
          </a:xfrm>
          <a:prstGeom prst="rect">
            <a:avLst/>
          </a:prstGeom>
        </p:spPr>
      </p:pic>
      <p:pic>
        <p:nvPicPr>
          <p:cNvPr id="7" name="Picture 6">
            <a:extLst>
              <a:ext uri="{FF2B5EF4-FFF2-40B4-BE49-F238E27FC236}">
                <a16:creationId xmlns:a16="http://schemas.microsoft.com/office/drawing/2014/main" id="{4B979A33-1107-BD02-37EE-4FB6D63D45BB}"/>
              </a:ext>
            </a:extLst>
          </p:cNvPr>
          <p:cNvPicPr>
            <a:picLocks noChangeAspect="1"/>
          </p:cNvPicPr>
          <p:nvPr/>
        </p:nvPicPr>
        <p:blipFill>
          <a:blip r:embed="rId3"/>
          <a:stretch>
            <a:fillRect/>
          </a:stretch>
        </p:blipFill>
        <p:spPr>
          <a:xfrm>
            <a:off x="2266268" y="3881358"/>
            <a:ext cx="5106082" cy="2422886"/>
          </a:xfrm>
          <a:prstGeom prst="rect">
            <a:avLst/>
          </a:prstGeom>
        </p:spPr>
      </p:pic>
    </p:spTree>
    <p:extLst>
      <p:ext uri="{BB962C8B-B14F-4D97-AF65-F5344CB8AC3E}">
        <p14:creationId xmlns:p14="http://schemas.microsoft.com/office/powerpoint/2010/main" val="2956150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3506DB-545C-4DBC-985B-ACB54D8CB3F4}"/>
              </a:ext>
            </a:extLst>
          </p:cNvPr>
          <p:cNvPicPr>
            <a:picLocks noChangeAspect="1"/>
          </p:cNvPicPr>
          <p:nvPr/>
        </p:nvPicPr>
        <p:blipFill>
          <a:blip r:embed="rId2"/>
          <a:stretch>
            <a:fillRect/>
          </a:stretch>
        </p:blipFill>
        <p:spPr>
          <a:xfrm>
            <a:off x="1332914" y="309127"/>
            <a:ext cx="8691195" cy="6239746"/>
          </a:xfrm>
          <a:prstGeom prst="rect">
            <a:avLst/>
          </a:prstGeom>
        </p:spPr>
      </p:pic>
    </p:spTree>
    <p:extLst>
      <p:ext uri="{BB962C8B-B14F-4D97-AF65-F5344CB8AC3E}">
        <p14:creationId xmlns:p14="http://schemas.microsoft.com/office/powerpoint/2010/main" val="1041867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E1E908-0F7F-B5D8-3885-41061E0E501A}"/>
              </a:ext>
            </a:extLst>
          </p:cNvPr>
          <p:cNvPicPr>
            <a:picLocks noChangeAspect="1"/>
          </p:cNvPicPr>
          <p:nvPr/>
        </p:nvPicPr>
        <p:blipFill>
          <a:blip r:embed="rId2"/>
          <a:stretch>
            <a:fillRect/>
          </a:stretch>
        </p:blipFill>
        <p:spPr>
          <a:xfrm>
            <a:off x="1775809" y="2119129"/>
            <a:ext cx="8640381" cy="2619741"/>
          </a:xfrm>
          <a:prstGeom prst="rect">
            <a:avLst/>
          </a:prstGeom>
        </p:spPr>
      </p:pic>
    </p:spTree>
    <p:extLst>
      <p:ext uri="{BB962C8B-B14F-4D97-AF65-F5344CB8AC3E}">
        <p14:creationId xmlns:p14="http://schemas.microsoft.com/office/powerpoint/2010/main" val="2560838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38850-B788-029C-820B-A7E22A27E8AE}"/>
              </a:ext>
            </a:extLst>
          </p:cNvPr>
          <p:cNvSpPr>
            <a:spLocks noGrp="1"/>
          </p:cNvSpPr>
          <p:nvPr>
            <p:ph type="title"/>
          </p:nvPr>
        </p:nvSpPr>
        <p:spPr/>
        <p:txBody>
          <a:bodyPr/>
          <a:lstStyle/>
          <a:p>
            <a:r>
              <a:rPr lang="en-US" dirty="0"/>
              <a:t>Incremental Refresh</a:t>
            </a:r>
          </a:p>
        </p:txBody>
      </p:sp>
      <p:sp>
        <p:nvSpPr>
          <p:cNvPr id="3" name="Text Placeholder 2">
            <a:extLst>
              <a:ext uri="{FF2B5EF4-FFF2-40B4-BE49-F238E27FC236}">
                <a16:creationId xmlns:a16="http://schemas.microsoft.com/office/drawing/2014/main" id="{50E9271E-364D-541E-A229-4AFE80750FC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84947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E9A96-54B2-A62B-E5BD-00AE3ABDBE60}"/>
              </a:ext>
            </a:extLst>
          </p:cNvPr>
          <p:cNvSpPr>
            <a:spLocks noGrp="1"/>
          </p:cNvSpPr>
          <p:nvPr>
            <p:ph type="title"/>
          </p:nvPr>
        </p:nvSpPr>
        <p:spPr/>
        <p:txBody>
          <a:bodyPr/>
          <a:lstStyle/>
          <a:p>
            <a:r>
              <a:rPr lang="en-US" dirty="0"/>
              <a:t>Incremental Refresh</a:t>
            </a:r>
          </a:p>
        </p:txBody>
      </p:sp>
      <p:sp>
        <p:nvSpPr>
          <p:cNvPr id="3" name="Content Placeholder 2">
            <a:extLst>
              <a:ext uri="{FF2B5EF4-FFF2-40B4-BE49-F238E27FC236}">
                <a16:creationId xmlns:a16="http://schemas.microsoft.com/office/drawing/2014/main" id="{8BD21F85-2696-4905-60DE-FC1081134237}"/>
              </a:ext>
            </a:extLst>
          </p:cNvPr>
          <p:cNvSpPr>
            <a:spLocks noGrp="1"/>
          </p:cNvSpPr>
          <p:nvPr>
            <p:ph idx="1"/>
          </p:nvPr>
        </p:nvSpPr>
        <p:spPr/>
        <p:txBody>
          <a:bodyPr/>
          <a:lstStyle/>
          <a:p>
            <a:r>
              <a:rPr lang="en-US" dirty="0"/>
              <a:t>Should have Power BI service Account</a:t>
            </a:r>
          </a:p>
        </p:txBody>
      </p:sp>
    </p:spTree>
    <p:extLst>
      <p:ext uri="{BB962C8B-B14F-4D97-AF65-F5344CB8AC3E}">
        <p14:creationId xmlns:p14="http://schemas.microsoft.com/office/powerpoint/2010/main" val="1086659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04D67-52EB-0D02-232F-E54EAAD1534A}"/>
              </a:ext>
            </a:extLst>
          </p:cNvPr>
          <p:cNvSpPr>
            <a:spLocks noGrp="1"/>
          </p:cNvSpPr>
          <p:nvPr>
            <p:ph type="title"/>
          </p:nvPr>
        </p:nvSpPr>
        <p:spPr/>
        <p:txBody>
          <a:bodyPr/>
          <a:lstStyle/>
          <a:p>
            <a:r>
              <a:rPr lang="en-US" dirty="0"/>
              <a:t>Set up a free Microsoft power BI service Login</a:t>
            </a:r>
          </a:p>
        </p:txBody>
      </p:sp>
      <p:sp>
        <p:nvSpPr>
          <p:cNvPr id="3" name="Text Placeholder 2">
            <a:extLst>
              <a:ext uri="{FF2B5EF4-FFF2-40B4-BE49-F238E27FC236}">
                <a16:creationId xmlns:a16="http://schemas.microsoft.com/office/drawing/2014/main" id="{80D9D2CD-69B8-9AE1-2C0E-0DC91282B8E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67212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0961-7BB2-4DAD-1C36-8D7EF0E3CDF2}"/>
              </a:ext>
            </a:extLst>
          </p:cNvPr>
          <p:cNvSpPr>
            <a:spLocks noGrp="1"/>
          </p:cNvSpPr>
          <p:nvPr>
            <p:ph type="title"/>
          </p:nvPr>
        </p:nvSpPr>
        <p:spPr/>
        <p:txBody>
          <a:bodyPr/>
          <a:lstStyle/>
          <a:p>
            <a:r>
              <a:rPr lang="en-US" dirty="0"/>
              <a:t>Set up for free power bi service</a:t>
            </a:r>
          </a:p>
        </p:txBody>
      </p:sp>
      <p:sp>
        <p:nvSpPr>
          <p:cNvPr id="3" name="Content Placeholder 2">
            <a:extLst>
              <a:ext uri="{FF2B5EF4-FFF2-40B4-BE49-F238E27FC236}">
                <a16:creationId xmlns:a16="http://schemas.microsoft.com/office/drawing/2014/main" id="{AF5A8C40-B082-9E84-D30B-55429766858E}"/>
              </a:ext>
            </a:extLst>
          </p:cNvPr>
          <p:cNvSpPr>
            <a:spLocks noGrp="1"/>
          </p:cNvSpPr>
          <p:nvPr>
            <p:ph idx="1"/>
          </p:nvPr>
        </p:nvSpPr>
        <p:spPr>
          <a:xfrm>
            <a:off x="838200" y="1825625"/>
            <a:ext cx="5139690" cy="4351338"/>
          </a:xfrm>
        </p:spPr>
        <p:txBody>
          <a:bodyPr/>
          <a:lstStyle/>
          <a:p>
            <a:r>
              <a:rPr lang="en-US" dirty="0"/>
              <a:t>Search for dynamics 365</a:t>
            </a:r>
          </a:p>
          <a:p>
            <a:r>
              <a:rPr lang="en-US" dirty="0"/>
              <a:t>Try for free</a:t>
            </a:r>
          </a:p>
          <a:p>
            <a:r>
              <a:rPr lang="en-US" dirty="0"/>
              <a:t>Select the dynamics sales</a:t>
            </a:r>
            <a:r>
              <a:rPr lang="en-US" dirty="0">
                <a:sym typeface="Wingdings" panose="05000000000000000000" pitchFamily="2" charset="2"/>
              </a:rPr>
              <a:t> try for free</a:t>
            </a:r>
          </a:p>
          <a:p>
            <a:r>
              <a:rPr lang="en-US" dirty="0">
                <a:sym typeface="Wingdings" panose="05000000000000000000" pitchFamily="2" charset="2"/>
              </a:rPr>
              <a:t>Give your </a:t>
            </a:r>
            <a:r>
              <a:rPr lang="en-US" dirty="0" err="1">
                <a:sym typeface="Wingdings" panose="05000000000000000000" pitchFamily="2" charset="2"/>
              </a:rPr>
              <a:t>gmail</a:t>
            </a:r>
            <a:r>
              <a:rPr lang="en-US" dirty="0">
                <a:sym typeface="Wingdings" panose="05000000000000000000" pitchFamily="2" charset="2"/>
              </a:rPr>
              <a:t> id  setup new</a:t>
            </a:r>
            <a:endParaRPr lang="en-US" dirty="0"/>
          </a:p>
          <a:p>
            <a:endParaRPr lang="en-US" dirty="0"/>
          </a:p>
          <a:p>
            <a:endParaRPr lang="en-US" dirty="0"/>
          </a:p>
        </p:txBody>
      </p:sp>
      <p:pic>
        <p:nvPicPr>
          <p:cNvPr id="5" name="Picture 4">
            <a:extLst>
              <a:ext uri="{FF2B5EF4-FFF2-40B4-BE49-F238E27FC236}">
                <a16:creationId xmlns:a16="http://schemas.microsoft.com/office/drawing/2014/main" id="{0062BC3A-4583-ABA0-E274-ECE5EB8E96E1}"/>
              </a:ext>
            </a:extLst>
          </p:cNvPr>
          <p:cNvPicPr>
            <a:picLocks noChangeAspect="1"/>
          </p:cNvPicPr>
          <p:nvPr/>
        </p:nvPicPr>
        <p:blipFill>
          <a:blip r:embed="rId2"/>
          <a:srcRect r="48099"/>
          <a:stretch>
            <a:fillRect/>
          </a:stretch>
        </p:blipFill>
        <p:spPr>
          <a:xfrm>
            <a:off x="6214112" y="1581854"/>
            <a:ext cx="5814060" cy="3973126"/>
          </a:xfrm>
          <a:prstGeom prst="rect">
            <a:avLst/>
          </a:prstGeom>
        </p:spPr>
      </p:pic>
    </p:spTree>
    <p:extLst>
      <p:ext uri="{BB962C8B-B14F-4D97-AF65-F5344CB8AC3E}">
        <p14:creationId xmlns:p14="http://schemas.microsoft.com/office/powerpoint/2010/main" val="2938375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34C13E-C24D-3BAF-76C2-6B431943ADBC}"/>
              </a:ext>
            </a:extLst>
          </p:cNvPr>
          <p:cNvPicPr>
            <a:picLocks noChangeAspect="1"/>
          </p:cNvPicPr>
          <p:nvPr/>
        </p:nvPicPr>
        <p:blipFill>
          <a:blip r:embed="rId2"/>
          <a:stretch>
            <a:fillRect/>
          </a:stretch>
        </p:blipFill>
        <p:spPr>
          <a:xfrm>
            <a:off x="3366116" y="0"/>
            <a:ext cx="5459767" cy="6858000"/>
          </a:xfrm>
          <a:prstGeom prst="rect">
            <a:avLst/>
          </a:prstGeom>
        </p:spPr>
      </p:pic>
    </p:spTree>
    <p:extLst>
      <p:ext uri="{BB962C8B-B14F-4D97-AF65-F5344CB8AC3E}">
        <p14:creationId xmlns:p14="http://schemas.microsoft.com/office/powerpoint/2010/main" val="2960695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CE6B34-5219-6676-6699-36F40042E014}"/>
              </a:ext>
            </a:extLst>
          </p:cNvPr>
          <p:cNvPicPr>
            <a:picLocks noChangeAspect="1"/>
          </p:cNvPicPr>
          <p:nvPr/>
        </p:nvPicPr>
        <p:blipFill>
          <a:blip r:embed="rId2"/>
          <a:stretch>
            <a:fillRect/>
          </a:stretch>
        </p:blipFill>
        <p:spPr>
          <a:xfrm>
            <a:off x="29308" y="0"/>
            <a:ext cx="12133384" cy="6858000"/>
          </a:xfrm>
          <a:prstGeom prst="rect">
            <a:avLst/>
          </a:prstGeom>
        </p:spPr>
      </p:pic>
    </p:spTree>
    <p:extLst>
      <p:ext uri="{BB962C8B-B14F-4D97-AF65-F5344CB8AC3E}">
        <p14:creationId xmlns:p14="http://schemas.microsoft.com/office/powerpoint/2010/main" val="2684680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B2B5BD-0785-7124-6F1F-551F4C587C9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95259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0F1AAE-A82A-497B-3FE2-28048CF1EC3F}"/>
              </a:ext>
            </a:extLst>
          </p:cNvPr>
          <p:cNvPicPr>
            <a:picLocks noChangeAspect="1"/>
          </p:cNvPicPr>
          <p:nvPr/>
        </p:nvPicPr>
        <p:blipFill>
          <a:blip r:embed="rId2"/>
          <a:stretch>
            <a:fillRect/>
          </a:stretch>
        </p:blipFill>
        <p:spPr>
          <a:xfrm>
            <a:off x="383634" y="0"/>
            <a:ext cx="11424732" cy="6858000"/>
          </a:xfrm>
          <a:prstGeom prst="rect">
            <a:avLst/>
          </a:prstGeom>
        </p:spPr>
      </p:pic>
    </p:spTree>
    <p:extLst>
      <p:ext uri="{BB962C8B-B14F-4D97-AF65-F5344CB8AC3E}">
        <p14:creationId xmlns:p14="http://schemas.microsoft.com/office/powerpoint/2010/main" val="253474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03815C-19A8-3326-36F1-E5A32DAFA683}"/>
              </a:ext>
            </a:extLst>
          </p:cNvPr>
          <p:cNvPicPr>
            <a:picLocks noChangeAspect="1"/>
          </p:cNvPicPr>
          <p:nvPr/>
        </p:nvPicPr>
        <p:blipFill>
          <a:blip r:embed="rId2"/>
          <a:stretch>
            <a:fillRect/>
          </a:stretch>
        </p:blipFill>
        <p:spPr>
          <a:xfrm>
            <a:off x="1270914" y="771154"/>
            <a:ext cx="9650172" cy="5315692"/>
          </a:xfrm>
          <a:prstGeom prst="rect">
            <a:avLst/>
          </a:prstGeom>
        </p:spPr>
      </p:pic>
    </p:spTree>
    <p:extLst>
      <p:ext uri="{BB962C8B-B14F-4D97-AF65-F5344CB8AC3E}">
        <p14:creationId xmlns:p14="http://schemas.microsoft.com/office/powerpoint/2010/main" val="1064178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B6C37F-B814-3AC8-4EE6-5DD3E380B7C2}"/>
              </a:ext>
            </a:extLst>
          </p:cNvPr>
          <p:cNvPicPr>
            <a:picLocks noChangeAspect="1"/>
          </p:cNvPicPr>
          <p:nvPr/>
        </p:nvPicPr>
        <p:blipFill>
          <a:blip r:embed="rId2"/>
          <a:stretch>
            <a:fillRect/>
          </a:stretch>
        </p:blipFill>
        <p:spPr>
          <a:xfrm>
            <a:off x="1461440" y="1318918"/>
            <a:ext cx="9269119" cy="4220164"/>
          </a:xfrm>
          <a:prstGeom prst="rect">
            <a:avLst/>
          </a:prstGeom>
        </p:spPr>
      </p:pic>
    </p:spTree>
    <p:extLst>
      <p:ext uri="{BB962C8B-B14F-4D97-AF65-F5344CB8AC3E}">
        <p14:creationId xmlns:p14="http://schemas.microsoft.com/office/powerpoint/2010/main" val="3580339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F1A4EB-79F8-A830-DC65-F5EB72A26878}"/>
              </a:ext>
            </a:extLst>
          </p:cNvPr>
          <p:cNvPicPr>
            <a:picLocks noChangeAspect="1"/>
          </p:cNvPicPr>
          <p:nvPr/>
        </p:nvPicPr>
        <p:blipFill>
          <a:blip r:embed="rId2"/>
          <a:stretch>
            <a:fillRect/>
          </a:stretch>
        </p:blipFill>
        <p:spPr>
          <a:xfrm>
            <a:off x="1147072" y="580627"/>
            <a:ext cx="9897856" cy="5696745"/>
          </a:xfrm>
          <a:prstGeom prst="rect">
            <a:avLst/>
          </a:prstGeom>
        </p:spPr>
      </p:pic>
    </p:spTree>
    <p:extLst>
      <p:ext uri="{BB962C8B-B14F-4D97-AF65-F5344CB8AC3E}">
        <p14:creationId xmlns:p14="http://schemas.microsoft.com/office/powerpoint/2010/main" val="1593299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FF6725-E168-1243-BFA5-A233B77E68CC}"/>
              </a:ext>
            </a:extLst>
          </p:cNvPr>
          <p:cNvPicPr>
            <a:picLocks noChangeAspect="1"/>
          </p:cNvPicPr>
          <p:nvPr/>
        </p:nvPicPr>
        <p:blipFill>
          <a:blip r:embed="rId2"/>
          <a:stretch>
            <a:fillRect/>
          </a:stretch>
        </p:blipFill>
        <p:spPr>
          <a:xfrm>
            <a:off x="3520931" y="0"/>
            <a:ext cx="5150137" cy="6858000"/>
          </a:xfrm>
          <a:prstGeom prst="rect">
            <a:avLst/>
          </a:prstGeom>
        </p:spPr>
      </p:pic>
    </p:spTree>
    <p:extLst>
      <p:ext uri="{BB962C8B-B14F-4D97-AF65-F5344CB8AC3E}">
        <p14:creationId xmlns:p14="http://schemas.microsoft.com/office/powerpoint/2010/main" val="3052689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E71FFA-F4D1-1CB3-46B6-4C5F1DD73831}"/>
              </a:ext>
            </a:extLst>
          </p:cNvPr>
          <p:cNvPicPr>
            <a:picLocks noChangeAspect="1"/>
          </p:cNvPicPr>
          <p:nvPr/>
        </p:nvPicPr>
        <p:blipFill>
          <a:blip r:embed="rId2"/>
          <a:stretch>
            <a:fillRect/>
          </a:stretch>
        </p:blipFill>
        <p:spPr>
          <a:xfrm>
            <a:off x="2656995" y="504417"/>
            <a:ext cx="6878010" cy="5849166"/>
          </a:xfrm>
          <a:prstGeom prst="rect">
            <a:avLst/>
          </a:prstGeom>
        </p:spPr>
      </p:pic>
    </p:spTree>
    <p:extLst>
      <p:ext uri="{BB962C8B-B14F-4D97-AF65-F5344CB8AC3E}">
        <p14:creationId xmlns:p14="http://schemas.microsoft.com/office/powerpoint/2010/main" val="2610961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A3826B-EB3D-EE43-23EB-1F20A30507BE}"/>
              </a:ext>
            </a:extLst>
          </p:cNvPr>
          <p:cNvPicPr>
            <a:picLocks noChangeAspect="1"/>
          </p:cNvPicPr>
          <p:nvPr/>
        </p:nvPicPr>
        <p:blipFill>
          <a:blip r:embed="rId2"/>
          <a:stretch>
            <a:fillRect/>
          </a:stretch>
        </p:blipFill>
        <p:spPr>
          <a:xfrm>
            <a:off x="2999943" y="871180"/>
            <a:ext cx="6192114" cy="5115639"/>
          </a:xfrm>
          <a:prstGeom prst="rect">
            <a:avLst/>
          </a:prstGeom>
        </p:spPr>
      </p:pic>
    </p:spTree>
    <p:extLst>
      <p:ext uri="{BB962C8B-B14F-4D97-AF65-F5344CB8AC3E}">
        <p14:creationId xmlns:p14="http://schemas.microsoft.com/office/powerpoint/2010/main" val="2694031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B1E811-BF49-2F2F-1115-2E4BFCA3E20C}"/>
              </a:ext>
            </a:extLst>
          </p:cNvPr>
          <p:cNvPicPr>
            <a:picLocks noChangeAspect="1"/>
          </p:cNvPicPr>
          <p:nvPr/>
        </p:nvPicPr>
        <p:blipFill>
          <a:blip r:embed="rId2"/>
          <a:stretch>
            <a:fillRect/>
          </a:stretch>
        </p:blipFill>
        <p:spPr>
          <a:xfrm>
            <a:off x="637413" y="137653"/>
            <a:ext cx="10917174" cy="6582694"/>
          </a:xfrm>
          <a:prstGeom prst="rect">
            <a:avLst/>
          </a:prstGeom>
        </p:spPr>
      </p:pic>
    </p:spTree>
    <p:extLst>
      <p:ext uri="{BB962C8B-B14F-4D97-AF65-F5344CB8AC3E}">
        <p14:creationId xmlns:p14="http://schemas.microsoft.com/office/powerpoint/2010/main" val="4064683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C9D5AA-3698-1B69-4E38-6966307C6C8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20641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9DDC51-0631-50B8-400E-A02F199BF3F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490900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CFC8-5676-3C4D-D4D1-32A5D49BCAC3}"/>
              </a:ext>
            </a:extLst>
          </p:cNvPr>
          <p:cNvSpPr>
            <a:spLocks noGrp="1"/>
          </p:cNvSpPr>
          <p:nvPr>
            <p:ph type="title"/>
          </p:nvPr>
        </p:nvSpPr>
        <p:spPr/>
        <p:txBody>
          <a:bodyPr/>
          <a:lstStyle/>
          <a:p>
            <a:r>
              <a:rPr lang="en-US" dirty="0"/>
              <a:t>Incremental refresh</a:t>
            </a:r>
          </a:p>
        </p:txBody>
      </p:sp>
      <p:sp>
        <p:nvSpPr>
          <p:cNvPr id="3" name="Text Placeholder 2">
            <a:extLst>
              <a:ext uri="{FF2B5EF4-FFF2-40B4-BE49-F238E27FC236}">
                <a16:creationId xmlns:a16="http://schemas.microsoft.com/office/drawing/2014/main" id="{B1A9B7FD-201A-26B3-F7E1-809F9516427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74227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CAA6-FF4A-BE8A-8759-AA0B3212B10F}"/>
              </a:ext>
            </a:extLst>
          </p:cNvPr>
          <p:cNvSpPr>
            <a:spLocks noGrp="1"/>
          </p:cNvSpPr>
          <p:nvPr>
            <p:ph type="title"/>
          </p:nvPr>
        </p:nvSpPr>
        <p:spPr/>
        <p:txBody>
          <a:bodyPr/>
          <a:lstStyle/>
          <a:p>
            <a:r>
              <a:rPr lang="en-US" dirty="0"/>
              <a:t>Steps	</a:t>
            </a:r>
          </a:p>
        </p:txBody>
      </p:sp>
      <p:sp>
        <p:nvSpPr>
          <p:cNvPr id="3" name="Content Placeholder 2">
            <a:extLst>
              <a:ext uri="{FF2B5EF4-FFF2-40B4-BE49-F238E27FC236}">
                <a16:creationId xmlns:a16="http://schemas.microsoft.com/office/drawing/2014/main" id="{A34AB39F-D663-FCFD-E456-9EE4D49A6D03}"/>
              </a:ext>
            </a:extLst>
          </p:cNvPr>
          <p:cNvSpPr>
            <a:spLocks noGrp="1"/>
          </p:cNvSpPr>
          <p:nvPr>
            <p:ph idx="1"/>
          </p:nvPr>
        </p:nvSpPr>
        <p:spPr>
          <a:xfrm>
            <a:off x="838200" y="1825625"/>
            <a:ext cx="4693920" cy="4351338"/>
          </a:xfrm>
        </p:spPr>
        <p:txBody>
          <a:bodyPr/>
          <a:lstStyle/>
          <a:p>
            <a:r>
              <a:rPr lang="en-US" dirty="0"/>
              <a:t>Load data </a:t>
            </a:r>
          </a:p>
          <a:p>
            <a:r>
              <a:rPr lang="en-US" dirty="0"/>
              <a:t>Grocery sales</a:t>
            </a:r>
          </a:p>
          <a:p>
            <a:r>
              <a:rPr lang="en-US" dirty="0"/>
              <a:t>Create a card</a:t>
            </a:r>
          </a:p>
          <a:p>
            <a:r>
              <a:rPr lang="en-US" dirty="0"/>
              <a:t>Before implementing incremental refresh we have to create some parameters</a:t>
            </a:r>
          </a:p>
          <a:p>
            <a:endParaRPr lang="en-US" dirty="0"/>
          </a:p>
        </p:txBody>
      </p:sp>
      <p:pic>
        <p:nvPicPr>
          <p:cNvPr id="7" name="Picture 6">
            <a:extLst>
              <a:ext uri="{FF2B5EF4-FFF2-40B4-BE49-F238E27FC236}">
                <a16:creationId xmlns:a16="http://schemas.microsoft.com/office/drawing/2014/main" id="{582193E1-92E0-8A8C-C17B-7072C98A6908}"/>
              </a:ext>
            </a:extLst>
          </p:cNvPr>
          <p:cNvPicPr>
            <a:picLocks noChangeAspect="1"/>
          </p:cNvPicPr>
          <p:nvPr/>
        </p:nvPicPr>
        <p:blipFill>
          <a:blip r:embed="rId2"/>
          <a:stretch>
            <a:fillRect/>
          </a:stretch>
        </p:blipFill>
        <p:spPr>
          <a:xfrm>
            <a:off x="6096000" y="1286290"/>
            <a:ext cx="4829849" cy="2715004"/>
          </a:xfrm>
          <a:prstGeom prst="rect">
            <a:avLst/>
          </a:prstGeom>
        </p:spPr>
      </p:pic>
    </p:spTree>
    <p:extLst>
      <p:ext uri="{BB962C8B-B14F-4D97-AF65-F5344CB8AC3E}">
        <p14:creationId xmlns:p14="http://schemas.microsoft.com/office/powerpoint/2010/main" val="1925609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0AF144-09E0-663B-3CA1-58B4E64A448A}"/>
              </a:ext>
            </a:extLst>
          </p:cNvPr>
          <p:cNvPicPr>
            <a:picLocks noChangeAspect="1"/>
          </p:cNvPicPr>
          <p:nvPr/>
        </p:nvPicPr>
        <p:blipFill>
          <a:blip r:embed="rId2"/>
          <a:stretch>
            <a:fillRect/>
          </a:stretch>
        </p:blipFill>
        <p:spPr>
          <a:xfrm>
            <a:off x="651702" y="423443"/>
            <a:ext cx="10888595" cy="6011114"/>
          </a:xfrm>
          <a:prstGeom prst="rect">
            <a:avLst/>
          </a:prstGeom>
        </p:spPr>
      </p:pic>
    </p:spTree>
    <p:extLst>
      <p:ext uri="{BB962C8B-B14F-4D97-AF65-F5344CB8AC3E}">
        <p14:creationId xmlns:p14="http://schemas.microsoft.com/office/powerpoint/2010/main" val="3802330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B1E3B3-4E04-4865-B200-DD46AEDA49F2}"/>
              </a:ext>
            </a:extLst>
          </p:cNvPr>
          <p:cNvPicPr>
            <a:picLocks noChangeAspect="1"/>
          </p:cNvPicPr>
          <p:nvPr/>
        </p:nvPicPr>
        <p:blipFill>
          <a:blip r:embed="rId2"/>
          <a:stretch>
            <a:fillRect/>
          </a:stretch>
        </p:blipFill>
        <p:spPr>
          <a:xfrm>
            <a:off x="238614" y="66205"/>
            <a:ext cx="6639852" cy="6725589"/>
          </a:xfrm>
          <a:prstGeom prst="rect">
            <a:avLst/>
          </a:prstGeom>
        </p:spPr>
      </p:pic>
      <p:pic>
        <p:nvPicPr>
          <p:cNvPr id="5" name="Picture 4">
            <a:extLst>
              <a:ext uri="{FF2B5EF4-FFF2-40B4-BE49-F238E27FC236}">
                <a16:creationId xmlns:a16="http://schemas.microsoft.com/office/drawing/2014/main" id="{490C173B-D168-1D96-D297-2654375A2278}"/>
              </a:ext>
            </a:extLst>
          </p:cNvPr>
          <p:cNvPicPr>
            <a:picLocks noChangeAspect="1"/>
          </p:cNvPicPr>
          <p:nvPr/>
        </p:nvPicPr>
        <p:blipFill>
          <a:blip r:embed="rId3"/>
          <a:stretch>
            <a:fillRect/>
          </a:stretch>
        </p:blipFill>
        <p:spPr>
          <a:xfrm>
            <a:off x="6542887" y="204336"/>
            <a:ext cx="5649113" cy="6449325"/>
          </a:xfrm>
          <a:prstGeom prst="rect">
            <a:avLst/>
          </a:prstGeom>
        </p:spPr>
      </p:pic>
    </p:spTree>
    <p:extLst>
      <p:ext uri="{BB962C8B-B14F-4D97-AF65-F5344CB8AC3E}">
        <p14:creationId xmlns:p14="http://schemas.microsoft.com/office/powerpoint/2010/main" val="12049844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8F75D6-964D-12E6-84D6-D8A39B8F5592}"/>
              </a:ext>
            </a:extLst>
          </p:cNvPr>
          <p:cNvPicPr>
            <a:picLocks noChangeAspect="1"/>
          </p:cNvPicPr>
          <p:nvPr/>
        </p:nvPicPr>
        <p:blipFill>
          <a:blip r:embed="rId2"/>
          <a:stretch>
            <a:fillRect/>
          </a:stretch>
        </p:blipFill>
        <p:spPr>
          <a:xfrm>
            <a:off x="557618" y="347280"/>
            <a:ext cx="7830643" cy="5477639"/>
          </a:xfrm>
          <a:prstGeom prst="rect">
            <a:avLst/>
          </a:prstGeom>
        </p:spPr>
      </p:pic>
      <p:sp>
        <p:nvSpPr>
          <p:cNvPr id="4" name="TextBox 3">
            <a:extLst>
              <a:ext uri="{FF2B5EF4-FFF2-40B4-BE49-F238E27FC236}">
                <a16:creationId xmlns:a16="http://schemas.microsoft.com/office/drawing/2014/main" id="{79FC9F60-02CE-83BB-800B-117FFDBDBE91}"/>
              </a:ext>
            </a:extLst>
          </p:cNvPr>
          <p:cNvSpPr txBox="1"/>
          <p:nvPr/>
        </p:nvSpPr>
        <p:spPr>
          <a:xfrm>
            <a:off x="9258300" y="1428750"/>
            <a:ext cx="2537460" cy="2585323"/>
          </a:xfrm>
          <a:prstGeom prst="rect">
            <a:avLst/>
          </a:prstGeom>
          <a:noFill/>
        </p:spPr>
        <p:txBody>
          <a:bodyPr wrap="square" rtlCol="0">
            <a:spAutoFit/>
          </a:bodyPr>
          <a:lstStyle/>
          <a:p>
            <a:r>
              <a:rPr lang="en-US" dirty="0"/>
              <a:t>Check For the data type of </a:t>
            </a:r>
            <a:r>
              <a:rPr lang="en-US" dirty="0" err="1"/>
              <a:t>OrderDate</a:t>
            </a:r>
            <a:r>
              <a:rPr lang="en-US" dirty="0"/>
              <a:t>. It Should be date type – if it is not datetime type </a:t>
            </a:r>
          </a:p>
          <a:p>
            <a:endParaRPr lang="en-US" dirty="0"/>
          </a:p>
          <a:p>
            <a:r>
              <a:rPr lang="en-US" dirty="0"/>
              <a:t>We will not able to see the parameter selection</a:t>
            </a:r>
          </a:p>
          <a:p>
            <a:endParaRPr lang="en-US" dirty="0"/>
          </a:p>
          <a:p>
            <a:r>
              <a:rPr lang="en-US" dirty="0">
                <a:sym typeface="Wingdings" panose="05000000000000000000" pitchFamily="2" charset="2"/>
              </a:rPr>
              <a:t> See on next slide</a:t>
            </a:r>
            <a:endParaRPr lang="en-US" dirty="0"/>
          </a:p>
        </p:txBody>
      </p:sp>
    </p:spTree>
    <p:extLst>
      <p:ext uri="{BB962C8B-B14F-4D97-AF65-F5344CB8AC3E}">
        <p14:creationId xmlns:p14="http://schemas.microsoft.com/office/powerpoint/2010/main" val="2999226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392171-671C-67A9-1AD5-0B1B58639FB1}"/>
              </a:ext>
            </a:extLst>
          </p:cNvPr>
          <p:cNvPicPr>
            <a:picLocks noChangeAspect="1"/>
          </p:cNvPicPr>
          <p:nvPr/>
        </p:nvPicPr>
        <p:blipFill>
          <a:blip r:embed="rId2"/>
          <a:stretch>
            <a:fillRect/>
          </a:stretch>
        </p:blipFill>
        <p:spPr>
          <a:xfrm>
            <a:off x="637413" y="170995"/>
            <a:ext cx="5458587" cy="6516009"/>
          </a:xfrm>
          <a:prstGeom prst="rect">
            <a:avLst/>
          </a:prstGeom>
        </p:spPr>
      </p:pic>
      <p:pic>
        <p:nvPicPr>
          <p:cNvPr id="5" name="Picture 4">
            <a:extLst>
              <a:ext uri="{FF2B5EF4-FFF2-40B4-BE49-F238E27FC236}">
                <a16:creationId xmlns:a16="http://schemas.microsoft.com/office/drawing/2014/main" id="{AA61DD1B-707A-9A6E-4380-41891CCC908D}"/>
              </a:ext>
            </a:extLst>
          </p:cNvPr>
          <p:cNvPicPr>
            <a:picLocks noChangeAspect="1"/>
          </p:cNvPicPr>
          <p:nvPr/>
        </p:nvPicPr>
        <p:blipFill>
          <a:blip r:embed="rId3"/>
          <a:srcRect l="3280" t="-1808" r="24500" b="1808"/>
          <a:stretch>
            <a:fillRect/>
          </a:stretch>
        </p:blipFill>
        <p:spPr>
          <a:xfrm>
            <a:off x="6096000" y="1739891"/>
            <a:ext cx="5827295" cy="4658375"/>
          </a:xfrm>
          <a:prstGeom prst="rect">
            <a:avLst/>
          </a:prstGeom>
        </p:spPr>
      </p:pic>
      <p:sp>
        <p:nvSpPr>
          <p:cNvPr id="6" name="TextBox 5">
            <a:extLst>
              <a:ext uri="{FF2B5EF4-FFF2-40B4-BE49-F238E27FC236}">
                <a16:creationId xmlns:a16="http://schemas.microsoft.com/office/drawing/2014/main" id="{CD0DF112-C53F-C465-5769-E337E5BF0662}"/>
              </a:ext>
            </a:extLst>
          </p:cNvPr>
          <p:cNvSpPr txBox="1"/>
          <p:nvPr/>
        </p:nvSpPr>
        <p:spPr>
          <a:xfrm>
            <a:off x="6636479" y="327405"/>
            <a:ext cx="5126054" cy="830997"/>
          </a:xfrm>
          <a:prstGeom prst="rect">
            <a:avLst/>
          </a:prstGeom>
          <a:noFill/>
        </p:spPr>
        <p:txBody>
          <a:bodyPr wrap="square" rtlCol="0">
            <a:spAutoFit/>
          </a:bodyPr>
          <a:lstStyle/>
          <a:p>
            <a:r>
              <a:rPr lang="en-US" sz="2400" dirty="0"/>
              <a:t>No Parameters selection option. So change the Data Type as </a:t>
            </a:r>
            <a:r>
              <a:rPr lang="en-US" sz="2400" dirty="0" err="1"/>
              <a:t>DateTime</a:t>
            </a:r>
            <a:endParaRPr lang="en-US" sz="2400" dirty="0"/>
          </a:p>
        </p:txBody>
      </p:sp>
    </p:spTree>
    <p:extLst>
      <p:ext uri="{BB962C8B-B14F-4D97-AF65-F5344CB8AC3E}">
        <p14:creationId xmlns:p14="http://schemas.microsoft.com/office/powerpoint/2010/main" val="3984544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E498FA-A72D-2E99-3D8D-FACE726E1B20}"/>
              </a:ext>
            </a:extLst>
          </p:cNvPr>
          <p:cNvPicPr>
            <a:picLocks noChangeAspect="1"/>
          </p:cNvPicPr>
          <p:nvPr/>
        </p:nvPicPr>
        <p:blipFill>
          <a:blip r:embed="rId2"/>
          <a:stretch>
            <a:fillRect/>
          </a:stretch>
        </p:blipFill>
        <p:spPr>
          <a:xfrm>
            <a:off x="254640" y="1"/>
            <a:ext cx="6800611" cy="3429000"/>
          </a:xfrm>
          <a:prstGeom prst="rect">
            <a:avLst/>
          </a:prstGeom>
        </p:spPr>
      </p:pic>
      <p:pic>
        <p:nvPicPr>
          <p:cNvPr id="5" name="Picture 4">
            <a:extLst>
              <a:ext uri="{FF2B5EF4-FFF2-40B4-BE49-F238E27FC236}">
                <a16:creationId xmlns:a16="http://schemas.microsoft.com/office/drawing/2014/main" id="{C176017D-00F6-0020-4CEC-24D3DCAFE731}"/>
              </a:ext>
            </a:extLst>
          </p:cNvPr>
          <p:cNvPicPr>
            <a:picLocks noChangeAspect="1"/>
          </p:cNvPicPr>
          <p:nvPr/>
        </p:nvPicPr>
        <p:blipFill>
          <a:blip r:embed="rId3"/>
          <a:stretch>
            <a:fillRect/>
          </a:stretch>
        </p:blipFill>
        <p:spPr>
          <a:xfrm>
            <a:off x="4801048" y="2486681"/>
            <a:ext cx="7230484" cy="4239217"/>
          </a:xfrm>
          <a:prstGeom prst="rect">
            <a:avLst/>
          </a:prstGeom>
        </p:spPr>
      </p:pic>
    </p:spTree>
    <p:extLst>
      <p:ext uri="{BB962C8B-B14F-4D97-AF65-F5344CB8AC3E}">
        <p14:creationId xmlns:p14="http://schemas.microsoft.com/office/powerpoint/2010/main" val="2755420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AFBF4A-8A9A-CEA9-23DD-0C1BD1FC51B7}"/>
              </a:ext>
            </a:extLst>
          </p:cNvPr>
          <p:cNvPicPr>
            <a:picLocks noChangeAspect="1"/>
          </p:cNvPicPr>
          <p:nvPr/>
        </p:nvPicPr>
        <p:blipFill>
          <a:blip r:embed="rId2"/>
          <a:stretch>
            <a:fillRect/>
          </a:stretch>
        </p:blipFill>
        <p:spPr>
          <a:xfrm>
            <a:off x="118611" y="199574"/>
            <a:ext cx="6468378" cy="3229426"/>
          </a:xfrm>
          <a:prstGeom prst="rect">
            <a:avLst/>
          </a:prstGeom>
        </p:spPr>
      </p:pic>
      <p:pic>
        <p:nvPicPr>
          <p:cNvPr id="5" name="Picture 4">
            <a:extLst>
              <a:ext uri="{FF2B5EF4-FFF2-40B4-BE49-F238E27FC236}">
                <a16:creationId xmlns:a16="http://schemas.microsoft.com/office/drawing/2014/main" id="{A9B9F66E-263E-CE49-FF00-2AB31C122E78}"/>
              </a:ext>
            </a:extLst>
          </p:cNvPr>
          <p:cNvPicPr>
            <a:picLocks noChangeAspect="1"/>
          </p:cNvPicPr>
          <p:nvPr/>
        </p:nvPicPr>
        <p:blipFill>
          <a:blip r:embed="rId3"/>
          <a:stretch>
            <a:fillRect/>
          </a:stretch>
        </p:blipFill>
        <p:spPr>
          <a:xfrm>
            <a:off x="5100116" y="3161784"/>
            <a:ext cx="6973273" cy="3696216"/>
          </a:xfrm>
          <a:prstGeom prst="rect">
            <a:avLst/>
          </a:prstGeom>
        </p:spPr>
      </p:pic>
    </p:spTree>
    <p:extLst>
      <p:ext uri="{BB962C8B-B14F-4D97-AF65-F5344CB8AC3E}">
        <p14:creationId xmlns:p14="http://schemas.microsoft.com/office/powerpoint/2010/main" val="393720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78879-BC59-3909-12C2-E073E7390EBF}"/>
              </a:ext>
            </a:extLst>
          </p:cNvPr>
          <p:cNvSpPr>
            <a:spLocks noGrp="1"/>
          </p:cNvSpPr>
          <p:nvPr>
            <p:ph type="title"/>
          </p:nvPr>
        </p:nvSpPr>
        <p:spPr/>
        <p:txBody>
          <a:bodyPr/>
          <a:lstStyle/>
          <a:p>
            <a:r>
              <a:rPr lang="en-US" dirty="0"/>
              <a:t>Set up the incremental refresh</a:t>
            </a:r>
          </a:p>
        </p:txBody>
      </p:sp>
      <p:sp>
        <p:nvSpPr>
          <p:cNvPr id="3" name="Content Placeholder 2">
            <a:extLst>
              <a:ext uri="{FF2B5EF4-FFF2-40B4-BE49-F238E27FC236}">
                <a16:creationId xmlns:a16="http://schemas.microsoft.com/office/drawing/2014/main" id="{24016176-F844-F638-8BAA-81605BFB6E14}"/>
              </a:ext>
            </a:extLst>
          </p:cNvPr>
          <p:cNvSpPr>
            <a:spLocks noGrp="1"/>
          </p:cNvSpPr>
          <p:nvPr>
            <p:ph idx="1"/>
          </p:nvPr>
        </p:nvSpPr>
        <p:spPr>
          <a:xfrm>
            <a:off x="838200" y="1825625"/>
            <a:ext cx="3973830" cy="4351338"/>
          </a:xfrm>
        </p:spPr>
        <p:txBody>
          <a:bodyPr/>
          <a:lstStyle/>
          <a:p>
            <a:pPr marL="0" indent="0">
              <a:buNone/>
            </a:pPr>
            <a:r>
              <a:rPr lang="en-US" dirty="0"/>
              <a:t>Select order table </a:t>
            </a:r>
            <a:r>
              <a:rPr lang="en-US" dirty="0">
                <a:sym typeface="Wingdings" panose="05000000000000000000" pitchFamily="2" charset="2"/>
              </a:rPr>
              <a:t> 3 dots  incremental refresh</a:t>
            </a:r>
            <a:endParaRPr lang="en-US" dirty="0"/>
          </a:p>
        </p:txBody>
      </p:sp>
      <p:pic>
        <p:nvPicPr>
          <p:cNvPr id="7" name="Picture 6">
            <a:extLst>
              <a:ext uri="{FF2B5EF4-FFF2-40B4-BE49-F238E27FC236}">
                <a16:creationId xmlns:a16="http://schemas.microsoft.com/office/drawing/2014/main" id="{1325B954-9E95-F354-BCC7-D6204048151A}"/>
              </a:ext>
            </a:extLst>
          </p:cNvPr>
          <p:cNvPicPr>
            <a:picLocks noChangeAspect="1"/>
          </p:cNvPicPr>
          <p:nvPr/>
        </p:nvPicPr>
        <p:blipFill>
          <a:blip r:embed="rId2"/>
          <a:stretch>
            <a:fillRect/>
          </a:stretch>
        </p:blipFill>
        <p:spPr>
          <a:xfrm>
            <a:off x="8061712" y="0"/>
            <a:ext cx="3543795" cy="6706536"/>
          </a:xfrm>
          <a:prstGeom prst="rect">
            <a:avLst/>
          </a:prstGeom>
        </p:spPr>
      </p:pic>
    </p:spTree>
    <p:extLst>
      <p:ext uri="{BB962C8B-B14F-4D97-AF65-F5344CB8AC3E}">
        <p14:creationId xmlns:p14="http://schemas.microsoft.com/office/powerpoint/2010/main" val="8725450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3EF763-17A8-59E2-5D56-14430E096211}"/>
              </a:ext>
            </a:extLst>
          </p:cNvPr>
          <p:cNvPicPr>
            <a:picLocks noChangeAspect="1"/>
          </p:cNvPicPr>
          <p:nvPr/>
        </p:nvPicPr>
        <p:blipFill>
          <a:blip r:embed="rId2"/>
          <a:srcRect l="-202" t="2333" r="202" b="40000"/>
          <a:stretch>
            <a:fillRect/>
          </a:stretch>
        </p:blipFill>
        <p:spPr>
          <a:xfrm>
            <a:off x="433517" y="2194560"/>
            <a:ext cx="5662483" cy="3954780"/>
          </a:xfrm>
          <a:prstGeom prst="rect">
            <a:avLst/>
          </a:prstGeom>
        </p:spPr>
      </p:pic>
      <p:sp>
        <p:nvSpPr>
          <p:cNvPr id="4" name="TextBox 3">
            <a:extLst>
              <a:ext uri="{FF2B5EF4-FFF2-40B4-BE49-F238E27FC236}">
                <a16:creationId xmlns:a16="http://schemas.microsoft.com/office/drawing/2014/main" id="{B23C4F9A-DD04-45E3-444D-AAB9B60EBB66}"/>
              </a:ext>
            </a:extLst>
          </p:cNvPr>
          <p:cNvSpPr txBox="1"/>
          <p:nvPr/>
        </p:nvSpPr>
        <p:spPr>
          <a:xfrm>
            <a:off x="834390" y="1097280"/>
            <a:ext cx="3943350" cy="954107"/>
          </a:xfrm>
          <a:prstGeom prst="rect">
            <a:avLst/>
          </a:prstGeom>
          <a:noFill/>
        </p:spPr>
        <p:txBody>
          <a:bodyPr wrap="square" rtlCol="0">
            <a:spAutoFit/>
          </a:bodyPr>
          <a:lstStyle/>
          <a:p>
            <a:r>
              <a:rPr lang="en-US" sz="2800" dirty="0"/>
              <a:t>Select the incremental refresh this table button</a:t>
            </a:r>
          </a:p>
        </p:txBody>
      </p:sp>
      <p:pic>
        <p:nvPicPr>
          <p:cNvPr id="6" name="Picture 5">
            <a:extLst>
              <a:ext uri="{FF2B5EF4-FFF2-40B4-BE49-F238E27FC236}">
                <a16:creationId xmlns:a16="http://schemas.microsoft.com/office/drawing/2014/main" id="{B725BBE5-6ED2-66A3-9147-77CDC25920D0}"/>
              </a:ext>
            </a:extLst>
          </p:cNvPr>
          <p:cNvPicPr>
            <a:picLocks noChangeAspect="1"/>
          </p:cNvPicPr>
          <p:nvPr/>
        </p:nvPicPr>
        <p:blipFill>
          <a:blip r:embed="rId3"/>
          <a:stretch>
            <a:fillRect/>
          </a:stretch>
        </p:blipFill>
        <p:spPr>
          <a:xfrm>
            <a:off x="6096000" y="0"/>
            <a:ext cx="5822651" cy="6858000"/>
          </a:xfrm>
          <a:prstGeom prst="rect">
            <a:avLst/>
          </a:prstGeom>
        </p:spPr>
      </p:pic>
    </p:spTree>
    <p:extLst>
      <p:ext uri="{BB962C8B-B14F-4D97-AF65-F5344CB8AC3E}">
        <p14:creationId xmlns:p14="http://schemas.microsoft.com/office/powerpoint/2010/main" val="14843162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1EFDA1-056D-1EB2-0573-0E4182CF5EBE}"/>
              </a:ext>
            </a:extLst>
          </p:cNvPr>
          <p:cNvPicPr>
            <a:picLocks noChangeAspect="1"/>
          </p:cNvPicPr>
          <p:nvPr/>
        </p:nvPicPr>
        <p:blipFill>
          <a:blip r:embed="rId2"/>
          <a:stretch>
            <a:fillRect/>
          </a:stretch>
        </p:blipFill>
        <p:spPr>
          <a:xfrm>
            <a:off x="109627" y="182880"/>
            <a:ext cx="5986374" cy="6858000"/>
          </a:xfrm>
          <a:prstGeom prst="rect">
            <a:avLst/>
          </a:prstGeom>
        </p:spPr>
      </p:pic>
      <p:pic>
        <p:nvPicPr>
          <p:cNvPr id="5" name="Picture 4">
            <a:extLst>
              <a:ext uri="{FF2B5EF4-FFF2-40B4-BE49-F238E27FC236}">
                <a16:creationId xmlns:a16="http://schemas.microsoft.com/office/drawing/2014/main" id="{61A86BE8-4421-B12F-55AD-EF1CA20637D1}"/>
              </a:ext>
            </a:extLst>
          </p:cNvPr>
          <p:cNvPicPr>
            <a:picLocks noChangeAspect="1"/>
          </p:cNvPicPr>
          <p:nvPr/>
        </p:nvPicPr>
        <p:blipFill>
          <a:blip r:embed="rId3"/>
          <a:stretch>
            <a:fillRect/>
          </a:stretch>
        </p:blipFill>
        <p:spPr>
          <a:xfrm>
            <a:off x="6096000" y="193708"/>
            <a:ext cx="6224337" cy="6470583"/>
          </a:xfrm>
          <a:prstGeom prst="rect">
            <a:avLst/>
          </a:prstGeom>
        </p:spPr>
      </p:pic>
    </p:spTree>
    <p:extLst>
      <p:ext uri="{BB962C8B-B14F-4D97-AF65-F5344CB8AC3E}">
        <p14:creationId xmlns:p14="http://schemas.microsoft.com/office/powerpoint/2010/main" val="9297594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ABD72E-4B94-1CC0-2E8E-4B3BF26CA217}"/>
              </a:ext>
            </a:extLst>
          </p:cNvPr>
          <p:cNvPicPr>
            <a:picLocks noChangeAspect="1"/>
          </p:cNvPicPr>
          <p:nvPr/>
        </p:nvPicPr>
        <p:blipFill>
          <a:blip r:embed="rId2"/>
          <a:stretch>
            <a:fillRect/>
          </a:stretch>
        </p:blipFill>
        <p:spPr>
          <a:xfrm>
            <a:off x="2427949" y="0"/>
            <a:ext cx="7336101" cy="6858000"/>
          </a:xfrm>
          <a:prstGeom prst="rect">
            <a:avLst/>
          </a:prstGeom>
        </p:spPr>
      </p:pic>
    </p:spTree>
    <p:extLst>
      <p:ext uri="{BB962C8B-B14F-4D97-AF65-F5344CB8AC3E}">
        <p14:creationId xmlns:p14="http://schemas.microsoft.com/office/powerpoint/2010/main" val="157389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9E4E80-251F-8A35-6383-EF1156D53E6D}"/>
              </a:ext>
            </a:extLst>
          </p:cNvPr>
          <p:cNvPicPr>
            <a:picLocks noChangeAspect="1"/>
          </p:cNvPicPr>
          <p:nvPr/>
        </p:nvPicPr>
        <p:blipFill>
          <a:blip r:embed="rId2"/>
          <a:stretch>
            <a:fillRect/>
          </a:stretch>
        </p:blipFill>
        <p:spPr>
          <a:xfrm>
            <a:off x="745196" y="228600"/>
            <a:ext cx="6562743" cy="6858000"/>
          </a:xfrm>
          <a:prstGeom prst="rect">
            <a:avLst/>
          </a:prstGeom>
        </p:spPr>
      </p:pic>
    </p:spTree>
    <p:extLst>
      <p:ext uri="{BB962C8B-B14F-4D97-AF65-F5344CB8AC3E}">
        <p14:creationId xmlns:p14="http://schemas.microsoft.com/office/powerpoint/2010/main" val="1432680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9EEDCF-7424-09FD-9F89-262D6968E546}"/>
              </a:ext>
            </a:extLst>
          </p:cNvPr>
          <p:cNvPicPr>
            <a:picLocks noChangeAspect="1"/>
          </p:cNvPicPr>
          <p:nvPr/>
        </p:nvPicPr>
        <p:blipFill>
          <a:blip r:embed="rId2"/>
          <a:stretch>
            <a:fillRect/>
          </a:stretch>
        </p:blipFill>
        <p:spPr>
          <a:xfrm>
            <a:off x="0" y="282059"/>
            <a:ext cx="12192000" cy="6293881"/>
          </a:xfrm>
          <a:prstGeom prst="rect">
            <a:avLst/>
          </a:prstGeom>
        </p:spPr>
      </p:pic>
    </p:spTree>
    <p:extLst>
      <p:ext uri="{BB962C8B-B14F-4D97-AF65-F5344CB8AC3E}">
        <p14:creationId xmlns:p14="http://schemas.microsoft.com/office/powerpoint/2010/main" val="11085568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9FCD0E-9C53-5785-1E0F-422EA818FFFB}"/>
              </a:ext>
            </a:extLst>
          </p:cNvPr>
          <p:cNvPicPr>
            <a:picLocks noChangeAspect="1"/>
          </p:cNvPicPr>
          <p:nvPr/>
        </p:nvPicPr>
        <p:blipFill>
          <a:blip r:embed="rId2"/>
          <a:stretch>
            <a:fillRect/>
          </a:stretch>
        </p:blipFill>
        <p:spPr>
          <a:xfrm>
            <a:off x="2790363" y="899759"/>
            <a:ext cx="6611273" cy="5058481"/>
          </a:xfrm>
          <a:prstGeom prst="rect">
            <a:avLst/>
          </a:prstGeom>
        </p:spPr>
      </p:pic>
    </p:spTree>
    <p:extLst>
      <p:ext uri="{BB962C8B-B14F-4D97-AF65-F5344CB8AC3E}">
        <p14:creationId xmlns:p14="http://schemas.microsoft.com/office/powerpoint/2010/main" val="28043390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35DC-4CFA-ED13-B237-7D39C36ED983}"/>
              </a:ext>
            </a:extLst>
          </p:cNvPr>
          <p:cNvSpPr>
            <a:spLocks noGrp="1"/>
          </p:cNvSpPr>
          <p:nvPr>
            <p:ph type="title"/>
          </p:nvPr>
        </p:nvSpPr>
        <p:spPr>
          <a:xfrm>
            <a:off x="167239" y="947454"/>
            <a:ext cx="3574582" cy="1325563"/>
          </a:xfrm>
        </p:spPr>
        <p:txBody>
          <a:bodyPr>
            <a:normAutofit fontScale="90000"/>
          </a:bodyPr>
          <a:lstStyle/>
          <a:p>
            <a:r>
              <a:rPr lang="en-US" dirty="0"/>
              <a:t>Add some date in excel sheet and refresh</a:t>
            </a:r>
          </a:p>
        </p:txBody>
      </p:sp>
      <p:pic>
        <p:nvPicPr>
          <p:cNvPr id="5" name="Picture 4">
            <a:extLst>
              <a:ext uri="{FF2B5EF4-FFF2-40B4-BE49-F238E27FC236}">
                <a16:creationId xmlns:a16="http://schemas.microsoft.com/office/drawing/2014/main" id="{72265439-B76A-1C17-77D1-C8170A4E39FA}"/>
              </a:ext>
            </a:extLst>
          </p:cNvPr>
          <p:cNvPicPr>
            <a:picLocks noChangeAspect="1"/>
          </p:cNvPicPr>
          <p:nvPr/>
        </p:nvPicPr>
        <p:blipFill>
          <a:blip r:embed="rId2"/>
          <a:stretch>
            <a:fillRect/>
          </a:stretch>
        </p:blipFill>
        <p:spPr>
          <a:xfrm>
            <a:off x="4411357" y="0"/>
            <a:ext cx="7780643" cy="6858000"/>
          </a:xfrm>
          <a:prstGeom prst="rect">
            <a:avLst/>
          </a:prstGeom>
        </p:spPr>
      </p:pic>
    </p:spTree>
    <p:extLst>
      <p:ext uri="{BB962C8B-B14F-4D97-AF65-F5344CB8AC3E}">
        <p14:creationId xmlns:p14="http://schemas.microsoft.com/office/powerpoint/2010/main" val="39244315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8CCF6B-4B62-1141-1CC0-BA5268B7154E}"/>
              </a:ext>
            </a:extLst>
          </p:cNvPr>
          <p:cNvPicPr>
            <a:picLocks noChangeAspect="1"/>
          </p:cNvPicPr>
          <p:nvPr/>
        </p:nvPicPr>
        <p:blipFill>
          <a:blip r:embed="rId2"/>
          <a:stretch>
            <a:fillRect/>
          </a:stretch>
        </p:blipFill>
        <p:spPr>
          <a:xfrm>
            <a:off x="375168" y="0"/>
            <a:ext cx="11441664" cy="6858000"/>
          </a:xfrm>
          <a:prstGeom prst="rect">
            <a:avLst/>
          </a:prstGeom>
        </p:spPr>
      </p:pic>
    </p:spTree>
    <p:extLst>
      <p:ext uri="{BB962C8B-B14F-4D97-AF65-F5344CB8AC3E}">
        <p14:creationId xmlns:p14="http://schemas.microsoft.com/office/powerpoint/2010/main" val="37545233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AADB8-92B3-8768-3B0B-C51B0CD35180}"/>
              </a:ext>
            </a:extLst>
          </p:cNvPr>
          <p:cNvPicPr>
            <a:picLocks noChangeAspect="1"/>
          </p:cNvPicPr>
          <p:nvPr/>
        </p:nvPicPr>
        <p:blipFill>
          <a:blip r:embed="rId2"/>
          <a:stretch>
            <a:fillRect/>
          </a:stretch>
        </p:blipFill>
        <p:spPr>
          <a:xfrm>
            <a:off x="1332835" y="142416"/>
            <a:ext cx="9526329" cy="6573167"/>
          </a:xfrm>
          <a:prstGeom prst="rect">
            <a:avLst/>
          </a:prstGeom>
        </p:spPr>
      </p:pic>
    </p:spTree>
    <p:extLst>
      <p:ext uri="{BB962C8B-B14F-4D97-AF65-F5344CB8AC3E}">
        <p14:creationId xmlns:p14="http://schemas.microsoft.com/office/powerpoint/2010/main" val="3138611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E75-19FA-482C-7672-91BAF5EB5D01}"/>
              </a:ext>
            </a:extLst>
          </p:cNvPr>
          <p:cNvSpPr>
            <a:spLocks noGrp="1"/>
          </p:cNvSpPr>
          <p:nvPr>
            <p:ph type="title"/>
          </p:nvPr>
        </p:nvSpPr>
        <p:spPr/>
        <p:txBody>
          <a:bodyPr/>
          <a:lstStyle/>
          <a:p>
            <a:r>
              <a:rPr lang="en-US" dirty="0"/>
              <a:t>Incremental Refresh</a:t>
            </a:r>
          </a:p>
        </p:txBody>
      </p:sp>
      <p:sp>
        <p:nvSpPr>
          <p:cNvPr id="3" name="Text Placeholder 2">
            <a:extLst>
              <a:ext uri="{FF2B5EF4-FFF2-40B4-BE49-F238E27FC236}">
                <a16:creationId xmlns:a16="http://schemas.microsoft.com/office/drawing/2014/main" id="{CE170A81-7A00-40B4-76DC-FF815E53FB93}"/>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D1E86794-D807-76EC-0E09-5CBA1B6F8707}"/>
              </a:ext>
            </a:extLst>
          </p:cNvPr>
          <p:cNvSpPr>
            <a:spLocks noGrp="1"/>
          </p:cNvSpPr>
          <p:nvPr>
            <p:ph type="body" sz="quarter" idx="3"/>
          </p:nvPr>
        </p:nvSpPr>
        <p:spPr/>
        <p:txBody>
          <a:bodyPr/>
          <a:lstStyle/>
          <a:p>
            <a:r>
              <a:rPr lang="en-US" dirty="0"/>
              <a:t>After</a:t>
            </a:r>
          </a:p>
        </p:txBody>
      </p:sp>
      <p:pic>
        <p:nvPicPr>
          <p:cNvPr id="7" name="Content Placeholder 6">
            <a:extLst>
              <a:ext uri="{FF2B5EF4-FFF2-40B4-BE49-F238E27FC236}">
                <a16:creationId xmlns:a16="http://schemas.microsoft.com/office/drawing/2014/main" id="{27DDFCC6-9106-A286-5FDD-754899EA77D7}"/>
              </a:ext>
            </a:extLst>
          </p:cNvPr>
          <p:cNvPicPr>
            <a:picLocks noGrp="1" noChangeAspect="1"/>
          </p:cNvPicPr>
          <p:nvPr>
            <p:ph sz="half" idx="2"/>
          </p:nvPr>
        </p:nvPicPr>
        <p:blipFill>
          <a:blip r:embed="rId2"/>
          <a:stretch>
            <a:fillRect/>
          </a:stretch>
        </p:blipFill>
        <p:spPr>
          <a:xfrm>
            <a:off x="1003757" y="2989867"/>
            <a:ext cx="4829849" cy="2715004"/>
          </a:xfrm>
          <a:prstGeom prst="rect">
            <a:avLst/>
          </a:prstGeom>
        </p:spPr>
      </p:pic>
      <p:pic>
        <p:nvPicPr>
          <p:cNvPr id="8" name="Content Placeholder 7">
            <a:extLst>
              <a:ext uri="{FF2B5EF4-FFF2-40B4-BE49-F238E27FC236}">
                <a16:creationId xmlns:a16="http://schemas.microsoft.com/office/drawing/2014/main" id="{A5956D77-151D-4A1E-15B8-4A506F0BD29D}"/>
              </a:ext>
            </a:extLst>
          </p:cNvPr>
          <p:cNvPicPr>
            <a:picLocks noGrp="1" noChangeAspect="1"/>
          </p:cNvPicPr>
          <p:nvPr>
            <p:ph sz="quarter" idx="4"/>
          </p:nvPr>
        </p:nvPicPr>
        <p:blipFill>
          <a:blip r:embed="rId3"/>
          <a:stretch>
            <a:fillRect/>
          </a:stretch>
        </p:blipFill>
        <p:spPr>
          <a:xfrm>
            <a:off x="6558448" y="3008919"/>
            <a:ext cx="4410691" cy="2676899"/>
          </a:xfrm>
          <a:prstGeom prst="rect">
            <a:avLst/>
          </a:prstGeom>
        </p:spPr>
      </p:pic>
    </p:spTree>
    <p:extLst>
      <p:ext uri="{BB962C8B-B14F-4D97-AF65-F5344CB8AC3E}">
        <p14:creationId xmlns:p14="http://schemas.microsoft.com/office/powerpoint/2010/main" val="3762262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1589</TotalTime>
  <Words>876</Words>
  <Application>Microsoft Office PowerPoint</Application>
  <PresentationFormat>Widescreen</PresentationFormat>
  <Paragraphs>91</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Aptos</vt:lpstr>
      <vt:lpstr>Aptos Display</vt:lpstr>
      <vt:lpstr>Arial</vt:lpstr>
      <vt:lpstr>Wingdings</vt:lpstr>
      <vt:lpstr>Office Theme</vt:lpstr>
      <vt:lpstr>Advanced Features</vt:lpstr>
      <vt:lpstr>Agenda </vt:lpstr>
      <vt:lpstr>Pivot and unpivot</vt:lpstr>
      <vt:lpstr>Understanding Pivoting in Power BI</vt:lpstr>
      <vt:lpstr>When to Use Pivoting</vt:lpstr>
      <vt:lpstr>Example</vt:lpstr>
      <vt:lpstr>Understanding Unpivoting in Power BI </vt:lpstr>
      <vt:lpstr>When to Use Unpivoting</vt:lpstr>
      <vt:lpstr>Example </vt:lpstr>
      <vt:lpstr>Dataset.csv</vt:lpstr>
      <vt:lpstr>Steps to pivot</vt:lpstr>
      <vt:lpstr>Steps to Unpivoting Data</vt:lpstr>
      <vt:lpstr>Parameters and what-if Analysis</vt:lpstr>
      <vt:lpstr>Steps </vt:lpstr>
      <vt:lpstr>PowerPoint Presentation</vt:lpstr>
      <vt:lpstr>PowerPoint Presentation</vt:lpstr>
      <vt:lpstr>PowerPoint Presentation</vt:lpstr>
      <vt:lpstr>Modify the graph</vt:lpstr>
      <vt:lpstr>PowerPoint Presentation</vt:lpstr>
      <vt:lpstr>PowerPoint Presentation</vt:lpstr>
      <vt:lpstr>Incremental Refresh</vt:lpstr>
      <vt:lpstr>Incremental Refresh</vt:lpstr>
      <vt:lpstr>Set up a free Microsoft power BI service Login</vt:lpstr>
      <vt:lpstr>Set up for free power bi service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Incremental refresh</vt:lpstr>
      <vt:lpstr>Steps </vt:lpstr>
      <vt:lpstr>PowerPoint Presentation</vt:lpstr>
      <vt:lpstr>PowerPoint Presentation</vt:lpstr>
      <vt:lpstr>PowerPoint Presentation</vt:lpstr>
      <vt:lpstr>PowerPoint Presentation</vt:lpstr>
      <vt:lpstr>PowerPoint Presentation</vt:lpstr>
      <vt:lpstr>PowerPoint Presentation</vt:lpstr>
      <vt:lpstr>Set up the incremental refresh</vt:lpstr>
      <vt:lpstr>PowerPoint Presentation</vt:lpstr>
      <vt:lpstr>PowerPoint Presentation</vt:lpstr>
      <vt:lpstr>PowerPoint Presentation</vt:lpstr>
      <vt:lpstr>PowerPoint Presentation</vt:lpstr>
      <vt:lpstr>PowerPoint Presentation</vt:lpstr>
      <vt:lpstr>PowerPoint Presentation</vt:lpstr>
      <vt:lpstr>Add some date in excel sheet and refresh</vt:lpstr>
      <vt:lpstr>PowerPoint Presentation</vt:lpstr>
      <vt:lpstr>PowerPoint Presentation</vt:lpstr>
      <vt:lpstr>Incremental Refresh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3</cp:revision>
  <dcterms:created xsi:type="dcterms:W3CDTF">2026-06-03T02:28:40Z</dcterms:created>
  <dcterms:modified xsi:type="dcterms:W3CDTF">2026-08-07T09:10:30Z</dcterms:modified>
</cp:coreProperties>
</file>